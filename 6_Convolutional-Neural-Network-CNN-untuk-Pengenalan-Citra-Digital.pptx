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4630400" cy="8229600"/>
  <p:notesSz cx="8229600" cy="14630400"/>
  <p:embeddedFontLst>
    <p:embeddedFont>
      <p:font typeface="Kanit Light"/>
      <p:regular r:id="rId32"/>
    </p:embeddedFont>
    <p:embeddedFont>
      <p:font typeface="Kanit Light"/>
      <p:regular r:id="rId33"/>
    </p:embeddedFont>
    <p:embeddedFont>
      <p:font typeface="Kanit Light"/>
      <p:regular r:id="rId34"/>
    </p:embeddedFont>
    <p:embeddedFont>
      <p:font typeface="Kanit Light"/>
      <p:regular r:id="rId35"/>
    </p:embeddedFont>
    <p:embeddedFont>
      <p:font typeface="Martel Sans"/>
      <p:regular r:id="rId36"/>
    </p:embeddedFont>
    <p:embeddedFont>
      <p:font typeface="Martel Sans"/>
      <p:regular r:id="rId37"/>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font" Target="fonts/font1.fntdata"/><Relationship Id="rId33" Type="http://schemas.openxmlformats.org/officeDocument/2006/relationships/font" Target="fonts/font2.fntdata"/><Relationship Id="rId34" Type="http://schemas.openxmlformats.org/officeDocument/2006/relationships/font" Target="fonts/font3.fntdata"/><Relationship Id="rId35" Type="http://schemas.openxmlformats.org/officeDocument/2006/relationships/font" Target="fonts/font4.fntdata"/><Relationship Id="rId36" Type="http://schemas.openxmlformats.org/officeDocument/2006/relationships/font" Target="fonts/font5.fntdata"/><Relationship Id="rId37"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6.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7.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5.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9.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0.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25.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www.tensorflow.org/tutorials/images/cnn" TargetMode="External"/><Relationship Id="rId2" Type="http://schemas.openxmlformats.org/officeDocument/2006/relationships/hyperlink" Target="https://keras.io/examples/vision/mnist_convnet/" TargetMode="External"/><Relationship Id="rId3" Type="http://schemas.openxmlformats.org/officeDocument/2006/relationships/hyperlink" Target="https://pytorch.org/tutorials/beginner/blitz/cifar10_tutorial.html" TargetMode="External"/><Relationship Id="rId4" Type="http://schemas.openxmlformats.org/officeDocument/2006/relationships/slideLayout" Target="../slideLayouts/slideLayout26.xml"/><Relationship Id="rId5"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612827"/>
            <a:ext cx="13042821" cy="1240155"/>
          </a:xfrm>
          <a:prstGeom prst="rect">
            <a:avLst/>
          </a:prstGeom>
          <a:noFill/>
          <a:ln/>
        </p:spPr>
        <p:txBody>
          <a:bodyPr wrap="squar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Convolutional Neural Network (CNN) untuk Pengenalan Citra Digital</a:t>
            </a:r>
            <a:endParaRPr lang="en-US" sz="3900" dirty="0"/>
          </a:p>
        </p:txBody>
      </p:sp>
      <p:sp>
        <p:nvSpPr>
          <p:cNvPr id="3" name="Text 1"/>
          <p:cNvSpPr/>
          <p:nvPr/>
        </p:nvSpPr>
        <p:spPr>
          <a:xfrm>
            <a:off x="793790" y="4150638"/>
            <a:ext cx="4056459" cy="310158"/>
          </a:xfrm>
          <a:prstGeom prst="rect">
            <a:avLst/>
          </a:prstGeom>
          <a:noFill/>
          <a:ln/>
        </p:spPr>
        <p:txBody>
          <a:bodyPr wrap="none" lIns="0" tIns="0" rIns="0" bIns="0" rtlCol="0" anchor="t"/>
          <a:lstStyle/>
          <a:p>
            <a:pPr algn="l" indent="0" marL="0">
              <a:lnSpc>
                <a:spcPts val="2400"/>
              </a:lnSpc>
              <a:buNone/>
            </a:pPr>
            <a:r>
              <a:rPr lang="en-US" sz="1950" dirty="0">
                <a:solidFill>
                  <a:srgbClr val="272D45"/>
                </a:solidFill>
                <a:latin typeface="Kanit Light" pitchFamily="34" charset="0"/>
                <a:ea typeface="Kanit Light" pitchFamily="34" charset="-122"/>
                <a:cs typeface="Kanit Light" pitchFamily="34" charset="-120"/>
              </a:rPr>
              <a:t>Program Studi Teknik Informatika S-2</a:t>
            </a:r>
            <a:endParaRPr lang="en-US" sz="1950" dirty="0"/>
          </a:p>
        </p:txBody>
      </p:sp>
      <p:sp>
        <p:nvSpPr>
          <p:cNvPr id="4" name="Text 2"/>
          <p:cNvSpPr/>
          <p:nvPr/>
        </p:nvSpPr>
        <p:spPr>
          <a:xfrm>
            <a:off x="793790" y="4758452"/>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Matakuliah: Advanced Computer Vision</a:t>
            </a:r>
            <a:endParaRPr lang="en-US" sz="1550" dirty="0"/>
          </a:p>
        </p:txBody>
      </p:sp>
      <p:sp>
        <p:nvSpPr>
          <p:cNvPr id="5" name="Text 3"/>
          <p:cNvSpPr/>
          <p:nvPr/>
        </p:nvSpPr>
        <p:spPr>
          <a:xfrm>
            <a:off x="793790" y="5299234"/>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Pertemuan 6</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427798"/>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Agenda Pertemuan</a:t>
            </a:r>
            <a:endParaRPr lang="en-US" sz="3900" dirty="0"/>
          </a:p>
        </p:txBody>
      </p:sp>
      <p:sp>
        <p:nvSpPr>
          <p:cNvPr id="3" name="Shape 1"/>
          <p:cNvSpPr/>
          <p:nvPr/>
        </p:nvSpPr>
        <p:spPr>
          <a:xfrm>
            <a:off x="793790" y="2742367"/>
            <a:ext cx="6422231" cy="1781651"/>
          </a:xfrm>
          <a:prstGeom prst="roundRect">
            <a:avLst>
              <a:gd name="adj" fmla="val 6159"/>
            </a:avLst>
          </a:prstGeom>
          <a:solidFill>
            <a:srgbClr val="FFFFFF"/>
          </a:solidFill>
          <a:ln/>
        </p:spPr>
      </p:sp>
      <p:sp>
        <p:nvSpPr>
          <p:cNvPr id="4" name="Shape 2"/>
          <p:cNvSpPr/>
          <p:nvPr/>
        </p:nvSpPr>
        <p:spPr>
          <a:xfrm>
            <a:off x="793790" y="2719507"/>
            <a:ext cx="6422231" cy="91440"/>
          </a:xfrm>
          <a:prstGeom prst="roundRect">
            <a:avLst>
              <a:gd name="adj" fmla="val 91163"/>
            </a:avLst>
          </a:prstGeom>
          <a:solidFill>
            <a:srgbClr val="437066"/>
          </a:solidFill>
          <a:ln/>
        </p:spPr>
      </p:sp>
      <p:sp>
        <p:nvSpPr>
          <p:cNvPr id="5" name="Shape 3"/>
          <p:cNvSpPr/>
          <p:nvPr/>
        </p:nvSpPr>
        <p:spPr>
          <a:xfrm>
            <a:off x="3707249" y="2444710"/>
            <a:ext cx="595313" cy="595313"/>
          </a:xfrm>
          <a:prstGeom prst="roundRect">
            <a:avLst>
              <a:gd name="adj" fmla="val 153600"/>
            </a:avLst>
          </a:prstGeom>
          <a:solidFill>
            <a:srgbClr val="437066"/>
          </a:solidFill>
          <a:ln/>
        </p:spPr>
      </p:sp>
      <p:sp>
        <p:nvSpPr>
          <p:cNvPr id="6" name="Text 4"/>
          <p:cNvSpPr/>
          <p:nvPr/>
        </p:nvSpPr>
        <p:spPr>
          <a:xfrm>
            <a:off x="3885843" y="2593538"/>
            <a:ext cx="238125" cy="297656"/>
          </a:xfrm>
          <a:prstGeom prst="rect">
            <a:avLst/>
          </a:prstGeom>
          <a:noFill/>
          <a:ln/>
        </p:spPr>
        <p:txBody>
          <a:bodyPr wrap="none" lIns="0" tIns="0" rIns="0" bIns="0" rtlCol="0" anchor="t"/>
          <a:lstStyle/>
          <a:p>
            <a:pPr algn="l" indent="0" marL="0">
              <a:lnSpc>
                <a:spcPts val="3000"/>
              </a:lnSpc>
              <a:buNone/>
            </a:pPr>
            <a:r>
              <a:rPr lang="en-US" sz="1850" dirty="0">
                <a:solidFill>
                  <a:srgbClr val="FFFFFF"/>
                </a:solidFill>
                <a:latin typeface="Kanit Light" pitchFamily="34" charset="0"/>
                <a:ea typeface="Kanit Light" pitchFamily="34" charset="-122"/>
                <a:cs typeface="Kanit Light" pitchFamily="34" charset="-120"/>
              </a:rPr>
              <a:t>1</a:t>
            </a:r>
            <a:endParaRPr lang="en-US" sz="1850" dirty="0"/>
          </a:p>
        </p:txBody>
      </p:sp>
      <p:sp>
        <p:nvSpPr>
          <p:cNvPr id="7" name="Text 5"/>
          <p:cNvSpPr/>
          <p:nvPr/>
        </p:nvSpPr>
        <p:spPr>
          <a:xfrm>
            <a:off x="1015008" y="323850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Konsep Dasar CNN</a:t>
            </a:r>
            <a:endParaRPr lang="en-US" sz="1950" dirty="0"/>
          </a:p>
        </p:txBody>
      </p:sp>
      <p:sp>
        <p:nvSpPr>
          <p:cNvPr id="8" name="Text 6"/>
          <p:cNvSpPr/>
          <p:nvPr/>
        </p:nvSpPr>
        <p:spPr>
          <a:xfrm>
            <a:off x="1015008" y="3667720"/>
            <a:ext cx="5979795"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Pengenalan tentang arsitektur, komponen, dan prinsip kerja CNN dalam pengolahan citra digital</a:t>
            </a:r>
            <a:endParaRPr lang="en-US" sz="1550" dirty="0"/>
          </a:p>
        </p:txBody>
      </p:sp>
      <p:sp>
        <p:nvSpPr>
          <p:cNvPr id="9" name="Shape 7"/>
          <p:cNvSpPr/>
          <p:nvPr/>
        </p:nvSpPr>
        <p:spPr>
          <a:xfrm>
            <a:off x="7414379" y="2742367"/>
            <a:ext cx="6422231" cy="1781651"/>
          </a:xfrm>
          <a:prstGeom prst="roundRect">
            <a:avLst>
              <a:gd name="adj" fmla="val 6159"/>
            </a:avLst>
          </a:prstGeom>
          <a:solidFill>
            <a:srgbClr val="FFFFFF"/>
          </a:solidFill>
          <a:ln/>
        </p:spPr>
      </p:sp>
      <p:sp>
        <p:nvSpPr>
          <p:cNvPr id="10" name="Shape 8"/>
          <p:cNvSpPr/>
          <p:nvPr/>
        </p:nvSpPr>
        <p:spPr>
          <a:xfrm>
            <a:off x="7414379" y="2719507"/>
            <a:ext cx="6422231" cy="91440"/>
          </a:xfrm>
          <a:prstGeom prst="roundRect">
            <a:avLst>
              <a:gd name="adj" fmla="val 91163"/>
            </a:avLst>
          </a:prstGeom>
          <a:solidFill>
            <a:srgbClr val="437066"/>
          </a:solidFill>
          <a:ln/>
        </p:spPr>
      </p:sp>
      <p:sp>
        <p:nvSpPr>
          <p:cNvPr id="11" name="Shape 9"/>
          <p:cNvSpPr/>
          <p:nvPr/>
        </p:nvSpPr>
        <p:spPr>
          <a:xfrm>
            <a:off x="10327838" y="2444710"/>
            <a:ext cx="595313" cy="595313"/>
          </a:xfrm>
          <a:prstGeom prst="roundRect">
            <a:avLst>
              <a:gd name="adj" fmla="val 153600"/>
            </a:avLst>
          </a:prstGeom>
          <a:solidFill>
            <a:srgbClr val="437066"/>
          </a:solidFill>
          <a:ln/>
        </p:spPr>
      </p:sp>
      <p:sp>
        <p:nvSpPr>
          <p:cNvPr id="12" name="Text 10"/>
          <p:cNvSpPr/>
          <p:nvPr/>
        </p:nvSpPr>
        <p:spPr>
          <a:xfrm>
            <a:off x="10506432" y="2593538"/>
            <a:ext cx="238125" cy="297656"/>
          </a:xfrm>
          <a:prstGeom prst="rect">
            <a:avLst/>
          </a:prstGeom>
          <a:noFill/>
          <a:ln/>
        </p:spPr>
        <p:txBody>
          <a:bodyPr wrap="none" lIns="0" tIns="0" rIns="0" bIns="0" rtlCol="0" anchor="t"/>
          <a:lstStyle/>
          <a:p>
            <a:pPr algn="l" indent="0" marL="0">
              <a:lnSpc>
                <a:spcPts val="3000"/>
              </a:lnSpc>
              <a:buNone/>
            </a:pPr>
            <a:r>
              <a:rPr lang="en-US" sz="1850" dirty="0">
                <a:solidFill>
                  <a:srgbClr val="FFFFFF"/>
                </a:solidFill>
                <a:latin typeface="Kanit Light" pitchFamily="34" charset="0"/>
                <a:ea typeface="Kanit Light" pitchFamily="34" charset="-122"/>
                <a:cs typeface="Kanit Light" pitchFamily="34" charset="-120"/>
              </a:rPr>
              <a:t>2</a:t>
            </a:r>
            <a:endParaRPr lang="en-US" sz="1850" dirty="0"/>
          </a:p>
        </p:txBody>
      </p:sp>
      <p:sp>
        <p:nvSpPr>
          <p:cNvPr id="13" name="Text 11"/>
          <p:cNvSpPr/>
          <p:nvPr/>
        </p:nvSpPr>
        <p:spPr>
          <a:xfrm>
            <a:off x="7635597" y="3238500"/>
            <a:ext cx="3104793"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Komponen dan Lapisan CNN</a:t>
            </a:r>
            <a:endParaRPr lang="en-US" sz="1950" dirty="0"/>
          </a:p>
        </p:txBody>
      </p:sp>
      <p:sp>
        <p:nvSpPr>
          <p:cNvPr id="14" name="Text 12"/>
          <p:cNvSpPr/>
          <p:nvPr/>
        </p:nvSpPr>
        <p:spPr>
          <a:xfrm>
            <a:off x="7635597" y="3667720"/>
            <a:ext cx="5979795"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Penjelasan mendalam tentang convolution layer, pooling layer, dan fully connected layer</a:t>
            </a:r>
            <a:endParaRPr lang="en-US" sz="1550" dirty="0"/>
          </a:p>
        </p:txBody>
      </p:sp>
      <p:sp>
        <p:nvSpPr>
          <p:cNvPr id="15" name="Shape 13"/>
          <p:cNvSpPr/>
          <p:nvPr/>
        </p:nvSpPr>
        <p:spPr>
          <a:xfrm>
            <a:off x="793790" y="5020032"/>
            <a:ext cx="6422231" cy="1781651"/>
          </a:xfrm>
          <a:prstGeom prst="roundRect">
            <a:avLst>
              <a:gd name="adj" fmla="val 6159"/>
            </a:avLst>
          </a:prstGeom>
          <a:solidFill>
            <a:srgbClr val="FFFFFF"/>
          </a:solidFill>
          <a:ln/>
        </p:spPr>
      </p:sp>
      <p:sp>
        <p:nvSpPr>
          <p:cNvPr id="16" name="Shape 14"/>
          <p:cNvSpPr/>
          <p:nvPr/>
        </p:nvSpPr>
        <p:spPr>
          <a:xfrm>
            <a:off x="793790" y="4997172"/>
            <a:ext cx="6422231" cy="91440"/>
          </a:xfrm>
          <a:prstGeom prst="roundRect">
            <a:avLst>
              <a:gd name="adj" fmla="val 91163"/>
            </a:avLst>
          </a:prstGeom>
          <a:solidFill>
            <a:srgbClr val="437066"/>
          </a:solidFill>
          <a:ln/>
        </p:spPr>
      </p:sp>
      <p:sp>
        <p:nvSpPr>
          <p:cNvPr id="17" name="Shape 15"/>
          <p:cNvSpPr/>
          <p:nvPr/>
        </p:nvSpPr>
        <p:spPr>
          <a:xfrm>
            <a:off x="3707249" y="4722376"/>
            <a:ext cx="595313" cy="595313"/>
          </a:xfrm>
          <a:prstGeom prst="roundRect">
            <a:avLst>
              <a:gd name="adj" fmla="val 153600"/>
            </a:avLst>
          </a:prstGeom>
          <a:solidFill>
            <a:srgbClr val="437066"/>
          </a:solidFill>
          <a:ln/>
        </p:spPr>
      </p:sp>
      <p:sp>
        <p:nvSpPr>
          <p:cNvPr id="18" name="Text 16"/>
          <p:cNvSpPr/>
          <p:nvPr/>
        </p:nvSpPr>
        <p:spPr>
          <a:xfrm>
            <a:off x="3885843" y="4871204"/>
            <a:ext cx="238125" cy="297656"/>
          </a:xfrm>
          <a:prstGeom prst="rect">
            <a:avLst/>
          </a:prstGeom>
          <a:noFill/>
          <a:ln/>
        </p:spPr>
        <p:txBody>
          <a:bodyPr wrap="none" lIns="0" tIns="0" rIns="0" bIns="0" rtlCol="0" anchor="t"/>
          <a:lstStyle/>
          <a:p>
            <a:pPr algn="l" indent="0" marL="0">
              <a:lnSpc>
                <a:spcPts val="3000"/>
              </a:lnSpc>
              <a:buNone/>
            </a:pPr>
            <a:r>
              <a:rPr lang="en-US" sz="1850" dirty="0">
                <a:solidFill>
                  <a:srgbClr val="FFFFFF"/>
                </a:solidFill>
                <a:latin typeface="Kanit Light" pitchFamily="34" charset="0"/>
                <a:ea typeface="Kanit Light" pitchFamily="34" charset="-122"/>
                <a:cs typeface="Kanit Light" pitchFamily="34" charset="-120"/>
              </a:rPr>
              <a:t>3</a:t>
            </a:r>
            <a:endParaRPr lang="en-US" sz="1850" dirty="0"/>
          </a:p>
        </p:txBody>
      </p:sp>
      <p:sp>
        <p:nvSpPr>
          <p:cNvPr id="19" name="Text 17"/>
          <p:cNvSpPr/>
          <p:nvPr/>
        </p:nvSpPr>
        <p:spPr>
          <a:xfrm>
            <a:off x="1015008" y="5516166"/>
            <a:ext cx="3745230"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Implementasi CNN dengan Python</a:t>
            </a:r>
            <a:endParaRPr lang="en-US" sz="1950" dirty="0"/>
          </a:p>
        </p:txBody>
      </p:sp>
      <p:sp>
        <p:nvSpPr>
          <p:cNvPr id="20" name="Text 18"/>
          <p:cNvSpPr/>
          <p:nvPr/>
        </p:nvSpPr>
        <p:spPr>
          <a:xfrm>
            <a:off x="1015008" y="5945386"/>
            <a:ext cx="5979795"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Tutorial langkah demi langkah untuk membangun model CNN menggunakan Keras/TensorFlow</a:t>
            </a:r>
            <a:endParaRPr lang="en-US" sz="1550" dirty="0"/>
          </a:p>
        </p:txBody>
      </p:sp>
      <p:sp>
        <p:nvSpPr>
          <p:cNvPr id="21" name="Shape 19"/>
          <p:cNvSpPr/>
          <p:nvPr/>
        </p:nvSpPr>
        <p:spPr>
          <a:xfrm>
            <a:off x="7414379" y="5020032"/>
            <a:ext cx="6422231" cy="1781651"/>
          </a:xfrm>
          <a:prstGeom prst="roundRect">
            <a:avLst>
              <a:gd name="adj" fmla="val 6159"/>
            </a:avLst>
          </a:prstGeom>
          <a:solidFill>
            <a:srgbClr val="FFFFFF"/>
          </a:solidFill>
          <a:ln/>
        </p:spPr>
      </p:sp>
      <p:sp>
        <p:nvSpPr>
          <p:cNvPr id="22" name="Shape 20"/>
          <p:cNvSpPr/>
          <p:nvPr/>
        </p:nvSpPr>
        <p:spPr>
          <a:xfrm>
            <a:off x="7414379" y="4997172"/>
            <a:ext cx="6422231" cy="91440"/>
          </a:xfrm>
          <a:prstGeom prst="roundRect">
            <a:avLst>
              <a:gd name="adj" fmla="val 91163"/>
            </a:avLst>
          </a:prstGeom>
          <a:solidFill>
            <a:srgbClr val="437066"/>
          </a:solidFill>
          <a:ln/>
        </p:spPr>
      </p:sp>
      <p:sp>
        <p:nvSpPr>
          <p:cNvPr id="23" name="Shape 21"/>
          <p:cNvSpPr/>
          <p:nvPr/>
        </p:nvSpPr>
        <p:spPr>
          <a:xfrm>
            <a:off x="10327838" y="4722376"/>
            <a:ext cx="595313" cy="595313"/>
          </a:xfrm>
          <a:prstGeom prst="roundRect">
            <a:avLst>
              <a:gd name="adj" fmla="val 153600"/>
            </a:avLst>
          </a:prstGeom>
          <a:solidFill>
            <a:srgbClr val="437066"/>
          </a:solidFill>
          <a:ln/>
        </p:spPr>
      </p:sp>
      <p:sp>
        <p:nvSpPr>
          <p:cNvPr id="24" name="Text 22"/>
          <p:cNvSpPr/>
          <p:nvPr/>
        </p:nvSpPr>
        <p:spPr>
          <a:xfrm>
            <a:off x="10506432" y="4871204"/>
            <a:ext cx="238125" cy="297656"/>
          </a:xfrm>
          <a:prstGeom prst="rect">
            <a:avLst/>
          </a:prstGeom>
          <a:noFill/>
          <a:ln/>
        </p:spPr>
        <p:txBody>
          <a:bodyPr wrap="none" lIns="0" tIns="0" rIns="0" bIns="0" rtlCol="0" anchor="t"/>
          <a:lstStyle/>
          <a:p>
            <a:pPr algn="l" indent="0" marL="0">
              <a:lnSpc>
                <a:spcPts val="3000"/>
              </a:lnSpc>
              <a:buNone/>
            </a:pPr>
            <a:r>
              <a:rPr lang="en-US" sz="1850" dirty="0">
                <a:solidFill>
                  <a:srgbClr val="FFFFFF"/>
                </a:solidFill>
                <a:latin typeface="Kanit Light" pitchFamily="34" charset="0"/>
                <a:ea typeface="Kanit Light" pitchFamily="34" charset="-122"/>
                <a:cs typeface="Kanit Light" pitchFamily="34" charset="-120"/>
              </a:rPr>
              <a:t>4</a:t>
            </a:r>
            <a:endParaRPr lang="en-US" sz="1850" dirty="0"/>
          </a:p>
        </p:txBody>
      </p:sp>
      <p:sp>
        <p:nvSpPr>
          <p:cNvPr id="25" name="Text 23"/>
          <p:cNvSpPr/>
          <p:nvPr/>
        </p:nvSpPr>
        <p:spPr>
          <a:xfrm>
            <a:off x="7635597" y="5516166"/>
            <a:ext cx="2692122"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Studi Kasus dan Evaluasi</a:t>
            </a:r>
            <a:endParaRPr lang="en-US" sz="1950" dirty="0"/>
          </a:p>
        </p:txBody>
      </p:sp>
      <p:sp>
        <p:nvSpPr>
          <p:cNvPr id="26" name="Text 24"/>
          <p:cNvSpPr/>
          <p:nvPr/>
        </p:nvSpPr>
        <p:spPr>
          <a:xfrm>
            <a:off x="7635597" y="5945386"/>
            <a:ext cx="5979795"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Analisis performa model CNN pada dataset CIFAR-10 atau Fashion-MNIST</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2709386"/>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Tujuan Pembelajaran</a:t>
            </a:r>
            <a:endParaRPr lang="en-US" sz="3900" dirty="0"/>
          </a:p>
        </p:txBody>
      </p:sp>
      <p:sp>
        <p:nvSpPr>
          <p:cNvPr id="3" name="Shape 1"/>
          <p:cNvSpPr/>
          <p:nvPr/>
        </p:nvSpPr>
        <p:spPr>
          <a:xfrm>
            <a:off x="793790" y="3726299"/>
            <a:ext cx="4215289" cy="1793796"/>
          </a:xfrm>
          <a:prstGeom prst="roundRect">
            <a:avLst>
              <a:gd name="adj" fmla="val 4647"/>
            </a:avLst>
          </a:prstGeom>
          <a:solidFill>
            <a:srgbClr val="DFECE9"/>
          </a:solidFill>
          <a:ln w="7620">
            <a:solidFill>
              <a:srgbClr val="C5D2CF"/>
            </a:solidFill>
            <a:prstDash val="solid"/>
          </a:ln>
        </p:spPr>
      </p:sp>
      <p:sp>
        <p:nvSpPr>
          <p:cNvPr id="4" name="Text 2"/>
          <p:cNvSpPr/>
          <p:nvPr/>
        </p:nvSpPr>
        <p:spPr>
          <a:xfrm>
            <a:off x="999768" y="3932277"/>
            <a:ext cx="2658904"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Pemahaman Konseptual</a:t>
            </a:r>
            <a:endParaRPr lang="en-US" sz="1950" dirty="0"/>
          </a:p>
        </p:txBody>
      </p:sp>
      <p:sp>
        <p:nvSpPr>
          <p:cNvPr id="5" name="Text 3"/>
          <p:cNvSpPr/>
          <p:nvPr/>
        </p:nvSpPr>
        <p:spPr>
          <a:xfrm>
            <a:off x="999768" y="4361498"/>
            <a:ext cx="3803333"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Mahasiswa memahami konsep dasar Convolutional Neural Network (CNN) dan perannya dalam computer vision</a:t>
            </a:r>
            <a:endParaRPr lang="en-US" sz="1550" dirty="0"/>
          </a:p>
        </p:txBody>
      </p:sp>
      <p:sp>
        <p:nvSpPr>
          <p:cNvPr id="6" name="Shape 4"/>
          <p:cNvSpPr/>
          <p:nvPr/>
        </p:nvSpPr>
        <p:spPr>
          <a:xfrm>
            <a:off x="5207437" y="3726299"/>
            <a:ext cx="4215408" cy="1793796"/>
          </a:xfrm>
          <a:prstGeom prst="roundRect">
            <a:avLst>
              <a:gd name="adj" fmla="val 4647"/>
            </a:avLst>
          </a:prstGeom>
          <a:solidFill>
            <a:srgbClr val="DFECE9"/>
          </a:solidFill>
          <a:ln w="7620">
            <a:solidFill>
              <a:srgbClr val="C5D2CF"/>
            </a:solidFill>
            <a:prstDash val="solid"/>
          </a:ln>
        </p:spPr>
      </p:sp>
      <p:sp>
        <p:nvSpPr>
          <p:cNvPr id="7" name="Text 5"/>
          <p:cNvSpPr/>
          <p:nvPr/>
        </p:nvSpPr>
        <p:spPr>
          <a:xfrm>
            <a:off x="5413415" y="393227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Keterampilan Teknis</a:t>
            </a:r>
            <a:endParaRPr lang="en-US" sz="1950" dirty="0"/>
          </a:p>
        </p:txBody>
      </p:sp>
      <p:sp>
        <p:nvSpPr>
          <p:cNvPr id="8" name="Text 6"/>
          <p:cNvSpPr/>
          <p:nvPr/>
        </p:nvSpPr>
        <p:spPr>
          <a:xfrm>
            <a:off x="5413415" y="4361498"/>
            <a:ext cx="3803452"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Mahasiswa dapat membuat program Python sederhana untuk melakukan pengenalan citra digital berbasis CNN</a:t>
            </a:r>
            <a:endParaRPr lang="en-US" sz="1550" dirty="0"/>
          </a:p>
        </p:txBody>
      </p:sp>
      <p:sp>
        <p:nvSpPr>
          <p:cNvPr id="9" name="Shape 7"/>
          <p:cNvSpPr/>
          <p:nvPr/>
        </p:nvSpPr>
        <p:spPr>
          <a:xfrm>
            <a:off x="9621203" y="3726299"/>
            <a:ext cx="4215289" cy="1793796"/>
          </a:xfrm>
          <a:prstGeom prst="roundRect">
            <a:avLst>
              <a:gd name="adj" fmla="val 4647"/>
            </a:avLst>
          </a:prstGeom>
          <a:solidFill>
            <a:srgbClr val="DFECE9"/>
          </a:solidFill>
          <a:ln w="7620">
            <a:solidFill>
              <a:srgbClr val="C5D2CF"/>
            </a:solidFill>
            <a:prstDash val="solid"/>
          </a:ln>
        </p:spPr>
      </p:sp>
      <p:sp>
        <p:nvSpPr>
          <p:cNvPr id="10" name="Text 8"/>
          <p:cNvSpPr/>
          <p:nvPr/>
        </p:nvSpPr>
        <p:spPr>
          <a:xfrm>
            <a:off x="9827181" y="393227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Analisis Kritis</a:t>
            </a:r>
            <a:endParaRPr lang="en-US" sz="1950" dirty="0"/>
          </a:p>
        </p:txBody>
      </p:sp>
      <p:sp>
        <p:nvSpPr>
          <p:cNvPr id="11" name="Text 9"/>
          <p:cNvSpPr/>
          <p:nvPr/>
        </p:nvSpPr>
        <p:spPr>
          <a:xfrm>
            <a:off x="9827181" y="4361498"/>
            <a:ext cx="3803333"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Mahasiswa mampu menganalisis efek parameter CNN terhadap performa model pengenalan citra</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065139"/>
            <a:ext cx="9313545"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Pendahuluan: CNN dalam Computer Vision</a:t>
            </a:r>
            <a:endParaRPr lang="en-US" sz="3900" dirty="0"/>
          </a:p>
        </p:txBody>
      </p:sp>
      <p:sp>
        <p:nvSpPr>
          <p:cNvPr id="3" name="Text 1"/>
          <p:cNvSpPr/>
          <p:nvPr/>
        </p:nvSpPr>
        <p:spPr>
          <a:xfrm>
            <a:off x="793790" y="3082052"/>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Convolutional Neural Network (CNN) telah menjadi tulang punggung revolusi deep learning dalam computer vision. Model ini terinspirasi dari struktur visual cortex mamalia dan dirancang khusus untuk mengolah data grid seperti citra.</a:t>
            </a:r>
            <a:endParaRPr lang="en-US" sz="1550" dirty="0"/>
          </a:p>
        </p:txBody>
      </p:sp>
      <p:sp>
        <p:nvSpPr>
          <p:cNvPr id="4" name="Shape 2"/>
          <p:cNvSpPr/>
          <p:nvPr/>
        </p:nvSpPr>
        <p:spPr>
          <a:xfrm>
            <a:off x="793790" y="3940373"/>
            <a:ext cx="446484" cy="446484"/>
          </a:xfrm>
          <a:prstGeom prst="roundRect">
            <a:avLst>
              <a:gd name="adj" fmla="val 18670"/>
            </a:avLst>
          </a:prstGeom>
          <a:solidFill>
            <a:srgbClr val="DFECE9"/>
          </a:solidFill>
          <a:ln w="7620">
            <a:solidFill>
              <a:srgbClr val="C5D2CF"/>
            </a:solidFill>
            <a:prstDash val="solid"/>
          </a:ln>
        </p:spPr>
      </p:sp>
      <p:sp>
        <p:nvSpPr>
          <p:cNvPr id="5" name="Text 3"/>
          <p:cNvSpPr/>
          <p:nvPr/>
        </p:nvSpPr>
        <p:spPr>
          <a:xfrm>
            <a:off x="1438632" y="4008596"/>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Keunggulan CNN</a:t>
            </a:r>
            <a:endParaRPr lang="en-US" sz="1950" dirty="0"/>
          </a:p>
        </p:txBody>
      </p:sp>
      <p:sp>
        <p:nvSpPr>
          <p:cNvPr id="6" name="Text 4"/>
          <p:cNvSpPr/>
          <p:nvPr/>
        </p:nvSpPr>
        <p:spPr>
          <a:xfrm>
            <a:off x="1438632" y="4437817"/>
            <a:ext cx="5752505"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Mampu mendeteksi fitur spasial dalam citra secara hierarkis</a:t>
            </a:r>
            <a:endParaRPr lang="en-US" sz="1550" dirty="0"/>
          </a:p>
        </p:txBody>
      </p:sp>
      <p:sp>
        <p:nvSpPr>
          <p:cNvPr id="7" name="Text 5"/>
          <p:cNvSpPr/>
          <p:nvPr/>
        </p:nvSpPr>
        <p:spPr>
          <a:xfrm>
            <a:off x="1438632" y="5142309"/>
            <a:ext cx="5752505"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Mengurangi jumlah parameter melalui konsep weight sharing</a:t>
            </a:r>
            <a:endParaRPr lang="en-US" sz="1550" dirty="0"/>
          </a:p>
        </p:txBody>
      </p:sp>
      <p:sp>
        <p:nvSpPr>
          <p:cNvPr id="8" name="Text 6"/>
          <p:cNvSpPr/>
          <p:nvPr/>
        </p:nvSpPr>
        <p:spPr>
          <a:xfrm>
            <a:off x="1438632" y="5846802"/>
            <a:ext cx="575250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Invariant terhadap translasi objek dalam citra</a:t>
            </a:r>
            <a:endParaRPr lang="en-US" sz="1550" dirty="0"/>
          </a:p>
        </p:txBody>
      </p:sp>
      <p:sp>
        <p:nvSpPr>
          <p:cNvPr id="9" name="Shape 7"/>
          <p:cNvSpPr/>
          <p:nvPr/>
        </p:nvSpPr>
        <p:spPr>
          <a:xfrm>
            <a:off x="7439144" y="3940373"/>
            <a:ext cx="446484" cy="446484"/>
          </a:xfrm>
          <a:prstGeom prst="roundRect">
            <a:avLst>
              <a:gd name="adj" fmla="val 18670"/>
            </a:avLst>
          </a:prstGeom>
          <a:solidFill>
            <a:srgbClr val="DFECE9"/>
          </a:solidFill>
          <a:ln w="7620">
            <a:solidFill>
              <a:srgbClr val="C5D2CF"/>
            </a:solidFill>
            <a:prstDash val="solid"/>
          </a:ln>
        </p:spPr>
      </p:sp>
      <p:sp>
        <p:nvSpPr>
          <p:cNvPr id="10" name="Text 8"/>
          <p:cNvSpPr/>
          <p:nvPr/>
        </p:nvSpPr>
        <p:spPr>
          <a:xfrm>
            <a:off x="8083987" y="4008596"/>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Aplikasi CNN</a:t>
            </a:r>
            <a:endParaRPr lang="en-US" sz="1950" dirty="0"/>
          </a:p>
        </p:txBody>
      </p:sp>
      <p:sp>
        <p:nvSpPr>
          <p:cNvPr id="11" name="Text 9"/>
          <p:cNvSpPr/>
          <p:nvPr/>
        </p:nvSpPr>
        <p:spPr>
          <a:xfrm>
            <a:off x="8083987" y="4437817"/>
            <a:ext cx="5752624"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Klasifikasi citra (image classification)</a:t>
            </a:r>
            <a:endParaRPr lang="en-US" sz="1550" dirty="0"/>
          </a:p>
        </p:txBody>
      </p:sp>
      <p:sp>
        <p:nvSpPr>
          <p:cNvPr id="12" name="Text 10"/>
          <p:cNvSpPr/>
          <p:nvPr/>
        </p:nvSpPr>
        <p:spPr>
          <a:xfrm>
            <a:off x="8083987" y="4824770"/>
            <a:ext cx="5752624"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Deteksi objek (object detection)</a:t>
            </a:r>
            <a:endParaRPr lang="en-US" sz="1550" dirty="0"/>
          </a:p>
        </p:txBody>
      </p:sp>
      <p:sp>
        <p:nvSpPr>
          <p:cNvPr id="13" name="Text 11"/>
          <p:cNvSpPr/>
          <p:nvPr/>
        </p:nvSpPr>
        <p:spPr>
          <a:xfrm>
            <a:off x="8083987" y="5211723"/>
            <a:ext cx="5752624"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Segmentasi citra (image segmentation)</a:t>
            </a:r>
            <a:endParaRPr lang="en-US" sz="1550" dirty="0"/>
          </a:p>
        </p:txBody>
      </p:sp>
      <p:sp>
        <p:nvSpPr>
          <p:cNvPr id="14" name="Text 12"/>
          <p:cNvSpPr/>
          <p:nvPr/>
        </p:nvSpPr>
        <p:spPr>
          <a:xfrm>
            <a:off x="8083987" y="5598676"/>
            <a:ext cx="5752624"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Pengenalan wajah (face recognition)</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922377"/>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Arsitektur Dasar CNN</a:t>
            </a:r>
            <a:endParaRPr lang="en-US" sz="3900" dirty="0"/>
          </a:p>
        </p:txBody>
      </p:sp>
      <p:sp>
        <p:nvSpPr>
          <p:cNvPr id="3" name="Text 1"/>
          <p:cNvSpPr/>
          <p:nvPr/>
        </p:nvSpPr>
        <p:spPr>
          <a:xfrm>
            <a:off x="793790" y="1939290"/>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Struktur CNN terdiri dari rangkaian lapisan pemrosesan yang mentransformasi input citra menjadi representasi yang semakin abstrak. Setiap lapisan berperan dalam ekstraksi fitur spesifik.</a:t>
            </a:r>
            <a:endParaRPr lang="en-US" sz="1550" dirty="0"/>
          </a:p>
        </p:txBody>
      </p:sp>
      <p:pic>
        <p:nvPicPr>
          <p:cNvPr id="4" name="Image 0" descr="preencoded.png">    </p:cNvPr>
          <p:cNvPicPr>
            <a:picLocks noChangeAspect="1"/>
          </p:cNvPicPr>
          <p:nvPr/>
        </p:nvPicPr>
        <p:blipFill>
          <a:blip r:embed="rId1"/>
          <a:stretch>
            <a:fillRect/>
          </a:stretch>
        </p:blipFill>
        <p:spPr>
          <a:xfrm>
            <a:off x="793790" y="2797612"/>
            <a:ext cx="6521410" cy="793790"/>
          </a:xfrm>
          <a:prstGeom prst="rect">
            <a:avLst/>
          </a:prstGeom>
        </p:spPr>
      </p:pic>
      <p:sp>
        <p:nvSpPr>
          <p:cNvPr id="5" name="Text 2"/>
          <p:cNvSpPr/>
          <p:nvPr/>
        </p:nvSpPr>
        <p:spPr>
          <a:xfrm>
            <a:off x="992148" y="378975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Input Layer</a:t>
            </a:r>
            <a:endParaRPr lang="en-US" sz="1950" dirty="0"/>
          </a:p>
        </p:txBody>
      </p:sp>
      <p:sp>
        <p:nvSpPr>
          <p:cNvPr id="6" name="Text 3"/>
          <p:cNvSpPr/>
          <p:nvPr/>
        </p:nvSpPr>
        <p:spPr>
          <a:xfrm>
            <a:off x="992148" y="4218980"/>
            <a:ext cx="6124694"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Menerima citra input dalam format tensor dengan dimensi [tinggi × lebar × saluran warna]</a:t>
            </a:r>
            <a:endParaRPr lang="en-US" sz="1550" dirty="0"/>
          </a:p>
        </p:txBody>
      </p:sp>
      <p:pic>
        <p:nvPicPr>
          <p:cNvPr id="7" name="Image 1" descr="preencoded.png">    </p:cNvPr>
          <p:cNvPicPr>
            <a:picLocks noChangeAspect="1"/>
          </p:cNvPicPr>
          <p:nvPr/>
        </p:nvPicPr>
        <p:blipFill>
          <a:blip r:embed="rId2"/>
          <a:stretch>
            <a:fillRect/>
          </a:stretch>
        </p:blipFill>
        <p:spPr>
          <a:xfrm>
            <a:off x="7315200" y="2797612"/>
            <a:ext cx="6521410" cy="793790"/>
          </a:xfrm>
          <a:prstGeom prst="rect">
            <a:avLst/>
          </a:prstGeom>
        </p:spPr>
      </p:pic>
      <p:sp>
        <p:nvSpPr>
          <p:cNvPr id="8" name="Text 4"/>
          <p:cNvSpPr/>
          <p:nvPr/>
        </p:nvSpPr>
        <p:spPr>
          <a:xfrm>
            <a:off x="7513558" y="378975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Convolutional Layers</a:t>
            </a:r>
            <a:endParaRPr lang="en-US" sz="1950" dirty="0"/>
          </a:p>
        </p:txBody>
      </p:sp>
      <p:sp>
        <p:nvSpPr>
          <p:cNvPr id="9" name="Text 5"/>
          <p:cNvSpPr/>
          <p:nvPr/>
        </p:nvSpPr>
        <p:spPr>
          <a:xfrm>
            <a:off x="7513558" y="4218980"/>
            <a:ext cx="6124694"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Mengekstrak fitur spasial melalui operasi konvolusi dengan filter</a:t>
            </a:r>
            <a:endParaRPr lang="en-US" sz="1550" dirty="0"/>
          </a:p>
        </p:txBody>
      </p:sp>
      <p:pic>
        <p:nvPicPr>
          <p:cNvPr id="10" name="Image 2" descr="preencoded.png">    </p:cNvPr>
          <p:cNvPicPr>
            <a:picLocks noChangeAspect="1"/>
          </p:cNvPicPr>
          <p:nvPr/>
        </p:nvPicPr>
        <p:blipFill>
          <a:blip r:embed="rId3"/>
          <a:stretch>
            <a:fillRect/>
          </a:stretch>
        </p:blipFill>
        <p:spPr>
          <a:xfrm>
            <a:off x="793790" y="5052417"/>
            <a:ext cx="6521410" cy="793790"/>
          </a:xfrm>
          <a:prstGeom prst="rect">
            <a:avLst/>
          </a:prstGeom>
        </p:spPr>
      </p:pic>
      <p:sp>
        <p:nvSpPr>
          <p:cNvPr id="11" name="Text 6"/>
          <p:cNvSpPr/>
          <p:nvPr/>
        </p:nvSpPr>
        <p:spPr>
          <a:xfrm>
            <a:off x="992148" y="604456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Pooling Layers</a:t>
            </a:r>
            <a:endParaRPr lang="en-US" sz="1950" dirty="0"/>
          </a:p>
        </p:txBody>
      </p:sp>
      <p:sp>
        <p:nvSpPr>
          <p:cNvPr id="12" name="Text 7"/>
          <p:cNvSpPr/>
          <p:nvPr/>
        </p:nvSpPr>
        <p:spPr>
          <a:xfrm>
            <a:off x="992148" y="6473785"/>
            <a:ext cx="6124694"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Mereduksi dimensi spasial dan meningkatkan invariansi terhadap translasi</a:t>
            </a:r>
            <a:endParaRPr lang="en-US" sz="1550" dirty="0"/>
          </a:p>
        </p:txBody>
      </p:sp>
      <p:pic>
        <p:nvPicPr>
          <p:cNvPr id="13" name="Image 3" descr="preencoded.png">    </p:cNvPr>
          <p:cNvPicPr>
            <a:picLocks noChangeAspect="1"/>
          </p:cNvPicPr>
          <p:nvPr/>
        </p:nvPicPr>
        <p:blipFill>
          <a:blip r:embed="rId4"/>
          <a:stretch>
            <a:fillRect/>
          </a:stretch>
        </p:blipFill>
        <p:spPr>
          <a:xfrm>
            <a:off x="7315200" y="5052417"/>
            <a:ext cx="6521410" cy="793790"/>
          </a:xfrm>
          <a:prstGeom prst="rect">
            <a:avLst/>
          </a:prstGeom>
        </p:spPr>
      </p:pic>
      <p:sp>
        <p:nvSpPr>
          <p:cNvPr id="14" name="Text 8"/>
          <p:cNvSpPr/>
          <p:nvPr/>
        </p:nvSpPr>
        <p:spPr>
          <a:xfrm>
            <a:off x="7513558" y="6044565"/>
            <a:ext cx="2526506"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Fully Connected Layers</a:t>
            </a:r>
            <a:endParaRPr lang="en-US" sz="1950" dirty="0"/>
          </a:p>
        </p:txBody>
      </p:sp>
      <p:sp>
        <p:nvSpPr>
          <p:cNvPr id="15" name="Text 9"/>
          <p:cNvSpPr/>
          <p:nvPr/>
        </p:nvSpPr>
        <p:spPr>
          <a:xfrm>
            <a:off x="7513558" y="6473785"/>
            <a:ext cx="6124694"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Mengintegrasikan semua fitur untuk klasifikasi akhir</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62714" y="524351"/>
            <a:ext cx="6859786" cy="595908"/>
          </a:xfrm>
          <a:prstGeom prst="rect">
            <a:avLst/>
          </a:prstGeom>
          <a:noFill/>
          <a:ln/>
        </p:spPr>
        <p:txBody>
          <a:bodyPr wrap="none" lIns="0" tIns="0" rIns="0" bIns="0" rtlCol="0" anchor="t"/>
          <a:lstStyle/>
          <a:p>
            <a:pPr algn="l" indent="0" marL="0">
              <a:lnSpc>
                <a:spcPts val="4650"/>
              </a:lnSpc>
              <a:buNone/>
            </a:pPr>
            <a:r>
              <a:rPr lang="en-US" sz="3750" dirty="0">
                <a:solidFill>
                  <a:srgbClr val="272D45"/>
                </a:solidFill>
                <a:latin typeface="Kanit Light" pitchFamily="34" charset="0"/>
                <a:ea typeface="Kanit Light" pitchFamily="34" charset="-122"/>
                <a:cs typeface="Kanit Light" pitchFamily="34" charset="-120"/>
              </a:rPr>
              <a:t>Convolution Layer: Konsep Dasar</a:t>
            </a:r>
            <a:endParaRPr lang="en-US" sz="3750" dirty="0"/>
          </a:p>
        </p:txBody>
      </p:sp>
      <p:sp>
        <p:nvSpPr>
          <p:cNvPr id="3" name="Text 1"/>
          <p:cNvSpPr/>
          <p:nvPr/>
        </p:nvSpPr>
        <p:spPr>
          <a:xfrm>
            <a:off x="762714" y="1501616"/>
            <a:ext cx="13104971" cy="610314"/>
          </a:xfrm>
          <a:prstGeom prst="rect">
            <a:avLst/>
          </a:prstGeom>
          <a:noFill/>
          <a:ln/>
        </p:spPr>
        <p:txBody>
          <a:bodyPr wrap="square" lIns="0" tIns="0" rIns="0" bIns="0" rtlCol="0" anchor="t"/>
          <a:lstStyle/>
          <a:p>
            <a:pPr algn="l" indent="0" marL="0">
              <a:lnSpc>
                <a:spcPts val="2400"/>
              </a:lnSpc>
              <a:buNone/>
            </a:pPr>
            <a:r>
              <a:rPr lang="en-US" sz="1500" dirty="0">
                <a:solidFill>
                  <a:srgbClr val="2C3249"/>
                </a:solidFill>
                <a:latin typeface="Martel Sans" pitchFamily="34" charset="0"/>
                <a:ea typeface="Martel Sans" pitchFamily="34" charset="-122"/>
                <a:cs typeface="Martel Sans" pitchFamily="34" charset="-120"/>
              </a:rPr>
              <a:t>Convolution layer adalah komponen utama CNN yang melakukan operasi konvolusi antara input dan kernel (filter) untuk menghasilkan feature map. Operasi ini mendeteksi pola spesifik dalam citra.</a:t>
            </a:r>
            <a:endParaRPr lang="en-US" sz="1500" dirty="0"/>
          </a:p>
        </p:txBody>
      </p:sp>
      <p:pic>
        <p:nvPicPr>
          <p:cNvPr id="4" name="Image 0" descr="preencoded.png">    </p:cNvPr>
          <p:cNvPicPr>
            <a:picLocks noChangeAspect="1"/>
          </p:cNvPicPr>
          <p:nvPr/>
        </p:nvPicPr>
        <p:blipFill>
          <a:blip r:embed="rId1"/>
          <a:stretch>
            <a:fillRect/>
          </a:stretch>
        </p:blipFill>
        <p:spPr>
          <a:xfrm>
            <a:off x="972622" y="2326362"/>
            <a:ext cx="12685157" cy="4760000"/>
          </a:xfrm>
          <a:prstGeom prst="rect">
            <a:avLst/>
          </a:prstGeom>
        </p:spPr>
      </p:pic>
      <p:pic>
        <p:nvPicPr>
          <p:cNvPr id="5" name="Image 1" descr="preencoded.png">    </p:cNvPr>
          <p:cNvPicPr>
            <a:picLocks noChangeAspect="1"/>
          </p:cNvPicPr>
          <p:nvPr/>
        </p:nvPicPr>
        <p:blipFill>
          <a:blip r:embed="rId2"/>
          <a:stretch>
            <a:fillRect/>
          </a:stretch>
        </p:blipFill>
        <p:spPr>
          <a:xfrm>
            <a:off x="11805835" y="3538819"/>
            <a:ext cx="655233" cy="655233"/>
          </a:xfrm>
          <a:prstGeom prst="rect">
            <a:avLst/>
          </a:prstGeom>
        </p:spPr>
      </p:pic>
      <p:sp>
        <p:nvSpPr>
          <p:cNvPr id="6" name="Text 2"/>
          <p:cNvSpPr/>
          <p:nvPr/>
        </p:nvSpPr>
        <p:spPr>
          <a:xfrm>
            <a:off x="11222064" y="5930828"/>
            <a:ext cx="1913279" cy="368569"/>
          </a:xfrm>
          <a:prstGeom prst="rect">
            <a:avLst/>
          </a:prstGeom>
          <a:noFill/>
          <a:ln/>
        </p:spPr>
        <p:txBody>
          <a:bodyPr wrap="none" lIns="0" tIns="0" rIns="0" bIns="0" rtlCol="0" anchor="t"/>
          <a:lstStyle/>
          <a:p>
            <a:pPr algn="ctr" indent="0" marL="0">
              <a:lnSpc>
                <a:spcPts val="1650"/>
              </a:lnSpc>
              <a:buNone/>
            </a:pPr>
            <a:r>
              <a:rPr lang="en-US" sz="1350" dirty="0">
                <a:solidFill>
                  <a:srgbClr val="2C3249"/>
                </a:solidFill>
                <a:latin typeface="Kanit Light" pitchFamily="34" charset="0"/>
                <a:ea typeface="Kanit Light" pitchFamily="34" charset="-122"/>
                <a:cs typeface="Kanit Light" pitchFamily="34" charset="-120"/>
              </a:rPr>
              <a:t>Feature Map</a:t>
            </a:r>
            <a:endParaRPr lang="en-US" sz="1350" dirty="0"/>
          </a:p>
        </p:txBody>
      </p:sp>
      <p:pic>
        <p:nvPicPr>
          <p:cNvPr id="7" name="Image 2" descr="preencoded.png">    </p:cNvPr>
          <p:cNvPicPr>
            <a:picLocks noChangeAspect="1"/>
          </p:cNvPicPr>
          <p:nvPr/>
        </p:nvPicPr>
        <p:blipFill>
          <a:blip r:embed="rId3"/>
          <a:stretch>
            <a:fillRect/>
          </a:stretch>
        </p:blipFill>
        <p:spPr>
          <a:xfrm>
            <a:off x="9407070" y="3540048"/>
            <a:ext cx="655233" cy="655233"/>
          </a:xfrm>
          <a:prstGeom prst="rect">
            <a:avLst/>
          </a:prstGeom>
        </p:spPr>
      </p:pic>
      <p:sp>
        <p:nvSpPr>
          <p:cNvPr id="8" name="Text 3"/>
          <p:cNvSpPr/>
          <p:nvPr/>
        </p:nvSpPr>
        <p:spPr>
          <a:xfrm>
            <a:off x="8810807" y="5930828"/>
            <a:ext cx="1913279" cy="368569"/>
          </a:xfrm>
          <a:prstGeom prst="rect">
            <a:avLst/>
          </a:prstGeom>
          <a:noFill/>
          <a:ln/>
        </p:spPr>
        <p:txBody>
          <a:bodyPr wrap="none" lIns="0" tIns="0" rIns="0" bIns="0" rtlCol="0" anchor="t"/>
          <a:lstStyle/>
          <a:p>
            <a:pPr algn="ctr" indent="0" marL="0">
              <a:lnSpc>
                <a:spcPts val="1650"/>
              </a:lnSpc>
              <a:buNone/>
            </a:pPr>
            <a:r>
              <a:rPr lang="en-US" sz="1350" dirty="0">
                <a:solidFill>
                  <a:srgbClr val="2C3249"/>
                </a:solidFill>
                <a:latin typeface="Kanit Light" pitchFamily="34" charset="0"/>
                <a:ea typeface="Kanit Light" pitchFamily="34" charset="-122"/>
                <a:cs typeface="Kanit Light" pitchFamily="34" charset="-120"/>
              </a:rPr>
              <a:t>Penjumlahan</a:t>
            </a:r>
            <a:endParaRPr lang="en-US" sz="1350" dirty="0"/>
          </a:p>
        </p:txBody>
      </p:sp>
      <p:pic>
        <p:nvPicPr>
          <p:cNvPr id="9" name="Image 3" descr="preencoded.png">    </p:cNvPr>
          <p:cNvPicPr>
            <a:picLocks noChangeAspect="1"/>
          </p:cNvPicPr>
          <p:nvPr/>
        </p:nvPicPr>
        <p:blipFill>
          <a:blip r:embed="rId4"/>
          <a:stretch>
            <a:fillRect/>
          </a:stretch>
        </p:blipFill>
        <p:spPr>
          <a:xfrm>
            <a:off x="7008918" y="3540048"/>
            <a:ext cx="655233" cy="655233"/>
          </a:xfrm>
          <a:prstGeom prst="rect">
            <a:avLst/>
          </a:prstGeom>
        </p:spPr>
      </p:pic>
      <p:sp>
        <p:nvSpPr>
          <p:cNvPr id="10" name="Text 4"/>
          <p:cNvSpPr/>
          <p:nvPr/>
        </p:nvSpPr>
        <p:spPr>
          <a:xfrm>
            <a:off x="6412656" y="5930828"/>
            <a:ext cx="1913279" cy="368569"/>
          </a:xfrm>
          <a:prstGeom prst="rect">
            <a:avLst/>
          </a:prstGeom>
          <a:noFill/>
          <a:ln/>
        </p:spPr>
        <p:txBody>
          <a:bodyPr wrap="none" lIns="0" tIns="0" rIns="0" bIns="0" rtlCol="0" anchor="t"/>
          <a:lstStyle/>
          <a:p>
            <a:pPr algn="ctr" indent="0" marL="0">
              <a:lnSpc>
                <a:spcPts val="1650"/>
              </a:lnSpc>
              <a:buNone/>
            </a:pPr>
            <a:r>
              <a:rPr lang="en-US" sz="1350" dirty="0">
                <a:solidFill>
                  <a:srgbClr val="2C3249"/>
                </a:solidFill>
                <a:latin typeface="Kanit Light" pitchFamily="34" charset="0"/>
                <a:ea typeface="Kanit Light" pitchFamily="34" charset="-122"/>
                <a:cs typeface="Kanit Light" pitchFamily="34" charset="-120"/>
              </a:rPr>
              <a:t>Perkalian</a:t>
            </a:r>
            <a:endParaRPr lang="en-US" sz="1350" dirty="0"/>
          </a:p>
        </p:txBody>
      </p:sp>
      <p:pic>
        <p:nvPicPr>
          <p:cNvPr id="11" name="Image 4" descr="preencoded.png">    </p:cNvPr>
          <p:cNvPicPr>
            <a:picLocks noChangeAspect="1"/>
          </p:cNvPicPr>
          <p:nvPr/>
        </p:nvPicPr>
        <p:blipFill>
          <a:blip r:embed="rId5"/>
          <a:stretch>
            <a:fillRect/>
          </a:stretch>
        </p:blipFill>
        <p:spPr>
          <a:xfrm>
            <a:off x="4610767" y="3540048"/>
            <a:ext cx="655233" cy="655233"/>
          </a:xfrm>
          <a:prstGeom prst="rect">
            <a:avLst/>
          </a:prstGeom>
        </p:spPr>
      </p:pic>
      <p:sp>
        <p:nvSpPr>
          <p:cNvPr id="12" name="Text 5"/>
          <p:cNvSpPr/>
          <p:nvPr/>
        </p:nvSpPr>
        <p:spPr>
          <a:xfrm>
            <a:off x="4014505" y="5930828"/>
            <a:ext cx="1913279" cy="368569"/>
          </a:xfrm>
          <a:prstGeom prst="rect">
            <a:avLst/>
          </a:prstGeom>
          <a:noFill/>
          <a:ln/>
        </p:spPr>
        <p:txBody>
          <a:bodyPr wrap="none" lIns="0" tIns="0" rIns="0" bIns="0" rtlCol="0" anchor="t"/>
          <a:lstStyle/>
          <a:p>
            <a:pPr algn="ctr" indent="0" marL="0">
              <a:lnSpc>
                <a:spcPts val="1650"/>
              </a:lnSpc>
              <a:buNone/>
            </a:pPr>
            <a:r>
              <a:rPr lang="en-US" sz="1350" dirty="0">
                <a:solidFill>
                  <a:srgbClr val="2C3249"/>
                </a:solidFill>
                <a:latin typeface="Kanit Light" pitchFamily="34" charset="0"/>
                <a:ea typeface="Kanit Light" pitchFamily="34" charset="-122"/>
                <a:cs typeface="Kanit Light" pitchFamily="34" charset="-120"/>
              </a:rPr>
              <a:t>Geser</a:t>
            </a:r>
            <a:endParaRPr lang="en-US" sz="1350" dirty="0"/>
          </a:p>
        </p:txBody>
      </p:sp>
      <p:pic>
        <p:nvPicPr>
          <p:cNvPr id="13" name="Image 5" descr="preencoded.png">    </p:cNvPr>
          <p:cNvPicPr>
            <a:picLocks noChangeAspect="1"/>
          </p:cNvPicPr>
          <p:nvPr/>
        </p:nvPicPr>
        <p:blipFill>
          <a:blip r:embed="rId6"/>
          <a:stretch>
            <a:fillRect/>
          </a:stretch>
        </p:blipFill>
        <p:spPr>
          <a:xfrm>
            <a:off x="2199511" y="3540048"/>
            <a:ext cx="655233" cy="655233"/>
          </a:xfrm>
          <a:prstGeom prst="rect">
            <a:avLst/>
          </a:prstGeom>
        </p:spPr>
      </p:pic>
      <p:sp>
        <p:nvSpPr>
          <p:cNvPr id="14" name="Text 6"/>
          <p:cNvSpPr/>
          <p:nvPr/>
        </p:nvSpPr>
        <p:spPr>
          <a:xfrm>
            <a:off x="1563935" y="5930828"/>
            <a:ext cx="1913279" cy="368569"/>
          </a:xfrm>
          <a:prstGeom prst="rect">
            <a:avLst/>
          </a:prstGeom>
          <a:noFill/>
          <a:ln/>
        </p:spPr>
        <p:txBody>
          <a:bodyPr wrap="none" lIns="0" tIns="0" rIns="0" bIns="0" rtlCol="0" anchor="t"/>
          <a:lstStyle/>
          <a:p>
            <a:pPr algn="ctr" indent="0" marL="0">
              <a:lnSpc>
                <a:spcPts val="1650"/>
              </a:lnSpc>
              <a:buNone/>
            </a:pPr>
            <a:r>
              <a:rPr lang="en-US" sz="1350" dirty="0">
                <a:solidFill>
                  <a:srgbClr val="2C3249"/>
                </a:solidFill>
                <a:latin typeface="Kanit Light" pitchFamily="34" charset="0"/>
                <a:ea typeface="Kanit Light" pitchFamily="34" charset="-122"/>
                <a:cs typeface="Kanit Light" pitchFamily="34" charset="-120"/>
              </a:rPr>
              <a:t>Filter</a:t>
            </a:r>
            <a:endParaRPr lang="en-US" sz="1350" dirty="0"/>
          </a:p>
        </p:txBody>
      </p:sp>
      <p:sp>
        <p:nvSpPr>
          <p:cNvPr id="15" name="Text 7"/>
          <p:cNvSpPr/>
          <p:nvPr/>
        </p:nvSpPr>
        <p:spPr>
          <a:xfrm>
            <a:off x="762714" y="7300793"/>
            <a:ext cx="13104971" cy="610314"/>
          </a:xfrm>
          <a:prstGeom prst="rect">
            <a:avLst/>
          </a:prstGeom>
          <a:noFill/>
          <a:ln/>
        </p:spPr>
        <p:txBody>
          <a:bodyPr wrap="square" lIns="0" tIns="0" rIns="0" bIns="0" rtlCol="0" anchor="t"/>
          <a:lstStyle/>
          <a:p>
            <a:pPr algn="l" indent="0" marL="0">
              <a:lnSpc>
                <a:spcPts val="2400"/>
              </a:lnSpc>
              <a:buNone/>
            </a:pPr>
            <a:r>
              <a:rPr lang="en-US" sz="1500" dirty="0">
                <a:solidFill>
                  <a:srgbClr val="2C3249"/>
                </a:solidFill>
                <a:latin typeface="Martel Sans" pitchFamily="34" charset="0"/>
                <a:ea typeface="Martel Sans" pitchFamily="34" charset="-122"/>
                <a:cs typeface="Martel Sans" pitchFamily="34" charset="-120"/>
              </a:rPr>
              <a:t>Kernel yang berbeda akan mendeteksi fitur yang berbeda: tepi vertikal/horizontal, tekstur, atau pola kompleks pada lapisan yang lebih dalam. Bobot kernel dilatih secara otomatis selama proses pembelajaran.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907143"/>
            <a:ext cx="7596426"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Parameter Kritis Convolution Layer</a:t>
            </a:r>
            <a:endParaRPr lang="en-US" sz="3900" dirty="0"/>
          </a:p>
        </p:txBody>
      </p:sp>
      <p:sp>
        <p:nvSpPr>
          <p:cNvPr id="3" name="Text 1"/>
          <p:cNvSpPr/>
          <p:nvPr/>
        </p:nvSpPr>
        <p:spPr>
          <a:xfrm>
            <a:off x="793790" y="3023235"/>
            <a:ext cx="2796778" cy="310158"/>
          </a:xfrm>
          <a:prstGeom prst="rect">
            <a:avLst/>
          </a:prstGeom>
          <a:noFill/>
          <a:ln/>
        </p:spPr>
        <p:txBody>
          <a:bodyPr wrap="none" lIns="0" tIns="0" rIns="0" bIns="0" rtlCol="0" anchor="t"/>
          <a:lstStyle/>
          <a:p>
            <a:pPr algn="l" indent="0" marL="0">
              <a:lnSpc>
                <a:spcPts val="2400"/>
              </a:lnSpc>
              <a:buNone/>
            </a:pPr>
            <a:r>
              <a:rPr lang="en-US" sz="1950" dirty="0">
                <a:solidFill>
                  <a:srgbClr val="272D45"/>
                </a:solidFill>
                <a:latin typeface="Kanit Light" pitchFamily="34" charset="0"/>
                <a:ea typeface="Kanit Light" pitchFamily="34" charset="-122"/>
                <a:cs typeface="Kanit Light" pitchFamily="34" charset="-120"/>
              </a:rPr>
              <a:t>Filter Size (Ukuran Kernel)</a:t>
            </a:r>
            <a:endParaRPr lang="en-US" sz="1950" dirty="0"/>
          </a:p>
        </p:txBody>
      </p:sp>
      <p:sp>
        <p:nvSpPr>
          <p:cNvPr id="4" name="Text 2"/>
          <p:cNvSpPr/>
          <p:nvPr/>
        </p:nvSpPr>
        <p:spPr>
          <a:xfrm>
            <a:off x="793790" y="3531751"/>
            <a:ext cx="6279356"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Umumnya 3×3, 5×5, atau 7×7. Semakin besar ukuran, semakin luas area reseptif, tetapi membutuhkan lebih banyak komputasi.</a:t>
            </a:r>
            <a:endParaRPr lang="en-US" sz="1550" dirty="0"/>
          </a:p>
        </p:txBody>
      </p:sp>
      <p:sp>
        <p:nvSpPr>
          <p:cNvPr id="5" name="Text 3"/>
          <p:cNvSpPr/>
          <p:nvPr/>
        </p:nvSpPr>
        <p:spPr>
          <a:xfrm>
            <a:off x="793790" y="436518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72D45"/>
                </a:solidFill>
                <a:latin typeface="Kanit Light" pitchFamily="34" charset="0"/>
                <a:ea typeface="Kanit Light" pitchFamily="34" charset="-122"/>
                <a:cs typeface="Kanit Light" pitchFamily="34" charset="-120"/>
              </a:rPr>
              <a:t>Stride</a:t>
            </a:r>
            <a:endParaRPr lang="en-US" sz="1950" dirty="0"/>
          </a:p>
        </p:txBody>
      </p:sp>
      <p:sp>
        <p:nvSpPr>
          <p:cNvPr id="6" name="Text 4"/>
          <p:cNvSpPr/>
          <p:nvPr/>
        </p:nvSpPr>
        <p:spPr>
          <a:xfrm>
            <a:off x="793790" y="4873704"/>
            <a:ext cx="6279356"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Jumlah piksel pergeseran filter. Stride besar mengurangi dimensi output tetapi dapat kehilangan informasi.</a:t>
            </a:r>
            <a:endParaRPr lang="en-US" sz="1550" dirty="0"/>
          </a:p>
        </p:txBody>
      </p:sp>
      <p:sp>
        <p:nvSpPr>
          <p:cNvPr id="7" name="Text 5"/>
          <p:cNvSpPr/>
          <p:nvPr/>
        </p:nvSpPr>
        <p:spPr>
          <a:xfrm>
            <a:off x="7564874" y="302323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72D45"/>
                </a:solidFill>
                <a:latin typeface="Kanit Light" pitchFamily="34" charset="0"/>
                <a:ea typeface="Kanit Light" pitchFamily="34" charset="-122"/>
                <a:cs typeface="Kanit Light" pitchFamily="34" charset="-120"/>
              </a:rPr>
              <a:t>Padding</a:t>
            </a:r>
            <a:endParaRPr lang="en-US" sz="1950" dirty="0"/>
          </a:p>
        </p:txBody>
      </p:sp>
      <p:sp>
        <p:nvSpPr>
          <p:cNvPr id="8" name="Text 6"/>
          <p:cNvSpPr/>
          <p:nvPr/>
        </p:nvSpPr>
        <p:spPr>
          <a:xfrm>
            <a:off x="7564874" y="3531751"/>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Menambahkan piksel (biasanya nol) di sekitar input untuk mempertahankan dimensi spasial. Valid padding (tanpa padding) vs same padding (mempertahankan dimensi).</a:t>
            </a:r>
            <a:endParaRPr lang="en-US" sz="1550" dirty="0"/>
          </a:p>
        </p:txBody>
      </p:sp>
      <p:sp>
        <p:nvSpPr>
          <p:cNvPr id="9" name="Text 7"/>
          <p:cNvSpPr/>
          <p:nvPr/>
        </p:nvSpPr>
        <p:spPr>
          <a:xfrm>
            <a:off x="7564874" y="468272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72D45"/>
                </a:solidFill>
                <a:latin typeface="Kanit Light" pitchFamily="34" charset="0"/>
                <a:ea typeface="Kanit Light" pitchFamily="34" charset="-122"/>
                <a:cs typeface="Kanit Light" pitchFamily="34" charset="-120"/>
              </a:rPr>
              <a:t>Jumlah Filter</a:t>
            </a:r>
            <a:endParaRPr lang="en-US" sz="1950" dirty="0"/>
          </a:p>
        </p:txBody>
      </p:sp>
      <p:sp>
        <p:nvSpPr>
          <p:cNvPr id="10" name="Text 8"/>
          <p:cNvSpPr/>
          <p:nvPr/>
        </p:nvSpPr>
        <p:spPr>
          <a:xfrm>
            <a:off x="7564874" y="5191244"/>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Menentukan jumlah feature map yang dihasilkan. Lebih banyak filter mendeteksi lebih banyak fitur tetapi meningkatkan kompleksitas model.</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729145"/>
            <a:ext cx="6797635"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Activation Function dalam CNN</a:t>
            </a:r>
            <a:endParaRPr lang="en-US" sz="3900" dirty="0"/>
          </a:p>
        </p:txBody>
      </p:sp>
      <p:sp>
        <p:nvSpPr>
          <p:cNvPr id="3" name="Text 1"/>
          <p:cNvSpPr/>
          <p:nvPr/>
        </p:nvSpPr>
        <p:spPr>
          <a:xfrm>
            <a:off x="793790" y="2746058"/>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Fungsi aktivasi menambahkan non-linearitas ke model, memungkinkan CNN mempelajari pola kompleks. Tanpa fungsi aktivasi, CNN hanya bisa memodelkan transformasi linear.</a:t>
            </a:r>
            <a:endParaRPr lang="en-US" sz="1550" dirty="0"/>
          </a:p>
        </p:txBody>
      </p:sp>
      <p:sp>
        <p:nvSpPr>
          <p:cNvPr id="4" name="Shape 2"/>
          <p:cNvSpPr/>
          <p:nvPr/>
        </p:nvSpPr>
        <p:spPr>
          <a:xfrm>
            <a:off x="793790" y="3604379"/>
            <a:ext cx="4215289" cy="2895957"/>
          </a:xfrm>
          <a:prstGeom prst="roundRect">
            <a:avLst>
              <a:gd name="adj" fmla="val 2878"/>
            </a:avLst>
          </a:prstGeom>
          <a:solidFill>
            <a:srgbClr val="FFFFFF"/>
          </a:solidFill>
          <a:ln w="22860">
            <a:solidFill>
              <a:srgbClr val="C5D2CF"/>
            </a:solidFill>
            <a:prstDash val="solid"/>
          </a:ln>
        </p:spPr>
      </p:sp>
      <p:sp>
        <p:nvSpPr>
          <p:cNvPr id="5" name="Text 3"/>
          <p:cNvSpPr/>
          <p:nvPr/>
        </p:nvSpPr>
        <p:spPr>
          <a:xfrm>
            <a:off x="1015008" y="3825597"/>
            <a:ext cx="2994779"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ReLU (Rectified Linear Unit)</a:t>
            </a:r>
            <a:endParaRPr lang="en-US" sz="1950" dirty="0"/>
          </a:p>
        </p:txBody>
      </p:sp>
      <p:sp>
        <p:nvSpPr>
          <p:cNvPr id="6" name="Text 4"/>
          <p:cNvSpPr/>
          <p:nvPr/>
        </p:nvSpPr>
        <p:spPr>
          <a:xfrm>
            <a:off x="1015008" y="4254818"/>
            <a:ext cx="3772853"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f(x) = max(0, x)</a:t>
            </a:r>
            <a:endParaRPr lang="en-US" sz="1550" dirty="0"/>
          </a:p>
        </p:txBody>
      </p:sp>
      <p:sp>
        <p:nvSpPr>
          <p:cNvPr id="7" name="Text 5"/>
          <p:cNvSpPr/>
          <p:nvPr/>
        </p:nvSpPr>
        <p:spPr>
          <a:xfrm>
            <a:off x="1015008" y="4691420"/>
            <a:ext cx="3772853" cy="1587698"/>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Paling umum digunakan karena komputasi sederhana dan mengatasi vanishing gradient. Namun bisa mengalami "dying ReLU" dimana neuron menjadi tidak aktif.</a:t>
            </a:r>
            <a:endParaRPr lang="en-US" sz="1550" dirty="0"/>
          </a:p>
        </p:txBody>
      </p:sp>
      <p:sp>
        <p:nvSpPr>
          <p:cNvPr id="8" name="Shape 6"/>
          <p:cNvSpPr/>
          <p:nvPr/>
        </p:nvSpPr>
        <p:spPr>
          <a:xfrm>
            <a:off x="5207437" y="3604379"/>
            <a:ext cx="4215408" cy="2895957"/>
          </a:xfrm>
          <a:prstGeom prst="roundRect">
            <a:avLst>
              <a:gd name="adj" fmla="val 2878"/>
            </a:avLst>
          </a:prstGeom>
          <a:solidFill>
            <a:srgbClr val="FFFFFF"/>
          </a:solidFill>
          <a:ln w="22860">
            <a:solidFill>
              <a:srgbClr val="C5D2CF"/>
            </a:solidFill>
            <a:prstDash val="solid"/>
          </a:ln>
        </p:spPr>
      </p:sp>
      <p:sp>
        <p:nvSpPr>
          <p:cNvPr id="9" name="Text 7"/>
          <p:cNvSpPr/>
          <p:nvPr/>
        </p:nvSpPr>
        <p:spPr>
          <a:xfrm>
            <a:off x="5428655" y="382559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Leaky ReLU</a:t>
            </a:r>
            <a:endParaRPr lang="en-US" sz="1950" dirty="0"/>
          </a:p>
        </p:txBody>
      </p:sp>
      <p:sp>
        <p:nvSpPr>
          <p:cNvPr id="10" name="Text 8"/>
          <p:cNvSpPr/>
          <p:nvPr/>
        </p:nvSpPr>
        <p:spPr>
          <a:xfrm>
            <a:off x="5428655" y="4254818"/>
            <a:ext cx="3772972"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f(x) = max(αx, x), dengan α kecil (0.01)</a:t>
            </a:r>
            <a:endParaRPr lang="en-US" sz="1550" dirty="0"/>
          </a:p>
        </p:txBody>
      </p:sp>
      <p:sp>
        <p:nvSpPr>
          <p:cNvPr id="11" name="Text 9"/>
          <p:cNvSpPr/>
          <p:nvPr/>
        </p:nvSpPr>
        <p:spPr>
          <a:xfrm>
            <a:off x="5428655" y="4691420"/>
            <a:ext cx="3772972"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Variasi ReLU yang memungkinkan gradien kecil saat x &lt; 0, mengatasi masalah dying ReLU.</a:t>
            </a:r>
            <a:endParaRPr lang="en-US" sz="1550" dirty="0"/>
          </a:p>
        </p:txBody>
      </p:sp>
      <p:sp>
        <p:nvSpPr>
          <p:cNvPr id="12" name="Shape 10"/>
          <p:cNvSpPr/>
          <p:nvPr/>
        </p:nvSpPr>
        <p:spPr>
          <a:xfrm>
            <a:off x="9621203" y="3604379"/>
            <a:ext cx="4215289" cy="2895957"/>
          </a:xfrm>
          <a:prstGeom prst="roundRect">
            <a:avLst>
              <a:gd name="adj" fmla="val 2878"/>
            </a:avLst>
          </a:prstGeom>
          <a:solidFill>
            <a:srgbClr val="FFFFFF"/>
          </a:solidFill>
          <a:ln w="22860">
            <a:solidFill>
              <a:srgbClr val="C5D2CF"/>
            </a:solidFill>
            <a:prstDash val="solid"/>
          </a:ln>
        </p:spPr>
      </p:sp>
      <p:sp>
        <p:nvSpPr>
          <p:cNvPr id="13" name="Text 11"/>
          <p:cNvSpPr/>
          <p:nvPr/>
        </p:nvSpPr>
        <p:spPr>
          <a:xfrm>
            <a:off x="9842421" y="382559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Sigmoid &amp; Tanh</a:t>
            </a:r>
            <a:endParaRPr lang="en-US" sz="1950" dirty="0"/>
          </a:p>
        </p:txBody>
      </p:sp>
      <p:sp>
        <p:nvSpPr>
          <p:cNvPr id="14" name="Text 12"/>
          <p:cNvSpPr/>
          <p:nvPr/>
        </p:nvSpPr>
        <p:spPr>
          <a:xfrm>
            <a:off x="9842421" y="4254818"/>
            <a:ext cx="3772853" cy="127015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Fungsi klasik yang jarang digunakan di lapisan tengah CNN karena masalah vanishing gradient, tetapi sigmoid masih digunakan untuk output biner.</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600795"/>
            <a:ext cx="7957066"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Pooling Layer: Pengurangan Dimensi</a:t>
            </a:r>
            <a:endParaRPr lang="en-US" sz="3900" dirty="0"/>
          </a:p>
        </p:txBody>
      </p:sp>
      <p:sp>
        <p:nvSpPr>
          <p:cNvPr id="3" name="Text 1"/>
          <p:cNvSpPr/>
          <p:nvPr/>
        </p:nvSpPr>
        <p:spPr>
          <a:xfrm>
            <a:off x="793790" y="2617708"/>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Pooling layer bertujuan mengurangi dimensi spasial dari feature map, mengurangi parameter model, dan membuat deteksi fitur lebih robust terhadap variasi posisi.</a:t>
            </a:r>
            <a:endParaRPr lang="en-US" sz="1550" dirty="0"/>
          </a:p>
        </p:txBody>
      </p:sp>
      <p:sp>
        <p:nvSpPr>
          <p:cNvPr id="4" name="Text 2"/>
          <p:cNvSpPr/>
          <p:nvPr/>
        </p:nvSpPr>
        <p:spPr>
          <a:xfrm>
            <a:off x="793790" y="367438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72D45"/>
                </a:solidFill>
                <a:latin typeface="Kanit Light" pitchFamily="34" charset="0"/>
                <a:ea typeface="Kanit Light" pitchFamily="34" charset="-122"/>
                <a:cs typeface="Kanit Light" pitchFamily="34" charset="-120"/>
              </a:rPr>
              <a:t>Max Pooling</a:t>
            </a:r>
            <a:endParaRPr lang="en-US" sz="1950" dirty="0"/>
          </a:p>
        </p:txBody>
      </p:sp>
      <p:sp>
        <p:nvSpPr>
          <p:cNvPr id="5" name="Text 3"/>
          <p:cNvSpPr/>
          <p:nvPr/>
        </p:nvSpPr>
        <p:spPr>
          <a:xfrm>
            <a:off x="793790" y="4182904"/>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Mengambil nilai maksimum dari setiap region. Paling umum digunakan karena mempertahankan fitur terkuat. Efektif untuk fitur tepi dan tekstur.</a:t>
            </a:r>
            <a:endParaRPr lang="en-US" sz="1550" dirty="0"/>
          </a:p>
        </p:txBody>
      </p:sp>
      <p:sp>
        <p:nvSpPr>
          <p:cNvPr id="6" name="Text 4"/>
          <p:cNvSpPr/>
          <p:nvPr/>
        </p:nvSpPr>
        <p:spPr>
          <a:xfrm>
            <a:off x="793790" y="5314117"/>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Memperkuat fitur dominan</a:t>
            </a:r>
            <a:endParaRPr lang="en-US" sz="1550" dirty="0"/>
          </a:p>
        </p:txBody>
      </p:sp>
      <p:sp>
        <p:nvSpPr>
          <p:cNvPr id="7" name="Text 5"/>
          <p:cNvSpPr/>
          <p:nvPr/>
        </p:nvSpPr>
        <p:spPr>
          <a:xfrm>
            <a:off x="793790" y="5701070"/>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Mengurangi noise</a:t>
            </a:r>
            <a:endParaRPr lang="en-US" sz="1550" dirty="0"/>
          </a:p>
        </p:txBody>
      </p:sp>
      <p:sp>
        <p:nvSpPr>
          <p:cNvPr id="8" name="Text 6"/>
          <p:cNvSpPr/>
          <p:nvPr/>
        </p:nvSpPr>
        <p:spPr>
          <a:xfrm>
            <a:off x="7564874" y="367438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72D45"/>
                </a:solidFill>
                <a:latin typeface="Kanit Light" pitchFamily="34" charset="0"/>
                <a:ea typeface="Kanit Light" pitchFamily="34" charset="-122"/>
                <a:cs typeface="Kanit Light" pitchFamily="34" charset="-120"/>
              </a:rPr>
              <a:t>Average Pooling</a:t>
            </a:r>
            <a:endParaRPr lang="en-US" sz="1950" dirty="0"/>
          </a:p>
        </p:txBody>
      </p:sp>
      <p:sp>
        <p:nvSpPr>
          <p:cNvPr id="9" name="Text 7"/>
          <p:cNvSpPr/>
          <p:nvPr/>
        </p:nvSpPr>
        <p:spPr>
          <a:xfrm>
            <a:off x="7564874" y="4182904"/>
            <a:ext cx="6279356"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Menghitung rata-rata dari setiap region. Berguna untuk menyimpan informasi latar belakang dan fitur global.</a:t>
            </a:r>
            <a:endParaRPr lang="en-US" sz="1550" dirty="0"/>
          </a:p>
        </p:txBody>
      </p:sp>
      <p:sp>
        <p:nvSpPr>
          <p:cNvPr id="10" name="Text 8"/>
          <p:cNvSpPr/>
          <p:nvPr/>
        </p:nvSpPr>
        <p:spPr>
          <a:xfrm>
            <a:off x="7564874" y="4996577"/>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Mempertahankan konteks spasial</a:t>
            </a:r>
            <a:endParaRPr lang="en-US" sz="1550" dirty="0"/>
          </a:p>
        </p:txBody>
      </p:sp>
      <p:sp>
        <p:nvSpPr>
          <p:cNvPr id="11" name="Text 9"/>
          <p:cNvSpPr/>
          <p:nvPr/>
        </p:nvSpPr>
        <p:spPr>
          <a:xfrm>
            <a:off x="7564874" y="5383530"/>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Memperhalus representasi</a:t>
            </a:r>
            <a:endParaRPr lang="en-US" sz="1550" dirty="0"/>
          </a:p>
        </p:txBody>
      </p:sp>
      <p:sp>
        <p:nvSpPr>
          <p:cNvPr id="12" name="Text 10"/>
          <p:cNvSpPr/>
          <p:nvPr/>
        </p:nvSpPr>
        <p:spPr>
          <a:xfrm>
            <a:off x="793790" y="6311265"/>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Parameter penting: ukuran pool (umumnya 2×2) dan stride (biasanya sama dengan ukuran pool untuk menghindari overlap).</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741164"/>
            <a:ext cx="5877758"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Analisis Efek Pooling Layer</a:t>
            </a:r>
            <a:endParaRPr lang="en-US" sz="3900" dirty="0"/>
          </a:p>
        </p:txBody>
      </p:sp>
      <p:sp>
        <p:nvSpPr>
          <p:cNvPr id="3" name="Shape 1"/>
          <p:cNvSpPr/>
          <p:nvPr/>
        </p:nvSpPr>
        <p:spPr>
          <a:xfrm>
            <a:off x="793790" y="4070033"/>
            <a:ext cx="13042821" cy="22860"/>
          </a:xfrm>
          <a:prstGeom prst="roundRect">
            <a:avLst>
              <a:gd name="adj" fmla="val 364651"/>
            </a:avLst>
          </a:prstGeom>
          <a:solidFill>
            <a:srgbClr val="C5D2CF"/>
          </a:solidFill>
          <a:ln/>
        </p:spPr>
      </p:sp>
      <p:sp>
        <p:nvSpPr>
          <p:cNvPr id="4" name="Shape 2"/>
          <p:cNvSpPr/>
          <p:nvPr/>
        </p:nvSpPr>
        <p:spPr>
          <a:xfrm>
            <a:off x="793790" y="1758077"/>
            <a:ext cx="6397347" cy="2311956"/>
          </a:xfrm>
          <a:prstGeom prst="roundRect">
            <a:avLst>
              <a:gd name="adj" fmla="val 3606"/>
            </a:avLst>
          </a:prstGeom>
          <a:solidFill>
            <a:srgbClr val="DFECE9"/>
          </a:solidFill>
          <a:ln w="7620">
            <a:solidFill>
              <a:srgbClr val="C5D2CF"/>
            </a:solidFill>
            <a:prstDash val="solid"/>
          </a:ln>
        </p:spPr>
      </p:sp>
      <p:sp>
        <p:nvSpPr>
          <p:cNvPr id="5" name="Text 3"/>
          <p:cNvSpPr/>
          <p:nvPr/>
        </p:nvSpPr>
        <p:spPr>
          <a:xfrm>
            <a:off x="2752011" y="1964055"/>
            <a:ext cx="2480905" cy="310158"/>
          </a:xfrm>
          <a:prstGeom prst="rect">
            <a:avLst/>
          </a:prstGeom>
          <a:noFill/>
          <a:ln/>
        </p:spPr>
        <p:txBody>
          <a:bodyPr wrap="none" lIns="0" tIns="0" rIns="0" bIns="0" rtlCol="0" anchor="t"/>
          <a:lstStyle/>
          <a:p>
            <a:pPr algn="ctr"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Keuntungan Pooling</a:t>
            </a:r>
            <a:endParaRPr lang="en-US" sz="1950" dirty="0"/>
          </a:p>
        </p:txBody>
      </p:sp>
      <p:sp>
        <p:nvSpPr>
          <p:cNvPr id="6" name="Text 4"/>
          <p:cNvSpPr/>
          <p:nvPr/>
        </p:nvSpPr>
        <p:spPr>
          <a:xfrm>
            <a:off x="999768" y="2393275"/>
            <a:ext cx="598539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Mengurangi dimensi, mempercepat komputasi</a:t>
            </a:r>
            <a:endParaRPr lang="en-US" sz="1550" dirty="0"/>
          </a:p>
        </p:txBody>
      </p:sp>
      <p:sp>
        <p:nvSpPr>
          <p:cNvPr id="7" name="Text 5"/>
          <p:cNvSpPr/>
          <p:nvPr/>
        </p:nvSpPr>
        <p:spPr>
          <a:xfrm>
            <a:off x="999768" y="2780228"/>
            <a:ext cx="598539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Mengurangi overfitting dengan mengurangi parameter</a:t>
            </a:r>
            <a:endParaRPr lang="en-US" sz="1550" dirty="0"/>
          </a:p>
        </p:txBody>
      </p:sp>
      <p:sp>
        <p:nvSpPr>
          <p:cNvPr id="8" name="Text 6"/>
          <p:cNvSpPr/>
          <p:nvPr/>
        </p:nvSpPr>
        <p:spPr>
          <a:xfrm>
            <a:off x="999768" y="3167182"/>
            <a:ext cx="598539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Memperkuat invariansi translasi</a:t>
            </a:r>
            <a:endParaRPr lang="en-US" sz="1550" dirty="0"/>
          </a:p>
        </p:txBody>
      </p:sp>
      <p:sp>
        <p:nvSpPr>
          <p:cNvPr id="9" name="Text 7"/>
          <p:cNvSpPr/>
          <p:nvPr/>
        </p:nvSpPr>
        <p:spPr>
          <a:xfrm>
            <a:off x="999768" y="3554135"/>
            <a:ext cx="598539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Memperluas receptive field efektif</a:t>
            </a:r>
            <a:endParaRPr lang="en-US" sz="1550" dirty="0"/>
          </a:p>
        </p:txBody>
      </p:sp>
      <p:sp>
        <p:nvSpPr>
          <p:cNvPr id="10" name="Shape 8"/>
          <p:cNvSpPr/>
          <p:nvPr/>
        </p:nvSpPr>
        <p:spPr>
          <a:xfrm>
            <a:off x="7439144" y="4092893"/>
            <a:ext cx="6397466" cy="2560082"/>
          </a:xfrm>
          <a:prstGeom prst="rect">
            <a:avLst/>
          </a:prstGeom>
          <a:solidFill>
            <a:srgbClr val="DFECE9"/>
          </a:solidFill>
          <a:ln/>
        </p:spPr>
      </p:sp>
      <p:sp>
        <p:nvSpPr>
          <p:cNvPr id="11" name="Text 9"/>
          <p:cNvSpPr/>
          <p:nvPr/>
        </p:nvSpPr>
        <p:spPr>
          <a:xfrm>
            <a:off x="9397365" y="4291251"/>
            <a:ext cx="2480905" cy="310158"/>
          </a:xfrm>
          <a:prstGeom prst="rect">
            <a:avLst/>
          </a:prstGeom>
          <a:noFill/>
          <a:ln/>
        </p:spPr>
        <p:txBody>
          <a:bodyPr wrap="none" lIns="0" tIns="0" rIns="0" bIns="0" rtlCol="0" anchor="t"/>
          <a:lstStyle/>
          <a:p>
            <a:pPr algn="ctr"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Kerugian Pooling</a:t>
            </a:r>
            <a:endParaRPr lang="en-US" sz="1950" dirty="0"/>
          </a:p>
        </p:txBody>
      </p:sp>
      <p:sp>
        <p:nvSpPr>
          <p:cNvPr id="12" name="Text 10"/>
          <p:cNvSpPr/>
          <p:nvPr/>
        </p:nvSpPr>
        <p:spPr>
          <a:xfrm>
            <a:off x="7645122" y="4720471"/>
            <a:ext cx="5985510"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Kehilangan informasi spasial presisi</a:t>
            </a:r>
            <a:endParaRPr lang="en-US" sz="1550" dirty="0"/>
          </a:p>
        </p:txBody>
      </p:sp>
      <p:sp>
        <p:nvSpPr>
          <p:cNvPr id="13" name="Text 11"/>
          <p:cNvSpPr/>
          <p:nvPr/>
        </p:nvSpPr>
        <p:spPr>
          <a:xfrm>
            <a:off x="7645122" y="5107424"/>
            <a:ext cx="5985510"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Tidak optimal untuk tugas yang membutuhkan lokalisasi akurat</a:t>
            </a:r>
            <a:endParaRPr lang="en-US" sz="1550" dirty="0"/>
          </a:p>
        </p:txBody>
      </p:sp>
      <p:sp>
        <p:nvSpPr>
          <p:cNvPr id="14" name="Text 12"/>
          <p:cNvSpPr/>
          <p:nvPr/>
        </p:nvSpPr>
        <p:spPr>
          <a:xfrm>
            <a:off x="7645122" y="5811917"/>
            <a:ext cx="5985510"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Trend terbaru: pengurangan/penghilangan pooling dengan stride convolution</a:t>
            </a:r>
            <a:endParaRPr lang="en-US" sz="1550" dirty="0"/>
          </a:p>
        </p:txBody>
      </p:sp>
      <p:sp>
        <p:nvSpPr>
          <p:cNvPr id="15" name="Text 13"/>
          <p:cNvSpPr/>
          <p:nvPr/>
        </p:nvSpPr>
        <p:spPr>
          <a:xfrm>
            <a:off x="793790" y="6853357"/>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Studi menunjukkan max pooling meningkatkan akurasi 2-4% pada dataset umum dibandingkan tanpa pooling, tetapi efeknya bervariasi berdasarkan arsitektur dan dataset.</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732240"/>
            <a:ext cx="7437596"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Fully Connected Layer dan Output</a:t>
            </a:r>
            <a:endParaRPr lang="en-US" sz="3900" dirty="0"/>
          </a:p>
        </p:txBody>
      </p:sp>
      <p:sp>
        <p:nvSpPr>
          <p:cNvPr id="3" name="Text 1"/>
          <p:cNvSpPr/>
          <p:nvPr/>
        </p:nvSpPr>
        <p:spPr>
          <a:xfrm>
            <a:off x="793790" y="2749153"/>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Setelah serangkaian convolution dan pooling layer, feature map diubah menjadi vektor fitur menggunakan operasi flattening. Vektor ini kemudian diproses oleh fully connected layers.</a:t>
            </a:r>
            <a:endParaRPr lang="en-US" sz="1550" dirty="0"/>
          </a:p>
        </p:txBody>
      </p:sp>
      <p:sp>
        <p:nvSpPr>
          <p:cNvPr id="4" name="Shape 2"/>
          <p:cNvSpPr/>
          <p:nvPr/>
        </p:nvSpPr>
        <p:spPr>
          <a:xfrm>
            <a:off x="793790" y="4202787"/>
            <a:ext cx="4215289" cy="198358"/>
          </a:xfrm>
          <a:prstGeom prst="roundRect">
            <a:avLst>
              <a:gd name="adj" fmla="val 42025"/>
            </a:avLst>
          </a:prstGeom>
          <a:solidFill>
            <a:srgbClr val="DFECE9"/>
          </a:solidFill>
          <a:ln w="7620">
            <a:solidFill>
              <a:srgbClr val="C5D2CF"/>
            </a:solidFill>
            <a:prstDash val="solid"/>
          </a:ln>
        </p:spPr>
      </p:sp>
      <p:sp>
        <p:nvSpPr>
          <p:cNvPr id="5" name="Text 3"/>
          <p:cNvSpPr/>
          <p:nvPr/>
        </p:nvSpPr>
        <p:spPr>
          <a:xfrm>
            <a:off x="992148" y="459950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Flattening</a:t>
            </a:r>
            <a:endParaRPr lang="en-US" sz="1950" dirty="0"/>
          </a:p>
        </p:txBody>
      </p:sp>
      <p:sp>
        <p:nvSpPr>
          <p:cNvPr id="6" name="Text 4"/>
          <p:cNvSpPr/>
          <p:nvPr/>
        </p:nvSpPr>
        <p:spPr>
          <a:xfrm>
            <a:off x="992148" y="5028724"/>
            <a:ext cx="3818573" cy="127015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Mengubah feature maps 3D menjadi vektor 1D. Misalnya, feature map berukuran 7×7×64 diubah menjadi vektor 3136 elemen.</a:t>
            </a:r>
            <a:endParaRPr lang="en-US" sz="1550" dirty="0"/>
          </a:p>
        </p:txBody>
      </p:sp>
      <p:sp>
        <p:nvSpPr>
          <p:cNvPr id="7" name="Shape 5"/>
          <p:cNvSpPr/>
          <p:nvPr/>
        </p:nvSpPr>
        <p:spPr>
          <a:xfrm>
            <a:off x="5207437" y="3905131"/>
            <a:ext cx="4215408" cy="198358"/>
          </a:xfrm>
          <a:prstGeom prst="roundRect">
            <a:avLst>
              <a:gd name="adj" fmla="val 42025"/>
            </a:avLst>
          </a:prstGeom>
          <a:solidFill>
            <a:srgbClr val="DFECE9"/>
          </a:solidFill>
          <a:ln w="7620">
            <a:solidFill>
              <a:srgbClr val="C5D2CF"/>
            </a:solidFill>
            <a:prstDash val="solid"/>
          </a:ln>
        </p:spPr>
      </p:sp>
      <p:sp>
        <p:nvSpPr>
          <p:cNvPr id="8" name="Text 6"/>
          <p:cNvSpPr/>
          <p:nvPr/>
        </p:nvSpPr>
        <p:spPr>
          <a:xfrm>
            <a:off x="5405795" y="4301847"/>
            <a:ext cx="2526506"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Fully Connected Layers</a:t>
            </a:r>
            <a:endParaRPr lang="en-US" sz="1950" dirty="0"/>
          </a:p>
        </p:txBody>
      </p:sp>
      <p:sp>
        <p:nvSpPr>
          <p:cNvPr id="9" name="Text 7"/>
          <p:cNvSpPr/>
          <p:nvPr/>
        </p:nvSpPr>
        <p:spPr>
          <a:xfrm>
            <a:off x="5405795" y="4731068"/>
            <a:ext cx="3818692" cy="127015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Memproses vektor fitur, mengintegrasikan informasi spasial dan semantik dari semua feature maps. Biasanya menggunakan aktivasi ReLU.</a:t>
            </a:r>
            <a:endParaRPr lang="en-US" sz="1550" dirty="0"/>
          </a:p>
        </p:txBody>
      </p:sp>
      <p:sp>
        <p:nvSpPr>
          <p:cNvPr id="10" name="Shape 8"/>
          <p:cNvSpPr/>
          <p:nvPr/>
        </p:nvSpPr>
        <p:spPr>
          <a:xfrm>
            <a:off x="9621203" y="3607475"/>
            <a:ext cx="4215289" cy="198358"/>
          </a:xfrm>
          <a:prstGeom prst="roundRect">
            <a:avLst>
              <a:gd name="adj" fmla="val 42025"/>
            </a:avLst>
          </a:prstGeom>
          <a:solidFill>
            <a:srgbClr val="DFECE9"/>
          </a:solidFill>
          <a:ln w="7620">
            <a:solidFill>
              <a:srgbClr val="C5D2CF"/>
            </a:solidFill>
            <a:prstDash val="solid"/>
          </a:ln>
        </p:spPr>
      </p:sp>
      <p:sp>
        <p:nvSpPr>
          <p:cNvPr id="11" name="Text 9"/>
          <p:cNvSpPr/>
          <p:nvPr/>
        </p:nvSpPr>
        <p:spPr>
          <a:xfrm>
            <a:off x="9819561" y="4004191"/>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Output Layer</a:t>
            </a:r>
            <a:endParaRPr lang="en-US" sz="1950" dirty="0"/>
          </a:p>
        </p:txBody>
      </p:sp>
      <p:sp>
        <p:nvSpPr>
          <p:cNvPr id="12" name="Text 10"/>
          <p:cNvSpPr/>
          <p:nvPr/>
        </p:nvSpPr>
        <p:spPr>
          <a:xfrm>
            <a:off x="9819561" y="4433411"/>
            <a:ext cx="3818573" cy="1587698"/>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Layer terakhir dengan jumlah neuron sesuai jumlah kelas. Menggunakan aktivasi softmax untuk klasifikasi multi-kelas, menghasilkan probabilitas untuk setiap kelas.</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1962745"/>
            <a:ext cx="6729651"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Teknik Regularisasi dalam CNN</a:t>
            </a:r>
            <a:endParaRPr lang="en-US" sz="3900" dirty="0"/>
          </a:p>
        </p:txBody>
      </p:sp>
      <p:sp>
        <p:nvSpPr>
          <p:cNvPr id="3" name="Text 1"/>
          <p:cNvSpPr/>
          <p:nvPr/>
        </p:nvSpPr>
        <p:spPr>
          <a:xfrm>
            <a:off x="793790" y="2979658"/>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Regularisasi adalah teknik untuk mencegah overfitting, situasi dimana model bekerja baik pada data latih tetapi buruk pada data baru.</a:t>
            </a:r>
            <a:endParaRPr lang="en-US" sz="1550" dirty="0"/>
          </a:p>
        </p:txBody>
      </p:sp>
      <p:sp>
        <p:nvSpPr>
          <p:cNvPr id="4" name="Shape 2"/>
          <p:cNvSpPr/>
          <p:nvPr/>
        </p:nvSpPr>
        <p:spPr>
          <a:xfrm>
            <a:off x="793790" y="3520440"/>
            <a:ext cx="4215289" cy="2746415"/>
          </a:xfrm>
          <a:prstGeom prst="roundRect">
            <a:avLst>
              <a:gd name="adj" fmla="val 3035"/>
            </a:avLst>
          </a:prstGeom>
          <a:solidFill>
            <a:srgbClr val="DFECE9"/>
          </a:solidFill>
          <a:ln w="7620">
            <a:solidFill>
              <a:srgbClr val="C5D2CF"/>
            </a:solidFill>
            <a:prstDash val="solid"/>
          </a:ln>
        </p:spPr>
      </p:sp>
      <p:sp>
        <p:nvSpPr>
          <p:cNvPr id="5" name="Text 3"/>
          <p:cNvSpPr/>
          <p:nvPr/>
        </p:nvSpPr>
        <p:spPr>
          <a:xfrm>
            <a:off x="999768" y="372641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Dropout</a:t>
            </a:r>
            <a:endParaRPr lang="en-US" sz="1950" dirty="0"/>
          </a:p>
        </p:txBody>
      </p:sp>
      <p:sp>
        <p:nvSpPr>
          <p:cNvPr id="6" name="Text 4"/>
          <p:cNvSpPr/>
          <p:nvPr/>
        </p:nvSpPr>
        <p:spPr>
          <a:xfrm>
            <a:off x="999768" y="4155638"/>
            <a:ext cx="3803333" cy="1905238"/>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Menonaktifkan sebagian neuron secara acak selama pelatihan, mencegah neuron terlalu bergantung satu sama lain. Umumnya diterapkan dengan probabilitas 0.5 pada fully connected layers.</a:t>
            </a:r>
            <a:endParaRPr lang="en-US" sz="1550" dirty="0"/>
          </a:p>
        </p:txBody>
      </p:sp>
      <p:sp>
        <p:nvSpPr>
          <p:cNvPr id="7" name="Shape 5"/>
          <p:cNvSpPr/>
          <p:nvPr/>
        </p:nvSpPr>
        <p:spPr>
          <a:xfrm>
            <a:off x="5207437" y="3520440"/>
            <a:ext cx="4215408" cy="2746415"/>
          </a:xfrm>
          <a:prstGeom prst="roundRect">
            <a:avLst>
              <a:gd name="adj" fmla="val 3035"/>
            </a:avLst>
          </a:prstGeom>
          <a:solidFill>
            <a:srgbClr val="DFECE9"/>
          </a:solidFill>
          <a:ln w="7620">
            <a:solidFill>
              <a:srgbClr val="C5D2CF"/>
            </a:solidFill>
            <a:prstDash val="solid"/>
          </a:ln>
        </p:spPr>
      </p:sp>
      <p:sp>
        <p:nvSpPr>
          <p:cNvPr id="8" name="Text 6"/>
          <p:cNvSpPr/>
          <p:nvPr/>
        </p:nvSpPr>
        <p:spPr>
          <a:xfrm>
            <a:off x="5413415" y="372641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Batch Normalization</a:t>
            </a:r>
            <a:endParaRPr lang="en-US" sz="1950" dirty="0"/>
          </a:p>
        </p:txBody>
      </p:sp>
      <p:sp>
        <p:nvSpPr>
          <p:cNvPr id="9" name="Text 7"/>
          <p:cNvSpPr/>
          <p:nvPr/>
        </p:nvSpPr>
        <p:spPr>
          <a:xfrm>
            <a:off x="5413415" y="4155638"/>
            <a:ext cx="3803452" cy="1587698"/>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Menormalkan output layer untuk mempercepat pelatihan dan meningkatkan stabilitas. Sangat efektif untuk CNN dalam, membantu mengatasi internal covariate shift.</a:t>
            </a:r>
            <a:endParaRPr lang="en-US" sz="1550" dirty="0"/>
          </a:p>
        </p:txBody>
      </p:sp>
      <p:sp>
        <p:nvSpPr>
          <p:cNvPr id="10" name="Shape 8"/>
          <p:cNvSpPr/>
          <p:nvPr/>
        </p:nvSpPr>
        <p:spPr>
          <a:xfrm>
            <a:off x="9621203" y="3520440"/>
            <a:ext cx="4215289" cy="2746415"/>
          </a:xfrm>
          <a:prstGeom prst="roundRect">
            <a:avLst>
              <a:gd name="adj" fmla="val 3035"/>
            </a:avLst>
          </a:prstGeom>
          <a:solidFill>
            <a:srgbClr val="DFECE9"/>
          </a:solidFill>
          <a:ln w="7620">
            <a:solidFill>
              <a:srgbClr val="C5D2CF"/>
            </a:solidFill>
            <a:prstDash val="solid"/>
          </a:ln>
        </p:spPr>
      </p:sp>
      <p:sp>
        <p:nvSpPr>
          <p:cNvPr id="11" name="Text 9"/>
          <p:cNvSpPr/>
          <p:nvPr/>
        </p:nvSpPr>
        <p:spPr>
          <a:xfrm>
            <a:off x="9827181" y="372641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Data Augmentation</a:t>
            </a:r>
            <a:endParaRPr lang="en-US" sz="1950" dirty="0"/>
          </a:p>
        </p:txBody>
      </p:sp>
      <p:sp>
        <p:nvSpPr>
          <p:cNvPr id="12" name="Text 10"/>
          <p:cNvSpPr/>
          <p:nvPr/>
        </p:nvSpPr>
        <p:spPr>
          <a:xfrm>
            <a:off x="9827181" y="4155638"/>
            <a:ext cx="3803333" cy="1587698"/>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Meningkatkan dataset dengan transformasi citra seperti rotasi, flipping, scaling, dan perubahan kecerahan. Memperkaya data latih tanpa mengumpulkan data baru.</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1044893"/>
            <a:ext cx="5054679"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Arsitektur CNN Populer</a:t>
            </a:r>
            <a:endParaRPr lang="en-US" sz="3900" dirty="0"/>
          </a:p>
        </p:txBody>
      </p:sp>
      <p:sp>
        <p:nvSpPr>
          <p:cNvPr id="3" name="Shape 1"/>
          <p:cNvSpPr/>
          <p:nvPr/>
        </p:nvSpPr>
        <p:spPr>
          <a:xfrm>
            <a:off x="7303770" y="2061805"/>
            <a:ext cx="22860" cy="5122783"/>
          </a:xfrm>
          <a:prstGeom prst="roundRect">
            <a:avLst>
              <a:gd name="adj" fmla="val 364651"/>
            </a:avLst>
          </a:prstGeom>
          <a:solidFill>
            <a:srgbClr val="C5D2CF"/>
          </a:solidFill>
          <a:ln/>
        </p:spPr>
      </p:sp>
      <p:sp>
        <p:nvSpPr>
          <p:cNvPr id="4" name="Shape 2"/>
          <p:cNvSpPr/>
          <p:nvPr/>
        </p:nvSpPr>
        <p:spPr>
          <a:xfrm>
            <a:off x="6519505" y="2273618"/>
            <a:ext cx="595313" cy="22860"/>
          </a:xfrm>
          <a:prstGeom prst="roundRect">
            <a:avLst>
              <a:gd name="adj" fmla="val 364651"/>
            </a:avLst>
          </a:prstGeom>
          <a:solidFill>
            <a:srgbClr val="C5D2CF"/>
          </a:solidFill>
          <a:ln/>
        </p:spPr>
      </p:sp>
      <p:sp>
        <p:nvSpPr>
          <p:cNvPr id="5" name="Shape 3"/>
          <p:cNvSpPr/>
          <p:nvPr/>
        </p:nvSpPr>
        <p:spPr>
          <a:xfrm>
            <a:off x="7091958" y="2061805"/>
            <a:ext cx="446484" cy="446484"/>
          </a:xfrm>
          <a:prstGeom prst="roundRect">
            <a:avLst>
              <a:gd name="adj" fmla="val 18670"/>
            </a:avLst>
          </a:prstGeom>
          <a:solidFill>
            <a:srgbClr val="DFECE9"/>
          </a:solidFill>
          <a:ln w="7620">
            <a:solidFill>
              <a:srgbClr val="C5D2CF"/>
            </a:solidFill>
            <a:prstDash val="solid"/>
          </a:ln>
        </p:spPr>
      </p:sp>
      <p:sp>
        <p:nvSpPr>
          <p:cNvPr id="6" name="Text 4"/>
          <p:cNvSpPr/>
          <p:nvPr/>
        </p:nvSpPr>
        <p:spPr>
          <a:xfrm>
            <a:off x="7166372" y="2099012"/>
            <a:ext cx="297656" cy="372070"/>
          </a:xfrm>
          <a:prstGeom prst="rect">
            <a:avLst/>
          </a:prstGeom>
          <a:noFill/>
          <a:ln/>
        </p:spPr>
        <p:txBody>
          <a:bodyPr wrap="none" lIns="0" tIns="0" rIns="0" bIns="0" rtlCol="0" anchor="t"/>
          <a:lstStyle/>
          <a:p>
            <a:pPr algn="ctr" indent="0" marL="0">
              <a:lnSpc>
                <a:spcPts val="2300"/>
              </a:lnSpc>
              <a:buNone/>
            </a:pPr>
            <a:r>
              <a:rPr lang="en-US" sz="2300" dirty="0">
                <a:solidFill>
                  <a:srgbClr val="2C3249"/>
                </a:solidFill>
                <a:latin typeface="Kanit Light" pitchFamily="34" charset="0"/>
                <a:ea typeface="Kanit Light" pitchFamily="34" charset="-122"/>
                <a:cs typeface="Kanit Light" pitchFamily="34" charset="-120"/>
              </a:rPr>
              <a:t>1</a:t>
            </a:r>
            <a:endParaRPr lang="en-US" sz="2300" dirty="0"/>
          </a:p>
        </p:txBody>
      </p:sp>
      <p:sp>
        <p:nvSpPr>
          <p:cNvPr id="7" name="Text 5"/>
          <p:cNvSpPr/>
          <p:nvPr/>
        </p:nvSpPr>
        <p:spPr>
          <a:xfrm>
            <a:off x="3842028" y="2130028"/>
            <a:ext cx="2480905" cy="310158"/>
          </a:xfrm>
          <a:prstGeom prst="rect">
            <a:avLst/>
          </a:prstGeom>
          <a:noFill/>
          <a:ln/>
        </p:spPr>
        <p:txBody>
          <a:bodyPr wrap="none" lIns="0" tIns="0" rIns="0" bIns="0" rtlCol="0" anchor="t"/>
          <a:lstStyle/>
          <a:p>
            <a:pPr algn="r"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LeNet (1998)</a:t>
            </a:r>
            <a:endParaRPr lang="en-US" sz="1950" dirty="0"/>
          </a:p>
        </p:txBody>
      </p:sp>
      <p:sp>
        <p:nvSpPr>
          <p:cNvPr id="8" name="Text 6"/>
          <p:cNvSpPr/>
          <p:nvPr/>
        </p:nvSpPr>
        <p:spPr>
          <a:xfrm>
            <a:off x="793790" y="2559248"/>
            <a:ext cx="5529143" cy="952619"/>
          </a:xfrm>
          <a:prstGeom prst="rect">
            <a:avLst/>
          </a:prstGeom>
          <a:noFill/>
          <a:ln/>
        </p:spPr>
        <p:txBody>
          <a:bodyPr wrap="square" lIns="0" tIns="0" rIns="0" bIns="0" rtlCol="0" anchor="t"/>
          <a:lstStyle/>
          <a:p>
            <a:pPr algn="r"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Pelopor CNN modern oleh Yann LeCun. Digunakan untuk pengenalan digit tulisan tangan. Arsitektur sederhana: 2 conv layers, 2 pooling layers, dan 3 fully connected layers.</a:t>
            </a:r>
            <a:endParaRPr lang="en-US" sz="1550" dirty="0"/>
          </a:p>
        </p:txBody>
      </p:sp>
      <p:sp>
        <p:nvSpPr>
          <p:cNvPr id="9" name="Shape 7"/>
          <p:cNvSpPr/>
          <p:nvPr/>
        </p:nvSpPr>
        <p:spPr>
          <a:xfrm>
            <a:off x="7515582" y="3464243"/>
            <a:ext cx="595313" cy="22860"/>
          </a:xfrm>
          <a:prstGeom prst="roundRect">
            <a:avLst>
              <a:gd name="adj" fmla="val 364651"/>
            </a:avLst>
          </a:prstGeom>
          <a:solidFill>
            <a:srgbClr val="C5D2CF"/>
          </a:solidFill>
          <a:ln/>
        </p:spPr>
      </p:sp>
      <p:sp>
        <p:nvSpPr>
          <p:cNvPr id="10" name="Shape 8"/>
          <p:cNvSpPr/>
          <p:nvPr/>
        </p:nvSpPr>
        <p:spPr>
          <a:xfrm>
            <a:off x="7091958" y="3252430"/>
            <a:ext cx="446484" cy="446484"/>
          </a:xfrm>
          <a:prstGeom prst="roundRect">
            <a:avLst>
              <a:gd name="adj" fmla="val 18670"/>
            </a:avLst>
          </a:prstGeom>
          <a:solidFill>
            <a:srgbClr val="DFECE9"/>
          </a:solidFill>
          <a:ln w="7620">
            <a:solidFill>
              <a:srgbClr val="C5D2CF"/>
            </a:solidFill>
            <a:prstDash val="solid"/>
          </a:ln>
        </p:spPr>
      </p:sp>
      <p:sp>
        <p:nvSpPr>
          <p:cNvPr id="11" name="Text 9"/>
          <p:cNvSpPr/>
          <p:nvPr/>
        </p:nvSpPr>
        <p:spPr>
          <a:xfrm>
            <a:off x="7166372" y="3289637"/>
            <a:ext cx="297656" cy="372070"/>
          </a:xfrm>
          <a:prstGeom prst="rect">
            <a:avLst/>
          </a:prstGeom>
          <a:noFill/>
          <a:ln/>
        </p:spPr>
        <p:txBody>
          <a:bodyPr wrap="none" lIns="0" tIns="0" rIns="0" bIns="0" rtlCol="0" anchor="t"/>
          <a:lstStyle/>
          <a:p>
            <a:pPr algn="ctr" indent="0" marL="0">
              <a:lnSpc>
                <a:spcPts val="2300"/>
              </a:lnSpc>
              <a:buNone/>
            </a:pPr>
            <a:r>
              <a:rPr lang="en-US" sz="2300" dirty="0">
                <a:solidFill>
                  <a:srgbClr val="2C3249"/>
                </a:solidFill>
                <a:latin typeface="Kanit Light" pitchFamily="34" charset="0"/>
                <a:ea typeface="Kanit Light" pitchFamily="34" charset="-122"/>
                <a:cs typeface="Kanit Light" pitchFamily="34" charset="-120"/>
              </a:rPr>
              <a:t>2</a:t>
            </a:r>
            <a:endParaRPr lang="en-US" sz="2300" dirty="0"/>
          </a:p>
        </p:txBody>
      </p:sp>
      <p:sp>
        <p:nvSpPr>
          <p:cNvPr id="12" name="Text 10"/>
          <p:cNvSpPr/>
          <p:nvPr/>
        </p:nvSpPr>
        <p:spPr>
          <a:xfrm>
            <a:off x="8307467" y="332065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AlexNet (2012)</a:t>
            </a:r>
            <a:endParaRPr lang="en-US" sz="1950" dirty="0"/>
          </a:p>
        </p:txBody>
      </p:sp>
      <p:sp>
        <p:nvSpPr>
          <p:cNvPr id="13" name="Text 11"/>
          <p:cNvSpPr/>
          <p:nvPr/>
        </p:nvSpPr>
        <p:spPr>
          <a:xfrm>
            <a:off x="8307467" y="3749873"/>
            <a:ext cx="5529143" cy="127015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Memenangkan ILSVRC 2012 dengan selisih besar. Lebih dalam dari LeNet dengan 5 conv layers dan 3 fully connected layers. Memperkenalkan ReLU, dropout, dan GPU paralel.</a:t>
            </a:r>
            <a:endParaRPr lang="en-US" sz="1550" dirty="0"/>
          </a:p>
        </p:txBody>
      </p:sp>
      <p:sp>
        <p:nvSpPr>
          <p:cNvPr id="14" name="Shape 12"/>
          <p:cNvSpPr/>
          <p:nvPr/>
        </p:nvSpPr>
        <p:spPr>
          <a:xfrm>
            <a:off x="6519505" y="4546402"/>
            <a:ext cx="595313" cy="22860"/>
          </a:xfrm>
          <a:prstGeom prst="roundRect">
            <a:avLst>
              <a:gd name="adj" fmla="val 364651"/>
            </a:avLst>
          </a:prstGeom>
          <a:solidFill>
            <a:srgbClr val="C5D2CF"/>
          </a:solidFill>
          <a:ln/>
        </p:spPr>
      </p:sp>
      <p:sp>
        <p:nvSpPr>
          <p:cNvPr id="15" name="Shape 13"/>
          <p:cNvSpPr/>
          <p:nvPr/>
        </p:nvSpPr>
        <p:spPr>
          <a:xfrm>
            <a:off x="7091958" y="4334589"/>
            <a:ext cx="446484" cy="446484"/>
          </a:xfrm>
          <a:prstGeom prst="roundRect">
            <a:avLst>
              <a:gd name="adj" fmla="val 18670"/>
            </a:avLst>
          </a:prstGeom>
          <a:solidFill>
            <a:srgbClr val="DFECE9"/>
          </a:solidFill>
          <a:ln w="7620">
            <a:solidFill>
              <a:srgbClr val="C5D2CF"/>
            </a:solidFill>
            <a:prstDash val="solid"/>
          </a:ln>
        </p:spPr>
      </p:sp>
      <p:sp>
        <p:nvSpPr>
          <p:cNvPr id="16" name="Text 14"/>
          <p:cNvSpPr/>
          <p:nvPr/>
        </p:nvSpPr>
        <p:spPr>
          <a:xfrm>
            <a:off x="7166372" y="4371796"/>
            <a:ext cx="297656" cy="372070"/>
          </a:xfrm>
          <a:prstGeom prst="rect">
            <a:avLst/>
          </a:prstGeom>
          <a:noFill/>
          <a:ln/>
        </p:spPr>
        <p:txBody>
          <a:bodyPr wrap="none" lIns="0" tIns="0" rIns="0" bIns="0" rtlCol="0" anchor="t"/>
          <a:lstStyle/>
          <a:p>
            <a:pPr algn="ctr" indent="0" marL="0">
              <a:lnSpc>
                <a:spcPts val="2300"/>
              </a:lnSpc>
              <a:buNone/>
            </a:pPr>
            <a:r>
              <a:rPr lang="en-US" sz="2300" dirty="0">
                <a:solidFill>
                  <a:srgbClr val="2C3249"/>
                </a:solidFill>
                <a:latin typeface="Kanit Light" pitchFamily="34" charset="0"/>
                <a:ea typeface="Kanit Light" pitchFamily="34" charset="-122"/>
                <a:cs typeface="Kanit Light" pitchFamily="34" charset="-120"/>
              </a:rPr>
              <a:t>3</a:t>
            </a:r>
            <a:endParaRPr lang="en-US" sz="2300" dirty="0"/>
          </a:p>
        </p:txBody>
      </p:sp>
      <p:sp>
        <p:nvSpPr>
          <p:cNvPr id="17" name="Text 15"/>
          <p:cNvSpPr/>
          <p:nvPr/>
        </p:nvSpPr>
        <p:spPr>
          <a:xfrm>
            <a:off x="3842028" y="4402812"/>
            <a:ext cx="2480905" cy="310158"/>
          </a:xfrm>
          <a:prstGeom prst="rect">
            <a:avLst/>
          </a:prstGeom>
          <a:noFill/>
          <a:ln/>
        </p:spPr>
        <p:txBody>
          <a:bodyPr wrap="none" lIns="0" tIns="0" rIns="0" bIns="0" rtlCol="0" anchor="t"/>
          <a:lstStyle/>
          <a:p>
            <a:pPr algn="r"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VGG (2014)</a:t>
            </a:r>
            <a:endParaRPr lang="en-US" sz="1950" dirty="0"/>
          </a:p>
        </p:txBody>
      </p:sp>
      <p:sp>
        <p:nvSpPr>
          <p:cNvPr id="18" name="Text 16"/>
          <p:cNvSpPr/>
          <p:nvPr/>
        </p:nvSpPr>
        <p:spPr>
          <a:xfrm>
            <a:off x="793790" y="4832033"/>
            <a:ext cx="5529143" cy="1270159"/>
          </a:xfrm>
          <a:prstGeom prst="rect">
            <a:avLst/>
          </a:prstGeom>
          <a:noFill/>
          <a:ln/>
        </p:spPr>
        <p:txBody>
          <a:bodyPr wrap="square" lIns="0" tIns="0" rIns="0" bIns="0" rtlCol="0" anchor="t"/>
          <a:lstStyle/>
          <a:p>
            <a:pPr algn="r"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Mempopulerkan arsitektur mendalam dan seragam. Menggunakan konvolusi 3×3 secara konsisten. VGG-16 dan VGG-19 masih digunakan sebagai backbone untuk banyak aplikasi.</a:t>
            </a:r>
            <a:endParaRPr lang="en-US" sz="1550" dirty="0"/>
          </a:p>
        </p:txBody>
      </p:sp>
      <p:sp>
        <p:nvSpPr>
          <p:cNvPr id="19" name="Shape 17"/>
          <p:cNvSpPr/>
          <p:nvPr/>
        </p:nvSpPr>
        <p:spPr>
          <a:xfrm>
            <a:off x="7515582" y="5628680"/>
            <a:ext cx="595313" cy="22860"/>
          </a:xfrm>
          <a:prstGeom prst="roundRect">
            <a:avLst>
              <a:gd name="adj" fmla="val 364651"/>
            </a:avLst>
          </a:prstGeom>
          <a:solidFill>
            <a:srgbClr val="C5D2CF"/>
          </a:solidFill>
          <a:ln/>
        </p:spPr>
      </p:sp>
      <p:sp>
        <p:nvSpPr>
          <p:cNvPr id="20" name="Shape 18"/>
          <p:cNvSpPr/>
          <p:nvPr/>
        </p:nvSpPr>
        <p:spPr>
          <a:xfrm>
            <a:off x="7091958" y="5416867"/>
            <a:ext cx="446484" cy="446484"/>
          </a:xfrm>
          <a:prstGeom prst="roundRect">
            <a:avLst>
              <a:gd name="adj" fmla="val 18670"/>
            </a:avLst>
          </a:prstGeom>
          <a:solidFill>
            <a:srgbClr val="DFECE9"/>
          </a:solidFill>
          <a:ln w="7620">
            <a:solidFill>
              <a:srgbClr val="C5D2CF"/>
            </a:solidFill>
            <a:prstDash val="solid"/>
          </a:ln>
        </p:spPr>
      </p:sp>
      <p:sp>
        <p:nvSpPr>
          <p:cNvPr id="21" name="Text 19"/>
          <p:cNvSpPr/>
          <p:nvPr/>
        </p:nvSpPr>
        <p:spPr>
          <a:xfrm>
            <a:off x="7166372" y="5454075"/>
            <a:ext cx="297656" cy="372070"/>
          </a:xfrm>
          <a:prstGeom prst="rect">
            <a:avLst/>
          </a:prstGeom>
          <a:noFill/>
          <a:ln/>
        </p:spPr>
        <p:txBody>
          <a:bodyPr wrap="none" lIns="0" tIns="0" rIns="0" bIns="0" rtlCol="0" anchor="t"/>
          <a:lstStyle/>
          <a:p>
            <a:pPr algn="ctr" indent="0" marL="0">
              <a:lnSpc>
                <a:spcPts val="2300"/>
              </a:lnSpc>
              <a:buNone/>
            </a:pPr>
            <a:r>
              <a:rPr lang="en-US" sz="2300" dirty="0">
                <a:solidFill>
                  <a:srgbClr val="2C3249"/>
                </a:solidFill>
                <a:latin typeface="Kanit Light" pitchFamily="34" charset="0"/>
                <a:ea typeface="Kanit Light" pitchFamily="34" charset="-122"/>
                <a:cs typeface="Kanit Light" pitchFamily="34" charset="-120"/>
              </a:rPr>
              <a:t>4</a:t>
            </a:r>
            <a:endParaRPr lang="en-US" sz="2300" dirty="0"/>
          </a:p>
        </p:txBody>
      </p:sp>
      <p:sp>
        <p:nvSpPr>
          <p:cNvPr id="22" name="Text 20"/>
          <p:cNvSpPr/>
          <p:nvPr/>
        </p:nvSpPr>
        <p:spPr>
          <a:xfrm>
            <a:off x="8307467" y="548509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ResNet (2015)</a:t>
            </a:r>
            <a:endParaRPr lang="en-US" sz="1950" dirty="0"/>
          </a:p>
        </p:txBody>
      </p:sp>
      <p:sp>
        <p:nvSpPr>
          <p:cNvPr id="23" name="Text 21"/>
          <p:cNvSpPr/>
          <p:nvPr/>
        </p:nvSpPr>
        <p:spPr>
          <a:xfrm>
            <a:off x="8307467" y="5914311"/>
            <a:ext cx="5529143" cy="127015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Memperkenalkan skip connection untuk mengatasi masalah vanishing gradient pada jaringan sangat dalam. Memenangkan ILSVRC 2015, memungkinkan pelatihan network hingga ratusan lapisan.</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86527" y="540782"/>
            <a:ext cx="6177558" cy="614482"/>
          </a:xfrm>
          <a:prstGeom prst="rect">
            <a:avLst/>
          </a:prstGeom>
          <a:noFill/>
          <a:ln/>
        </p:spPr>
        <p:txBody>
          <a:bodyPr wrap="none" lIns="0" tIns="0" rIns="0" bIns="0" rtlCol="0" anchor="t"/>
          <a:lstStyle/>
          <a:p>
            <a:pPr algn="l" indent="0" marL="0">
              <a:lnSpc>
                <a:spcPts val="4800"/>
              </a:lnSpc>
              <a:buNone/>
            </a:pPr>
            <a:r>
              <a:rPr lang="en-US" sz="3850" dirty="0">
                <a:solidFill>
                  <a:srgbClr val="272D45"/>
                </a:solidFill>
                <a:latin typeface="Kanit Light" pitchFamily="34" charset="0"/>
                <a:ea typeface="Kanit Light" pitchFamily="34" charset="-122"/>
                <a:cs typeface="Kanit Light" pitchFamily="34" charset="-120"/>
              </a:rPr>
              <a:t>Transfer Learning untuk CNN</a:t>
            </a:r>
            <a:endParaRPr lang="en-US" sz="3850" dirty="0"/>
          </a:p>
        </p:txBody>
      </p:sp>
      <p:sp>
        <p:nvSpPr>
          <p:cNvPr id="3" name="Text 1"/>
          <p:cNvSpPr/>
          <p:nvPr/>
        </p:nvSpPr>
        <p:spPr>
          <a:xfrm>
            <a:off x="786527" y="1548527"/>
            <a:ext cx="13057346" cy="629364"/>
          </a:xfrm>
          <a:prstGeom prst="rect">
            <a:avLst/>
          </a:prstGeom>
          <a:noFill/>
          <a:ln/>
        </p:spPr>
        <p:txBody>
          <a:bodyPr wrap="square" lIns="0" tIns="0" rIns="0" bIns="0" rtlCol="0" anchor="t"/>
          <a:lstStyle/>
          <a:p>
            <a:pPr algn="l" indent="0" marL="0">
              <a:lnSpc>
                <a:spcPts val="2450"/>
              </a:lnSpc>
              <a:buNone/>
            </a:pPr>
            <a:r>
              <a:rPr lang="en-US" sz="1500" dirty="0">
                <a:solidFill>
                  <a:srgbClr val="2C3249"/>
                </a:solidFill>
                <a:latin typeface="Martel Sans" pitchFamily="34" charset="0"/>
                <a:ea typeface="Martel Sans" pitchFamily="34" charset="-122"/>
                <a:cs typeface="Martel Sans" pitchFamily="34" charset="-120"/>
              </a:rPr>
              <a:t>Transfer learning memanfaatkan model pre-trained pada dataset besar (seperti ImageNet) untuk tugas baru dengan data terbatas. Teknik ini sangat efektif untuk penerapan praktis CNN.</a:t>
            </a:r>
            <a:endParaRPr lang="en-US" sz="1500" dirty="0"/>
          </a:p>
        </p:txBody>
      </p:sp>
      <p:pic>
        <p:nvPicPr>
          <p:cNvPr id="4" name="Image 0" descr="preencoded.png">    </p:cNvPr>
          <p:cNvPicPr>
            <a:picLocks noChangeAspect="1"/>
          </p:cNvPicPr>
          <p:nvPr/>
        </p:nvPicPr>
        <p:blipFill>
          <a:blip r:embed="rId1"/>
          <a:stretch>
            <a:fillRect/>
          </a:stretch>
        </p:blipFill>
        <p:spPr>
          <a:xfrm>
            <a:off x="2973586" y="2399109"/>
            <a:ext cx="2154436" cy="1447800"/>
          </a:xfrm>
          <a:prstGeom prst="rect">
            <a:avLst/>
          </a:prstGeom>
        </p:spPr>
      </p:pic>
      <p:sp>
        <p:nvSpPr>
          <p:cNvPr id="5" name="Text 2"/>
          <p:cNvSpPr/>
          <p:nvPr/>
        </p:nvSpPr>
        <p:spPr>
          <a:xfrm>
            <a:off x="3912513" y="3137773"/>
            <a:ext cx="276463" cy="345638"/>
          </a:xfrm>
          <a:prstGeom prst="rect">
            <a:avLst/>
          </a:prstGeom>
          <a:noFill/>
          <a:ln/>
        </p:spPr>
        <p:txBody>
          <a:bodyPr wrap="none" lIns="0" tIns="0" rIns="0" bIns="0" rtlCol="0" anchor="t"/>
          <a:lstStyle/>
          <a:p>
            <a:pPr algn="ctr" indent="0" marL="0">
              <a:lnSpc>
                <a:spcPts val="3450"/>
              </a:lnSpc>
              <a:buNone/>
            </a:pPr>
            <a:r>
              <a:rPr lang="en-US" sz="2150" dirty="0">
                <a:solidFill>
                  <a:srgbClr val="2C3249"/>
                </a:solidFill>
                <a:latin typeface="Kanit Light" pitchFamily="34" charset="0"/>
                <a:ea typeface="Kanit Light" pitchFamily="34" charset="-122"/>
                <a:cs typeface="Kanit Light" pitchFamily="34" charset="-120"/>
              </a:rPr>
              <a:t>1</a:t>
            </a:r>
            <a:endParaRPr lang="en-US" sz="2150" dirty="0"/>
          </a:p>
        </p:txBody>
      </p:sp>
      <p:sp>
        <p:nvSpPr>
          <p:cNvPr id="6" name="Text 3"/>
          <p:cNvSpPr/>
          <p:nvPr/>
        </p:nvSpPr>
        <p:spPr>
          <a:xfrm>
            <a:off x="5324594" y="2752963"/>
            <a:ext cx="2458164" cy="307300"/>
          </a:xfrm>
          <a:prstGeom prst="rect">
            <a:avLst/>
          </a:prstGeom>
          <a:noFill/>
          <a:ln/>
        </p:spPr>
        <p:txBody>
          <a:bodyPr wrap="none" lIns="0" tIns="0" rIns="0" bIns="0" rtlCol="0" anchor="t"/>
          <a:lstStyle/>
          <a:p>
            <a:pPr algn="l" indent="0" marL="0">
              <a:lnSpc>
                <a:spcPts val="2400"/>
              </a:lnSpc>
              <a:buNone/>
            </a:pPr>
            <a:r>
              <a:rPr lang="en-US" sz="1900" dirty="0">
                <a:solidFill>
                  <a:srgbClr val="2C3249"/>
                </a:solidFill>
                <a:latin typeface="Kanit Light" pitchFamily="34" charset="0"/>
                <a:ea typeface="Kanit Light" pitchFamily="34" charset="-122"/>
                <a:cs typeface="Kanit Light" pitchFamily="34" charset="-120"/>
              </a:rPr>
              <a:t>Feature Extraction</a:t>
            </a:r>
            <a:endParaRPr lang="en-US" sz="1900" dirty="0"/>
          </a:p>
        </p:txBody>
      </p:sp>
      <p:sp>
        <p:nvSpPr>
          <p:cNvPr id="7" name="Text 4"/>
          <p:cNvSpPr/>
          <p:nvPr/>
        </p:nvSpPr>
        <p:spPr>
          <a:xfrm>
            <a:off x="5324594" y="3178254"/>
            <a:ext cx="7047786" cy="314682"/>
          </a:xfrm>
          <a:prstGeom prst="rect">
            <a:avLst/>
          </a:prstGeom>
          <a:noFill/>
          <a:ln/>
        </p:spPr>
        <p:txBody>
          <a:bodyPr wrap="none" lIns="0" tIns="0" rIns="0" bIns="0" rtlCol="0" anchor="t"/>
          <a:lstStyle/>
          <a:p>
            <a:pPr algn="l" indent="0" marL="0">
              <a:lnSpc>
                <a:spcPts val="2450"/>
              </a:lnSpc>
              <a:buNone/>
            </a:pPr>
            <a:r>
              <a:rPr lang="en-US" sz="1500" dirty="0">
                <a:solidFill>
                  <a:srgbClr val="2C3249"/>
                </a:solidFill>
                <a:latin typeface="Martel Sans" pitchFamily="34" charset="0"/>
                <a:ea typeface="Martel Sans" pitchFamily="34" charset="-122"/>
                <a:cs typeface="Martel Sans" pitchFamily="34" charset="-120"/>
              </a:rPr>
              <a:t>Gunakan CNN pre-trained sebagai ekstractor fitur, ganti hanya layer output</a:t>
            </a:r>
            <a:endParaRPr lang="en-US" sz="1500" dirty="0"/>
          </a:p>
        </p:txBody>
      </p:sp>
      <p:sp>
        <p:nvSpPr>
          <p:cNvPr id="8" name="Shape 5"/>
          <p:cNvSpPr/>
          <p:nvPr/>
        </p:nvSpPr>
        <p:spPr>
          <a:xfrm>
            <a:off x="5177076" y="3861911"/>
            <a:ext cx="8617744" cy="11430"/>
          </a:xfrm>
          <a:prstGeom prst="roundRect">
            <a:avLst>
              <a:gd name="adj" fmla="val 722611"/>
            </a:avLst>
          </a:prstGeom>
          <a:solidFill>
            <a:srgbClr val="C5D2CF"/>
          </a:solidFill>
          <a:ln/>
        </p:spPr>
      </p:sp>
      <p:pic>
        <p:nvPicPr>
          <p:cNvPr id="9" name="Image 1" descr="preencoded.png">    </p:cNvPr>
          <p:cNvPicPr>
            <a:picLocks noChangeAspect="1"/>
          </p:cNvPicPr>
          <p:nvPr/>
        </p:nvPicPr>
        <p:blipFill>
          <a:blip r:embed="rId2"/>
          <a:stretch>
            <a:fillRect/>
          </a:stretch>
        </p:blipFill>
        <p:spPr>
          <a:xfrm>
            <a:off x="1896308" y="3895963"/>
            <a:ext cx="4308872" cy="1447800"/>
          </a:xfrm>
          <a:prstGeom prst="rect">
            <a:avLst/>
          </a:prstGeom>
        </p:spPr>
      </p:pic>
      <p:sp>
        <p:nvSpPr>
          <p:cNvPr id="10" name="Text 6"/>
          <p:cNvSpPr/>
          <p:nvPr/>
        </p:nvSpPr>
        <p:spPr>
          <a:xfrm>
            <a:off x="3912394" y="4446984"/>
            <a:ext cx="276463" cy="345638"/>
          </a:xfrm>
          <a:prstGeom prst="rect">
            <a:avLst/>
          </a:prstGeom>
          <a:noFill/>
          <a:ln/>
        </p:spPr>
        <p:txBody>
          <a:bodyPr wrap="none" lIns="0" tIns="0" rIns="0" bIns="0" rtlCol="0" anchor="t"/>
          <a:lstStyle/>
          <a:p>
            <a:pPr algn="ctr" indent="0" marL="0">
              <a:lnSpc>
                <a:spcPts val="3450"/>
              </a:lnSpc>
              <a:buNone/>
            </a:pPr>
            <a:r>
              <a:rPr lang="en-US" sz="2150" dirty="0">
                <a:solidFill>
                  <a:srgbClr val="2C3249"/>
                </a:solidFill>
                <a:latin typeface="Kanit Light" pitchFamily="34" charset="0"/>
                <a:ea typeface="Kanit Light" pitchFamily="34" charset="-122"/>
                <a:cs typeface="Kanit Light" pitchFamily="34" charset="-120"/>
              </a:rPr>
              <a:t>2</a:t>
            </a:r>
            <a:endParaRPr lang="en-US" sz="2150" dirty="0"/>
          </a:p>
        </p:txBody>
      </p:sp>
      <p:sp>
        <p:nvSpPr>
          <p:cNvPr id="11" name="Text 7"/>
          <p:cNvSpPr/>
          <p:nvPr/>
        </p:nvSpPr>
        <p:spPr>
          <a:xfrm>
            <a:off x="6401753" y="4249817"/>
            <a:ext cx="2458164" cy="307300"/>
          </a:xfrm>
          <a:prstGeom prst="rect">
            <a:avLst/>
          </a:prstGeom>
          <a:noFill/>
          <a:ln/>
        </p:spPr>
        <p:txBody>
          <a:bodyPr wrap="none" lIns="0" tIns="0" rIns="0" bIns="0" rtlCol="0" anchor="t"/>
          <a:lstStyle/>
          <a:p>
            <a:pPr algn="l" indent="0" marL="0">
              <a:lnSpc>
                <a:spcPts val="2400"/>
              </a:lnSpc>
              <a:buNone/>
            </a:pPr>
            <a:r>
              <a:rPr lang="en-US" sz="1900" dirty="0">
                <a:solidFill>
                  <a:srgbClr val="2C3249"/>
                </a:solidFill>
                <a:latin typeface="Kanit Light" pitchFamily="34" charset="0"/>
                <a:ea typeface="Kanit Light" pitchFamily="34" charset="-122"/>
                <a:cs typeface="Kanit Light" pitchFamily="34" charset="-120"/>
              </a:rPr>
              <a:t>Fine-tuning</a:t>
            </a:r>
            <a:endParaRPr lang="en-US" sz="1900" dirty="0"/>
          </a:p>
        </p:txBody>
      </p:sp>
      <p:sp>
        <p:nvSpPr>
          <p:cNvPr id="12" name="Text 8"/>
          <p:cNvSpPr/>
          <p:nvPr/>
        </p:nvSpPr>
        <p:spPr>
          <a:xfrm>
            <a:off x="6401753" y="4675108"/>
            <a:ext cx="6644759" cy="314682"/>
          </a:xfrm>
          <a:prstGeom prst="rect">
            <a:avLst/>
          </a:prstGeom>
          <a:noFill/>
          <a:ln/>
        </p:spPr>
        <p:txBody>
          <a:bodyPr wrap="none" lIns="0" tIns="0" rIns="0" bIns="0" rtlCol="0" anchor="t"/>
          <a:lstStyle/>
          <a:p>
            <a:pPr algn="l" indent="0" marL="0">
              <a:lnSpc>
                <a:spcPts val="2450"/>
              </a:lnSpc>
              <a:buNone/>
            </a:pPr>
            <a:r>
              <a:rPr lang="en-US" sz="1500" dirty="0">
                <a:solidFill>
                  <a:srgbClr val="2C3249"/>
                </a:solidFill>
                <a:latin typeface="Martel Sans" pitchFamily="34" charset="0"/>
                <a:ea typeface="Martel Sans" pitchFamily="34" charset="-122"/>
                <a:cs typeface="Martel Sans" pitchFamily="34" charset="-120"/>
              </a:rPr>
              <a:t>Latih ulang beberapa lapisan terakhir sambil membekukan lapisan awal</a:t>
            </a:r>
            <a:endParaRPr lang="en-US" sz="1500" dirty="0"/>
          </a:p>
        </p:txBody>
      </p:sp>
      <p:sp>
        <p:nvSpPr>
          <p:cNvPr id="13" name="Shape 9"/>
          <p:cNvSpPr/>
          <p:nvPr/>
        </p:nvSpPr>
        <p:spPr>
          <a:xfrm>
            <a:off x="6254234" y="5358765"/>
            <a:ext cx="7540585" cy="11430"/>
          </a:xfrm>
          <a:prstGeom prst="roundRect">
            <a:avLst>
              <a:gd name="adj" fmla="val 722611"/>
            </a:avLst>
          </a:prstGeom>
          <a:solidFill>
            <a:srgbClr val="C5D2CF"/>
          </a:solidFill>
          <a:ln/>
        </p:spPr>
      </p:sp>
      <p:pic>
        <p:nvPicPr>
          <p:cNvPr id="14" name="Image 2" descr="preencoded.png">    </p:cNvPr>
          <p:cNvPicPr>
            <a:picLocks noChangeAspect="1"/>
          </p:cNvPicPr>
          <p:nvPr/>
        </p:nvPicPr>
        <p:blipFill>
          <a:blip r:embed="rId3"/>
          <a:stretch>
            <a:fillRect/>
          </a:stretch>
        </p:blipFill>
        <p:spPr>
          <a:xfrm>
            <a:off x="819150" y="5392817"/>
            <a:ext cx="6463308" cy="1447800"/>
          </a:xfrm>
          <a:prstGeom prst="rect">
            <a:avLst/>
          </a:prstGeom>
        </p:spPr>
      </p:pic>
      <p:sp>
        <p:nvSpPr>
          <p:cNvPr id="15" name="Text 10"/>
          <p:cNvSpPr/>
          <p:nvPr/>
        </p:nvSpPr>
        <p:spPr>
          <a:xfrm>
            <a:off x="3912513" y="5943838"/>
            <a:ext cx="276463" cy="345638"/>
          </a:xfrm>
          <a:prstGeom prst="rect">
            <a:avLst/>
          </a:prstGeom>
          <a:noFill/>
          <a:ln/>
        </p:spPr>
        <p:txBody>
          <a:bodyPr wrap="none" lIns="0" tIns="0" rIns="0" bIns="0" rtlCol="0" anchor="t"/>
          <a:lstStyle/>
          <a:p>
            <a:pPr algn="ctr" indent="0" marL="0">
              <a:lnSpc>
                <a:spcPts val="3450"/>
              </a:lnSpc>
              <a:buNone/>
            </a:pPr>
            <a:r>
              <a:rPr lang="en-US" sz="2150" dirty="0">
                <a:solidFill>
                  <a:srgbClr val="2C3249"/>
                </a:solidFill>
                <a:latin typeface="Kanit Light" pitchFamily="34" charset="0"/>
                <a:ea typeface="Kanit Light" pitchFamily="34" charset="-122"/>
                <a:cs typeface="Kanit Light" pitchFamily="34" charset="-120"/>
              </a:rPr>
              <a:t>3</a:t>
            </a:r>
            <a:endParaRPr lang="en-US" sz="2150" dirty="0"/>
          </a:p>
        </p:txBody>
      </p:sp>
      <p:sp>
        <p:nvSpPr>
          <p:cNvPr id="16" name="Text 11"/>
          <p:cNvSpPr/>
          <p:nvPr/>
        </p:nvSpPr>
        <p:spPr>
          <a:xfrm>
            <a:off x="7479030" y="5589389"/>
            <a:ext cx="2458164" cy="307300"/>
          </a:xfrm>
          <a:prstGeom prst="rect">
            <a:avLst/>
          </a:prstGeom>
          <a:noFill/>
          <a:ln/>
        </p:spPr>
        <p:txBody>
          <a:bodyPr wrap="none" lIns="0" tIns="0" rIns="0" bIns="0" rtlCol="0" anchor="t"/>
          <a:lstStyle/>
          <a:p>
            <a:pPr algn="l" indent="0" marL="0">
              <a:lnSpc>
                <a:spcPts val="2400"/>
              </a:lnSpc>
              <a:buNone/>
            </a:pPr>
            <a:r>
              <a:rPr lang="en-US" sz="1900" dirty="0">
                <a:solidFill>
                  <a:srgbClr val="2C3249"/>
                </a:solidFill>
                <a:latin typeface="Kanit Light" pitchFamily="34" charset="0"/>
                <a:ea typeface="Kanit Light" pitchFamily="34" charset="-122"/>
                <a:cs typeface="Kanit Light" pitchFamily="34" charset="-120"/>
              </a:rPr>
              <a:t>Full Training</a:t>
            </a:r>
            <a:endParaRPr lang="en-US" sz="1900" dirty="0"/>
          </a:p>
        </p:txBody>
      </p:sp>
      <p:sp>
        <p:nvSpPr>
          <p:cNvPr id="17" name="Text 12"/>
          <p:cNvSpPr/>
          <p:nvPr/>
        </p:nvSpPr>
        <p:spPr>
          <a:xfrm>
            <a:off x="7479030" y="6014680"/>
            <a:ext cx="6168271" cy="629364"/>
          </a:xfrm>
          <a:prstGeom prst="rect">
            <a:avLst/>
          </a:prstGeom>
          <a:noFill/>
          <a:ln/>
        </p:spPr>
        <p:txBody>
          <a:bodyPr wrap="square" lIns="0" tIns="0" rIns="0" bIns="0" rtlCol="0" anchor="t"/>
          <a:lstStyle/>
          <a:p>
            <a:pPr algn="l" indent="0" marL="0">
              <a:lnSpc>
                <a:spcPts val="2450"/>
              </a:lnSpc>
              <a:buNone/>
            </a:pPr>
            <a:r>
              <a:rPr lang="en-US" sz="1500" dirty="0">
                <a:solidFill>
                  <a:srgbClr val="2C3249"/>
                </a:solidFill>
                <a:latin typeface="Martel Sans" pitchFamily="34" charset="0"/>
                <a:ea typeface="Martel Sans" pitchFamily="34" charset="-122"/>
                <a:cs typeface="Martel Sans" pitchFamily="34" charset="-120"/>
              </a:rPr>
              <a:t>Gunakan bobot pre-trained sebagai inisialisasi, latih seluruh jaringan</a:t>
            </a:r>
            <a:endParaRPr lang="en-US" sz="1500" dirty="0"/>
          </a:p>
        </p:txBody>
      </p:sp>
      <p:sp>
        <p:nvSpPr>
          <p:cNvPr id="18" name="Text 13"/>
          <p:cNvSpPr/>
          <p:nvPr/>
        </p:nvSpPr>
        <p:spPr>
          <a:xfrm>
            <a:off x="786527" y="7061835"/>
            <a:ext cx="13057346" cy="629364"/>
          </a:xfrm>
          <a:prstGeom prst="rect">
            <a:avLst/>
          </a:prstGeom>
          <a:noFill/>
          <a:ln/>
        </p:spPr>
        <p:txBody>
          <a:bodyPr wrap="square" lIns="0" tIns="0" rIns="0" bIns="0" rtlCol="0" anchor="t"/>
          <a:lstStyle/>
          <a:p>
            <a:pPr algn="l" indent="0" marL="0">
              <a:lnSpc>
                <a:spcPts val="2450"/>
              </a:lnSpc>
              <a:buNone/>
            </a:pPr>
            <a:r>
              <a:rPr lang="en-US" sz="1500" dirty="0">
                <a:solidFill>
                  <a:srgbClr val="2C3249"/>
                </a:solidFill>
                <a:latin typeface="Martel Sans" pitchFamily="34" charset="0"/>
                <a:ea typeface="Martel Sans" pitchFamily="34" charset="-122"/>
                <a:cs typeface="Martel Sans" pitchFamily="34" charset="-120"/>
              </a:rPr>
              <a:t>Transfer learning menurunkan kebutuhan data pelatihan hingga 10-100 kali, mempercepat konvergensi, dan sering menghasilkan performa lebih baik. Sangat berguna untuk dataset kecil atau khusus domain.</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1457801"/>
            <a:ext cx="10345460"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Persiapan Praktikum: Setup Lingkungan Python</a:t>
            </a:r>
            <a:endParaRPr lang="en-US" sz="3900" dirty="0"/>
          </a:p>
        </p:txBody>
      </p:sp>
      <p:sp>
        <p:nvSpPr>
          <p:cNvPr id="3" name="Text 1"/>
          <p:cNvSpPr/>
          <p:nvPr/>
        </p:nvSpPr>
        <p:spPr>
          <a:xfrm>
            <a:off x="793790" y="2474714"/>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Kanit Light" pitchFamily="34" charset="0"/>
                <a:ea typeface="Kanit Light" pitchFamily="34" charset="-122"/>
                <a:cs typeface="Kanit Light" pitchFamily="34" charset="-120"/>
              </a:rPr>
              <a:t>01</a:t>
            </a:r>
            <a:endParaRPr lang="en-US" sz="1550" dirty="0"/>
          </a:p>
        </p:txBody>
      </p:sp>
      <p:sp>
        <p:nvSpPr>
          <p:cNvPr id="4" name="Shape 2"/>
          <p:cNvSpPr/>
          <p:nvPr/>
        </p:nvSpPr>
        <p:spPr>
          <a:xfrm>
            <a:off x="793790" y="2789039"/>
            <a:ext cx="4215289" cy="22860"/>
          </a:xfrm>
          <a:prstGeom prst="rect">
            <a:avLst/>
          </a:prstGeom>
          <a:solidFill>
            <a:srgbClr val="437066"/>
          </a:solidFill>
          <a:ln/>
        </p:spPr>
      </p:sp>
      <p:sp>
        <p:nvSpPr>
          <p:cNvPr id="5" name="Text 3"/>
          <p:cNvSpPr/>
          <p:nvPr/>
        </p:nvSpPr>
        <p:spPr>
          <a:xfrm>
            <a:off x="793790" y="2933938"/>
            <a:ext cx="3275528"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Instalasi Tensorflow dan Keras</a:t>
            </a:r>
            <a:endParaRPr lang="en-US" sz="1950" dirty="0"/>
          </a:p>
        </p:txBody>
      </p:sp>
      <p:sp>
        <p:nvSpPr>
          <p:cNvPr id="6" name="Shape 4"/>
          <p:cNvSpPr/>
          <p:nvPr/>
        </p:nvSpPr>
        <p:spPr>
          <a:xfrm>
            <a:off x="793790" y="3467338"/>
            <a:ext cx="4215289" cy="1250275"/>
          </a:xfrm>
          <a:prstGeom prst="roundRect">
            <a:avLst>
              <a:gd name="adj" fmla="val 6667"/>
            </a:avLst>
          </a:prstGeom>
          <a:solidFill>
            <a:srgbClr val="F2F2F2"/>
          </a:solidFill>
          <a:ln/>
        </p:spPr>
      </p:sp>
      <p:sp>
        <p:nvSpPr>
          <p:cNvPr id="7" name="Shape 5"/>
          <p:cNvSpPr/>
          <p:nvPr/>
        </p:nvSpPr>
        <p:spPr>
          <a:xfrm>
            <a:off x="783908" y="3467338"/>
            <a:ext cx="4235053" cy="1250275"/>
          </a:xfrm>
          <a:prstGeom prst="roundRect">
            <a:avLst>
              <a:gd name="adj" fmla="val 2381"/>
            </a:avLst>
          </a:prstGeom>
          <a:solidFill>
            <a:srgbClr val="F2F2F2"/>
          </a:solidFill>
          <a:ln/>
        </p:spPr>
      </p:sp>
      <p:sp>
        <p:nvSpPr>
          <p:cNvPr id="8" name="Text 6"/>
          <p:cNvSpPr/>
          <p:nvPr/>
        </p:nvSpPr>
        <p:spPr>
          <a:xfrm>
            <a:off x="982266" y="3616166"/>
            <a:ext cx="3838337"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highlight>
                  <a:srgbClr val="F2F2F2"/>
                </a:highlight>
                <a:latin typeface="Consolas" pitchFamily="34" charset="0"/>
                <a:ea typeface="Consolas" pitchFamily="34" charset="-122"/>
                <a:cs typeface="Consolas" pitchFamily="34" charset="-120"/>
              </a:rPr>
              <a:t>pip install tensorflowpip install keraspip install matplotlib numpy</a:t>
            </a:r>
            <a:endParaRPr lang="en-US" sz="1550" dirty="0"/>
          </a:p>
        </p:txBody>
      </p:sp>
      <p:sp>
        <p:nvSpPr>
          <p:cNvPr id="9" name="Text 7"/>
          <p:cNvSpPr/>
          <p:nvPr/>
        </p:nvSpPr>
        <p:spPr>
          <a:xfrm>
            <a:off x="5207437" y="2474714"/>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Kanit Light" pitchFamily="34" charset="0"/>
                <a:ea typeface="Kanit Light" pitchFamily="34" charset="-122"/>
                <a:cs typeface="Kanit Light" pitchFamily="34" charset="-120"/>
              </a:rPr>
              <a:t>02</a:t>
            </a:r>
            <a:endParaRPr lang="en-US" sz="1550" dirty="0"/>
          </a:p>
        </p:txBody>
      </p:sp>
      <p:sp>
        <p:nvSpPr>
          <p:cNvPr id="10" name="Shape 8"/>
          <p:cNvSpPr/>
          <p:nvPr/>
        </p:nvSpPr>
        <p:spPr>
          <a:xfrm>
            <a:off x="5207437" y="2789039"/>
            <a:ext cx="4215408" cy="22860"/>
          </a:xfrm>
          <a:prstGeom prst="rect">
            <a:avLst/>
          </a:prstGeom>
          <a:solidFill>
            <a:srgbClr val="437066"/>
          </a:solidFill>
          <a:ln/>
        </p:spPr>
      </p:sp>
      <p:sp>
        <p:nvSpPr>
          <p:cNvPr id="11" name="Text 9"/>
          <p:cNvSpPr/>
          <p:nvPr/>
        </p:nvSpPr>
        <p:spPr>
          <a:xfrm>
            <a:off x="5207437" y="293393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Import Library</a:t>
            </a:r>
            <a:endParaRPr lang="en-US" sz="1950" dirty="0"/>
          </a:p>
        </p:txBody>
      </p:sp>
      <p:sp>
        <p:nvSpPr>
          <p:cNvPr id="12" name="Shape 10"/>
          <p:cNvSpPr/>
          <p:nvPr/>
        </p:nvSpPr>
        <p:spPr>
          <a:xfrm>
            <a:off x="5207437" y="3467338"/>
            <a:ext cx="4215408" cy="2520434"/>
          </a:xfrm>
          <a:prstGeom prst="roundRect">
            <a:avLst>
              <a:gd name="adj" fmla="val 3307"/>
            </a:avLst>
          </a:prstGeom>
          <a:solidFill>
            <a:srgbClr val="F2F2F2"/>
          </a:solidFill>
          <a:ln/>
        </p:spPr>
      </p:sp>
      <p:sp>
        <p:nvSpPr>
          <p:cNvPr id="13" name="Shape 11"/>
          <p:cNvSpPr/>
          <p:nvPr/>
        </p:nvSpPr>
        <p:spPr>
          <a:xfrm>
            <a:off x="5197554" y="3467338"/>
            <a:ext cx="4235172" cy="2520434"/>
          </a:xfrm>
          <a:prstGeom prst="roundRect">
            <a:avLst>
              <a:gd name="adj" fmla="val 1181"/>
            </a:avLst>
          </a:prstGeom>
          <a:solidFill>
            <a:srgbClr val="F2F2F2"/>
          </a:solidFill>
          <a:ln/>
        </p:spPr>
      </p:sp>
      <p:sp>
        <p:nvSpPr>
          <p:cNvPr id="14" name="Text 12"/>
          <p:cNvSpPr/>
          <p:nvPr/>
        </p:nvSpPr>
        <p:spPr>
          <a:xfrm>
            <a:off x="5395912" y="3616166"/>
            <a:ext cx="3838456" cy="2222778"/>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highlight>
                  <a:srgbClr val="F2F2F2"/>
                </a:highlight>
                <a:latin typeface="Consolas" pitchFamily="34" charset="0"/>
                <a:ea typeface="Consolas" pitchFamily="34" charset="-122"/>
                <a:cs typeface="Consolas" pitchFamily="34" charset="-120"/>
              </a:rPr>
              <a:t>import tensorflow as tffrom tensorflow.keras import layers, modelsfrom tensorflow.keras.datasets import cifar10import matplotlib.pyplot as pltimport numpy as np</a:t>
            </a:r>
            <a:endParaRPr lang="en-US" sz="1550" dirty="0"/>
          </a:p>
        </p:txBody>
      </p:sp>
      <p:sp>
        <p:nvSpPr>
          <p:cNvPr id="15" name="Text 13"/>
          <p:cNvSpPr/>
          <p:nvPr/>
        </p:nvSpPr>
        <p:spPr>
          <a:xfrm>
            <a:off x="9621203" y="2474714"/>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Kanit Light" pitchFamily="34" charset="0"/>
                <a:ea typeface="Kanit Light" pitchFamily="34" charset="-122"/>
                <a:cs typeface="Kanit Light" pitchFamily="34" charset="-120"/>
              </a:rPr>
              <a:t>03</a:t>
            </a:r>
            <a:endParaRPr lang="en-US" sz="1550" dirty="0"/>
          </a:p>
        </p:txBody>
      </p:sp>
      <p:sp>
        <p:nvSpPr>
          <p:cNvPr id="16" name="Shape 14"/>
          <p:cNvSpPr/>
          <p:nvPr/>
        </p:nvSpPr>
        <p:spPr>
          <a:xfrm>
            <a:off x="9621203" y="2789039"/>
            <a:ext cx="4215289" cy="22860"/>
          </a:xfrm>
          <a:prstGeom prst="rect">
            <a:avLst/>
          </a:prstGeom>
          <a:solidFill>
            <a:srgbClr val="437066"/>
          </a:solidFill>
          <a:ln/>
        </p:spPr>
      </p:sp>
      <p:sp>
        <p:nvSpPr>
          <p:cNvPr id="17" name="Text 15"/>
          <p:cNvSpPr/>
          <p:nvPr/>
        </p:nvSpPr>
        <p:spPr>
          <a:xfrm>
            <a:off x="9621203" y="293393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Persiapan Dataset</a:t>
            </a:r>
            <a:endParaRPr lang="en-US" sz="1950" dirty="0"/>
          </a:p>
        </p:txBody>
      </p:sp>
      <p:sp>
        <p:nvSpPr>
          <p:cNvPr id="18" name="Shape 16"/>
          <p:cNvSpPr/>
          <p:nvPr/>
        </p:nvSpPr>
        <p:spPr>
          <a:xfrm>
            <a:off x="9621203" y="3467338"/>
            <a:ext cx="4215289" cy="3155513"/>
          </a:xfrm>
          <a:prstGeom prst="roundRect">
            <a:avLst>
              <a:gd name="adj" fmla="val 2642"/>
            </a:avLst>
          </a:prstGeom>
          <a:solidFill>
            <a:srgbClr val="F2F2F2"/>
          </a:solidFill>
          <a:ln/>
        </p:spPr>
      </p:sp>
      <p:sp>
        <p:nvSpPr>
          <p:cNvPr id="19" name="Shape 17"/>
          <p:cNvSpPr/>
          <p:nvPr/>
        </p:nvSpPr>
        <p:spPr>
          <a:xfrm>
            <a:off x="9611320" y="3467338"/>
            <a:ext cx="4235053" cy="3155513"/>
          </a:xfrm>
          <a:prstGeom prst="roundRect">
            <a:avLst>
              <a:gd name="adj" fmla="val 943"/>
            </a:avLst>
          </a:prstGeom>
          <a:solidFill>
            <a:srgbClr val="F2F2F2"/>
          </a:solidFill>
          <a:ln/>
        </p:spPr>
      </p:sp>
      <p:sp>
        <p:nvSpPr>
          <p:cNvPr id="20" name="Text 18"/>
          <p:cNvSpPr/>
          <p:nvPr/>
        </p:nvSpPr>
        <p:spPr>
          <a:xfrm>
            <a:off x="9809678" y="3616166"/>
            <a:ext cx="3838337" cy="2857857"/>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highlight>
                  <a:srgbClr val="F2F2F2"/>
                </a:highlight>
                <a:latin typeface="Consolas" pitchFamily="34" charset="0"/>
                <a:ea typeface="Consolas" pitchFamily="34" charset="-122"/>
                <a:cs typeface="Consolas" pitchFamily="34" charset="-120"/>
              </a:rPr>
              <a:t># Load dan split dataset(train_images, train_labels), (test_images, test_labels) = cifar10.load_data()# Normalisasi nilai piksel ke rentang [0,1]train_images = train_images.astype('float32') / 255test_images = test_images.astype('float32') / 255</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590669"/>
            <a:ext cx="6199584" cy="403146"/>
          </a:xfrm>
          <a:prstGeom prst="rect">
            <a:avLst/>
          </a:prstGeom>
          <a:noFill/>
          <a:ln/>
        </p:spPr>
        <p:txBody>
          <a:bodyPr wrap="none" lIns="0" tIns="0" rIns="0" bIns="0" rtlCol="0" anchor="t"/>
          <a:lstStyle/>
          <a:p>
            <a:pPr algn="l" indent="0" marL="0">
              <a:lnSpc>
                <a:spcPts val="3150"/>
              </a:lnSpc>
              <a:buNone/>
            </a:pPr>
            <a:r>
              <a:rPr lang="en-US" sz="2500" dirty="0">
                <a:solidFill>
                  <a:srgbClr val="272D45"/>
                </a:solidFill>
                <a:latin typeface="Kanit Light" pitchFamily="34" charset="0"/>
                <a:ea typeface="Kanit Light" pitchFamily="34" charset="-122"/>
                <a:cs typeface="Kanit Light" pitchFamily="34" charset="-120"/>
              </a:rPr>
              <a:t>Implementasi CNN Sederhana dengan Keras</a:t>
            </a:r>
            <a:endParaRPr lang="en-US" sz="2500" dirty="0"/>
          </a:p>
        </p:txBody>
      </p:sp>
      <p:sp>
        <p:nvSpPr>
          <p:cNvPr id="3" name="Shape 1"/>
          <p:cNvSpPr/>
          <p:nvPr/>
        </p:nvSpPr>
        <p:spPr>
          <a:xfrm>
            <a:off x="793790" y="1251823"/>
            <a:ext cx="13042821" cy="6386989"/>
          </a:xfrm>
          <a:prstGeom prst="roundRect">
            <a:avLst>
              <a:gd name="adj" fmla="val 848"/>
            </a:avLst>
          </a:prstGeom>
          <a:solidFill>
            <a:srgbClr val="F2F2F2"/>
          </a:solidFill>
          <a:ln/>
        </p:spPr>
      </p:sp>
      <p:sp>
        <p:nvSpPr>
          <p:cNvPr id="4" name="Shape 2"/>
          <p:cNvSpPr/>
          <p:nvPr/>
        </p:nvSpPr>
        <p:spPr>
          <a:xfrm>
            <a:off x="787360" y="1251823"/>
            <a:ext cx="13055679" cy="6386989"/>
          </a:xfrm>
          <a:prstGeom prst="roundRect">
            <a:avLst>
              <a:gd name="adj" fmla="val 303"/>
            </a:avLst>
          </a:prstGeom>
          <a:solidFill>
            <a:srgbClr val="F2F2F2"/>
          </a:solidFill>
          <a:ln/>
        </p:spPr>
      </p:sp>
      <p:sp>
        <p:nvSpPr>
          <p:cNvPr id="5" name="Text 3"/>
          <p:cNvSpPr/>
          <p:nvPr/>
        </p:nvSpPr>
        <p:spPr>
          <a:xfrm>
            <a:off x="916305" y="1348502"/>
            <a:ext cx="12797790" cy="6193631"/>
          </a:xfrm>
          <a:prstGeom prst="rect">
            <a:avLst/>
          </a:prstGeom>
          <a:noFill/>
          <a:ln/>
        </p:spPr>
        <p:txBody>
          <a:bodyPr wrap="square" lIns="0" tIns="0" rIns="0" bIns="0" rtlCol="0" anchor="t"/>
          <a:lstStyle/>
          <a:p>
            <a:pPr algn="l" indent="0" marL="0">
              <a:lnSpc>
                <a:spcPts val="1600"/>
              </a:lnSpc>
              <a:buNone/>
            </a:pPr>
            <a:r>
              <a:rPr lang="en-US" sz="1000" dirty="0">
                <a:solidFill>
                  <a:srgbClr val="2C3249"/>
                </a:solidFill>
                <a:highlight>
                  <a:srgbClr val="F2F2F2"/>
                </a:highlight>
                <a:latin typeface="Consolas" pitchFamily="34" charset="0"/>
                <a:ea typeface="Consolas" pitchFamily="34" charset="-122"/>
                <a:cs typeface="Consolas" pitchFamily="34" charset="-120"/>
              </a:rPr>
              <a:t>def build_cnn_model(): model = models.Sequential()  # Layer konvolusi pertama model.add(layers.Conv2D(32, (3, 3), activation='relu',  input_shape=(32, 32, 3))) model.add(layers.MaxPooling2D((2, 2)))  # Layer konvolusi kedua model.add(layers.Conv2D(64, (3, 3), activation='relu')) model.add(layers.MaxPooling2D((2, 2)))  # Layer konvolusi ketiga model.add(layers.Conv2D(64, (3, 3), activation='relu'))  # Flatten dan fully connected layers model.add(layers.Flatten()) model.add(layers.Dense(64, activation='relu')) model.add(layers.Dense(10)) # 10 kelas untuk CIFAR-10  return model# Buat modelmodel = build_cnn_model()# Kompilasi modelmodel.compile(optimizer='adam', loss=tf.keras.losses.SparseCategoricalCrossentropy(from_logits=True), metrics=['accuracy'])</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93790" y="645200"/>
            <a:ext cx="5571768" cy="465177"/>
          </a:xfrm>
          <a:prstGeom prst="rect">
            <a:avLst/>
          </a:prstGeom>
          <a:noFill/>
          <a:ln/>
        </p:spPr>
        <p:txBody>
          <a:bodyPr wrap="none" lIns="0" tIns="0" rIns="0" bIns="0" rtlCol="0" anchor="t"/>
          <a:lstStyle/>
          <a:p>
            <a:pPr algn="l" indent="0" marL="0">
              <a:lnSpc>
                <a:spcPts val="3650"/>
              </a:lnSpc>
              <a:buNone/>
            </a:pPr>
            <a:r>
              <a:rPr lang="en-US" sz="2900" dirty="0">
                <a:solidFill>
                  <a:srgbClr val="272D45"/>
                </a:solidFill>
                <a:latin typeface="Kanit Light" pitchFamily="34" charset="0"/>
                <a:ea typeface="Kanit Light" pitchFamily="34" charset="-122"/>
                <a:cs typeface="Kanit Light" pitchFamily="34" charset="-120"/>
              </a:rPr>
              <a:t>Pelatihan dan Evaluasi Model CNN</a:t>
            </a:r>
            <a:endParaRPr lang="en-US" sz="2900" dirty="0"/>
          </a:p>
        </p:txBody>
      </p:sp>
      <p:sp>
        <p:nvSpPr>
          <p:cNvPr id="3" name="Shape 1"/>
          <p:cNvSpPr/>
          <p:nvPr/>
        </p:nvSpPr>
        <p:spPr>
          <a:xfrm>
            <a:off x="793790" y="1408033"/>
            <a:ext cx="13042821" cy="6176248"/>
          </a:xfrm>
          <a:prstGeom prst="roundRect">
            <a:avLst>
              <a:gd name="adj" fmla="val 1012"/>
            </a:avLst>
          </a:prstGeom>
          <a:solidFill>
            <a:srgbClr val="F2F2F2"/>
          </a:solidFill>
          <a:ln/>
        </p:spPr>
      </p:sp>
      <p:sp>
        <p:nvSpPr>
          <p:cNvPr id="4" name="Shape 2"/>
          <p:cNvSpPr/>
          <p:nvPr/>
        </p:nvSpPr>
        <p:spPr>
          <a:xfrm>
            <a:off x="786408" y="1408033"/>
            <a:ext cx="13057584" cy="6176248"/>
          </a:xfrm>
          <a:prstGeom prst="roundRect">
            <a:avLst>
              <a:gd name="adj" fmla="val 362"/>
            </a:avLst>
          </a:prstGeom>
          <a:solidFill>
            <a:srgbClr val="F2F2F2"/>
          </a:solidFill>
          <a:ln/>
        </p:spPr>
      </p:sp>
      <p:sp>
        <p:nvSpPr>
          <p:cNvPr id="5" name="Text 3"/>
          <p:cNvSpPr/>
          <p:nvPr/>
        </p:nvSpPr>
        <p:spPr>
          <a:xfrm>
            <a:off x="935236" y="1519595"/>
            <a:ext cx="12759928" cy="5953125"/>
          </a:xfrm>
          <a:prstGeom prst="rect">
            <a:avLst/>
          </a:prstGeom>
          <a:noFill/>
          <a:ln/>
        </p:spPr>
        <p:txBody>
          <a:bodyPr wrap="square" lIns="0" tIns="0" rIns="0" bIns="0" rtlCol="0" anchor="t"/>
          <a:lstStyle/>
          <a:p>
            <a:pPr algn="l" indent="0" marL="0">
              <a:lnSpc>
                <a:spcPts val="1850"/>
              </a:lnSpc>
              <a:buNone/>
            </a:pPr>
            <a:r>
              <a:rPr lang="en-US" sz="1150" dirty="0">
                <a:solidFill>
                  <a:srgbClr val="2C3249"/>
                </a:solidFill>
                <a:highlight>
                  <a:srgbClr val="F2F2F2"/>
                </a:highlight>
                <a:latin typeface="Consolas" pitchFamily="34" charset="0"/>
                <a:ea typeface="Consolas" pitchFamily="34" charset="-122"/>
                <a:cs typeface="Consolas" pitchFamily="34" charset="-120"/>
              </a:rPr>
              <a:t># Pelatihan modelhistory = model.fit(train_images, train_labels, epochs=10,  validation_data=(test_images, test_labels))# Evaluasi modeltest_loss, test_acc = model.evaluate(test_images, test_labels, verbose=2)print(f'\nAkurasi pada data test: {test_acc:.2f}')# Visualisasi hasil pelatihanplt.figure(figsize=(12, 4))plt.subplot(1, 2, 1)plt.plot(history.history['accuracy'], label='accuracy')plt.plot(history.history['val_accuracy'], label='val_accuracy')plt.xlabel('Epoch')plt.ylabel('Accuracy')plt.legend()plt.subplot(1, 2, 2)plt.plot(history.history['loss'], label='loss')plt.plot(history.history['val_loss'], label='val_loss')plt.xlabel('Epoch')plt.ylabel('Loss')plt.legend()plt.show()</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93790" y="672584"/>
            <a:ext cx="5078016" cy="465177"/>
          </a:xfrm>
          <a:prstGeom prst="rect">
            <a:avLst/>
          </a:prstGeom>
          <a:noFill/>
          <a:ln/>
        </p:spPr>
        <p:txBody>
          <a:bodyPr wrap="none" lIns="0" tIns="0" rIns="0" bIns="0" rtlCol="0" anchor="t"/>
          <a:lstStyle/>
          <a:p>
            <a:pPr algn="l" indent="0" marL="0">
              <a:lnSpc>
                <a:spcPts val="3650"/>
              </a:lnSpc>
              <a:buNone/>
            </a:pPr>
            <a:r>
              <a:rPr lang="en-US" sz="2900" dirty="0">
                <a:solidFill>
                  <a:srgbClr val="272D45"/>
                </a:solidFill>
                <a:latin typeface="Kanit Light" pitchFamily="34" charset="0"/>
                <a:ea typeface="Kanit Light" pitchFamily="34" charset="-122"/>
                <a:cs typeface="Kanit Light" pitchFamily="34" charset="-120"/>
              </a:rPr>
              <a:t>Analisis Efek Filter Convolution</a:t>
            </a:r>
            <a:endParaRPr lang="en-US" sz="2900" dirty="0"/>
          </a:p>
        </p:txBody>
      </p:sp>
      <p:pic>
        <p:nvPicPr>
          <p:cNvPr id="3" name="Image 0" descr="preencoded.png">    </p:cNvPr>
          <p:cNvPicPr>
            <a:picLocks noChangeAspect="1"/>
          </p:cNvPicPr>
          <p:nvPr/>
        </p:nvPicPr>
        <p:blipFill>
          <a:blip r:embed="rId1"/>
          <a:stretch>
            <a:fillRect/>
          </a:stretch>
        </p:blipFill>
        <p:spPr>
          <a:xfrm>
            <a:off x="793790" y="1435418"/>
            <a:ext cx="9782056" cy="5477947"/>
          </a:xfrm>
          <a:prstGeom prst="rect">
            <a:avLst/>
          </a:prstGeom>
        </p:spPr>
      </p:pic>
      <p:sp>
        <p:nvSpPr>
          <p:cNvPr id="4" name="Text 1"/>
          <p:cNvSpPr/>
          <p:nvPr/>
        </p:nvSpPr>
        <p:spPr>
          <a:xfrm>
            <a:off x="793790" y="7080766"/>
            <a:ext cx="13042821" cy="476250"/>
          </a:xfrm>
          <a:prstGeom prst="rect">
            <a:avLst/>
          </a:prstGeom>
          <a:noFill/>
          <a:ln/>
        </p:spPr>
        <p:txBody>
          <a:bodyPr wrap="square" lIns="0" tIns="0" rIns="0" bIns="0" rtlCol="0" anchor="t"/>
          <a:lstStyle/>
          <a:p>
            <a:pPr algn="l" indent="0" marL="0">
              <a:lnSpc>
                <a:spcPts val="1850"/>
              </a:lnSpc>
              <a:buNone/>
            </a:pPr>
            <a:r>
              <a:rPr lang="en-US" sz="1150" dirty="0">
                <a:solidFill>
                  <a:srgbClr val="2C3249"/>
                </a:solidFill>
                <a:latin typeface="Martel Sans" pitchFamily="34" charset="0"/>
                <a:ea typeface="Martel Sans" pitchFamily="34" charset="-122"/>
                <a:cs typeface="Martel Sans" pitchFamily="34" charset="-120"/>
              </a:rPr>
              <a:t>Eksperimen menunjukkan bahwa peningkatan jumlah filter konvolusi secara konsisten meningkatkan akurasi model pada dataset CIFAR-10. Namun, peningkatan dari 64 ke 128 filter hanya memberikan marginal improvement sebesar 2%, sementara waktu pelatihan meningkat hampir dua kali lipat.</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93790" y="672584"/>
            <a:ext cx="4407932" cy="465177"/>
          </a:xfrm>
          <a:prstGeom prst="rect">
            <a:avLst/>
          </a:prstGeom>
          <a:noFill/>
          <a:ln/>
        </p:spPr>
        <p:txBody>
          <a:bodyPr wrap="none" lIns="0" tIns="0" rIns="0" bIns="0" rtlCol="0" anchor="t"/>
          <a:lstStyle/>
          <a:p>
            <a:pPr algn="l" indent="0" marL="0">
              <a:lnSpc>
                <a:spcPts val="3650"/>
              </a:lnSpc>
              <a:buNone/>
            </a:pPr>
            <a:r>
              <a:rPr lang="en-US" sz="2900" dirty="0">
                <a:solidFill>
                  <a:srgbClr val="272D45"/>
                </a:solidFill>
                <a:latin typeface="Kanit Light" pitchFamily="34" charset="0"/>
                <a:ea typeface="Kanit Light" pitchFamily="34" charset="-122"/>
                <a:cs typeface="Kanit Light" pitchFamily="34" charset="-120"/>
              </a:rPr>
              <a:t>Analisis Efek Pooling Layer</a:t>
            </a:r>
            <a:endParaRPr lang="en-US" sz="2900" dirty="0"/>
          </a:p>
        </p:txBody>
      </p:sp>
      <p:pic>
        <p:nvPicPr>
          <p:cNvPr id="3" name="Image 0" descr="preencoded.png">    </p:cNvPr>
          <p:cNvPicPr>
            <a:picLocks noChangeAspect="1"/>
          </p:cNvPicPr>
          <p:nvPr/>
        </p:nvPicPr>
        <p:blipFill>
          <a:blip r:embed="rId1"/>
          <a:stretch>
            <a:fillRect/>
          </a:stretch>
        </p:blipFill>
        <p:spPr>
          <a:xfrm>
            <a:off x="793790" y="1435418"/>
            <a:ext cx="9782056" cy="5477947"/>
          </a:xfrm>
          <a:prstGeom prst="rect">
            <a:avLst/>
          </a:prstGeom>
        </p:spPr>
      </p:pic>
      <p:sp>
        <p:nvSpPr>
          <p:cNvPr id="4" name="Text 1"/>
          <p:cNvSpPr/>
          <p:nvPr/>
        </p:nvSpPr>
        <p:spPr>
          <a:xfrm>
            <a:off x="793790" y="7080766"/>
            <a:ext cx="13042821" cy="476250"/>
          </a:xfrm>
          <a:prstGeom prst="rect">
            <a:avLst/>
          </a:prstGeom>
          <a:noFill/>
          <a:ln/>
        </p:spPr>
        <p:txBody>
          <a:bodyPr wrap="square" lIns="0" tIns="0" rIns="0" bIns="0" rtlCol="0" anchor="t"/>
          <a:lstStyle/>
          <a:p>
            <a:pPr algn="l" indent="0" marL="0">
              <a:lnSpc>
                <a:spcPts val="1850"/>
              </a:lnSpc>
              <a:buNone/>
            </a:pPr>
            <a:r>
              <a:rPr lang="en-US" sz="1150" dirty="0">
                <a:solidFill>
                  <a:srgbClr val="2C3249"/>
                </a:solidFill>
                <a:latin typeface="Martel Sans" pitchFamily="34" charset="0"/>
                <a:ea typeface="Martel Sans" pitchFamily="34" charset="-122"/>
                <a:cs typeface="Martel Sans" pitchFamily="34" charset="-120"/>
              </a:rPr>
              <a:t>Max pooling menunjukkan performa terbaik untuk klasifikasi CIFAR-10, meningkatkan akurasi sebesar 4% dibandingkan model tanpa pooling. Average pooling sedikit lebih baik dari tanpa pooling, sementara global pooling mengurangi akurasi karena kehilangan terlalu banyak informasi spasial.</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793790" y="621387"/>
            <a:ext cx="3473172" cy="403146"/>
          </a:xfrm>
          <a:prstGeom prst="rect">
            <a:avLst/>
          </a:prstGeom>
          <a:noFill/>
          <a:ln/>
        </p:spPr>
        <p:txBody>
          <a:bodyPr wrap="none" lIns="0" tIns="0" rIns="0" bIns="0" rtlCol="0" anchor="t"/>
          <a:lstStyle/>
          <a:p>
            <a:pPr algn="l" indent="0" marL="0">
              <a:lnSpc>
                <a:spcPts val="3150"/>
              </a:lnSpc>
              <a:buNone/>
            </a:pPr>
            <a:r>
              <a:rPr lang="en-US" sz="2500" dirty="0">
                <a:solidFill>
                  <a:srgbClr val="272D45"/>
                </a:solidFill>
                <a:latin typeface="Kanit Light" pitchFamily="34" charset="0"/>
                <a:ea typeface="Kanit Light" pitchFamily="34" charset="-122"/>
                <a:cs typeface="Kanit Light" pitchFamily="34" charset="-120"/>
              </a:rPr>
              <a:t>Visualisasi Feature Maps</a:t>
            </a:r>
            <a:endParaRPr lang="en-US" sz="2500" dirty="0"/>
          </a:p>
        </p:txBody>
      </p:sp>
      <p:sp>
        <p:nvSpPr>
          <p:cNvPr id="3" name="Text 1"/>
          <p:cNvSpPr/>
          <p:nvPr/>
        </p:nvSpPr>
        <p:spPr>
          <a:xfrm>
            <a:off x="793790" y="1282541"/>
            <a:ext cx="13042821" cy="412909"/>
          </a:xfrm>
          <a:prstGeom prst="rect">
            <a:avLst/>
          </a:prstGeom>
          <a:noFill/>
          <a:ln/>
        </p:spPr>
        <p:txBody>
          <a:bodyPr wrap="square" lIns="0" tIns="0" rIns="0" bIns="0" rtlCol="0" anchor="t"/>
          <a:lstStyle/>
          <a:p>
            <a:pPr algn="l" indent="0" marL="0">
              <a:lnSpc>
                <a:spcPts val="1600"/>
              </a:lnSpc>
              <a:buNone/>
            </a:pPr>
            <a:r>
              <a:rPr lang="en-US" sz="1000" dirty="0">
                <a:solidFill>
                  <a:srgbClr val="2C3249"/>
                </a:solidFill>
                <a:latin typeface="Martel Sans" pitchFamily="34" charset="0"/>
                <a:ea typeface="Martel Sans" pitchFamily="34" charset="-122"/>
                <a:cs typeface="Martel Sans" pitchFamily="34" charset="-120"/>
              </a:rPr>
              <a:t>Visualisasi feature maps membantu memahami apa yang "dilihat" oleh CNN pada setiap lapisan. Lapisan awal mendeteksi fitur sederhana seperti tepi dan warna, sementara lapisan dalam mendeteksi fitur kompleks seperti tekstur dan pola.</a:t>
            </a:r>
            <a:endParaRPr lang="en-US" sz="1000" dirty="0"/>
          </a:p>
        </p:txBody>
      </p:sp>
      <p:sp>
        <p:nvSpPr>
          <p:cNvPr id="4" name="Shape 2"/>
          <p:cNvSpPr/>
          <p:nvPr/>
        </p:nvSpPr>
        <p:spPr>
          <a:xfrm>
            <a:off x="793790" y="1840468"/>
            <a:ext cx="13042821" cy="5767626"/>
          </a:xfrm>
          <a:prstGeom prst="roundRect">
            <a:avLst>
              <a:gd name="adj" fmla="val 939"/>
            </a:avLst>
          </a:prstGeom>
          <a:solidFill>
            <a:srgbClr val="F2F2F2"/>
          </a:solidFill>
          <a:ln/>
        </p:spPr>
      </p:sp>
      <p:sp>
        <p:nvSpPr>
          <p:cNvPr id="5" name="Shape 3"/>
          <p:cNvSpPr/>
          <p:nvPr/>
        </p:nvSpPr>
        <p:spPr>
          <a:xfrm>
            <a:off x="787360" y="1840468"/>
            <a:ext cx="13055679" cy="5767626"/>
          </a:xfrm>
          <a:prstGeom prst="roundRect">
            <a:avLst>
              <a:gd name="adj" fmla="val 336"/>
            </a:avLst>
          </a:prstGeom>
          <a:solidFill>
            <a:srgbClr val="F2F2F2"/>
          </a:solidFill>
          <a:ln/>
        </p:spPr>
      </p:sp>
      <p:sp>
        <p:nvSpPr>
          <p:cNvPr id="6" name="Text 4"/>
          <p:cNvSpPr/>
          <p:nvPr/>
        </p:nvSpPr>
        <p:spPr>
          <a:xfrm>
            <a:off x="916305" y="1937147"/>
            <a:ext cx="12797790" cy="5574268"/>
          </a:xfrm>
          <a:prstGeom prst="rect">
            <a:avLst/>
          </a:prstGeom>
          <a:noFill/>
          <a:ln/>
        </p:spPr>
        <p:txBody>
          <a:bodyPr wrap="square" lIns="0" tIns="0" rIns="0" bIns="0" rtlCol="0" anchor="t"/>
          <a:lstStyle/>
          <a:p>
            <a:pPr algn="l" indent="0" marL="0">
              <a:lnSpc>
                <a:spcPts val="1600"/>
              </a:lnSpc>
              <a:buNone/>
            </a:pPr>
            <a:r>
              <a:rPr lang="en-US" sz="1000" dirty="0">
                <a:solidFill>
                  <a:srgbClr val="2C3249"/>
                </a:solidFill>
                <a:highlight>
                  <a:srgbClr val="F2F2F2"/>
                </a:highlight>
                <a:latin typeface="Consolas" pitchFamily="34" charset="0"/>
                <a:ea typeface="Consolas" pitchFamily="34" charset="-122"/>
                <a:cs typeface="Consolas" pitchFamily="34" charset="-120"/>
              </a:rPr>
              <a:t># Fungsi untuk memvisualisasikan feature mapsdef visualize_feature_maps(model, img): # Buat model yang mengembalikan output semua layer layer_outputs = [layer.output for layer in model.layers if isinstance(layer, layers.Conv2D)] activation_model = tf.keras.models.Model(inputs=model.input, outputs=layer_outputs)  # Dapatkan aktivasi untuk satu gambar activations = activation_model.predict(img[np.newaxis, ...])  # Plot feature maps for i, activation in enumerate(activations): n_features = activation.shape[-1] size = activation.shape[1]  # Hanya tampilkan sampai 8 feature maps n_cols = min(n_features, 8) display_grid = np.zeros((size, size * n_cols))  for col in range(n_cols): display_grid[:, col * size: (col + 1) * size] = activation[0, :, :, col]  plt.figure(figsize=(15, 5)) plt.title(f'Feature maps dari layer konvolusi {i+1}') plt.grid(False) plt.imshow(display_grid, aspect='auto', cmap='viridis') plt.show()</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793790" y="802124"/>
            <a:ext cx="6998970"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Studi Kasus: Klasifikasi CIFAR-10</a:t>
            </a:r>
            <a:endParaRPr lang="en-US" sz="3900" dirty="0"/>
          </a:p>
        </p:txBody>
      </p:sp>
      <p:sp>
        <p:nvSpPr>
          <p:cNvPr id="3" name="Text 1"/>
          <p:cNvSpPr/>
          <p:nvPr/>
        </p:nvSpPr>
        <p:spPr>
          <a:xfrm>
            <a:off x="793790" y="1898452"/>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Dataset CIFAR-10 berisi 60.000 citra berwarna 32×32 dalam 10 kategori. Dataset dibagi menjadi 50.000 citra latih dan 10.000 citra uji.</a:t>
            </a:r>
            <a:endParaRPr lang="en-US" sz="1550" dirty="0"/>
          </a:p>
        </p:txBody>
      </p:sp>
      <p:sp>
        <p:nvSpPr>
          <p:cNvPr id="4" name="Text 2"/>
          <p:cNvSpPr/>
          <p:nvPr/>
        </p:nvSpPr>
        <p:spPr>
          <a:xfrm>
            <a:off x="793790" y="3049429"/>
            <a:ext cx="2747724" cy="310158"/>
          </a:xfrm>
          <a:prstGeom prst="rect">
            <a:avLst/>
          </a:prstGeom>
          <a:noFill/>
          <a:ln/>
        </p:spPr>
        <p:txBody>
          <a:bodyPr wrap="none" lIns="0" tIns="0" rIns="0" bIns="0" rtlCol="0" anchor="t"/>
          <a:lstStyle/>
          <a:p>
            <a:pPr algn="l" indent="0" marL="0">
              <a:lnSpc>
                <a:spcPts val="2400"/>
              </a:lnSpc>
              <a:buNone/>
            </a:pPr>
            <a:r>
              <a:rPr lang="en-US" sz="1950" dirty="0">
                <a:solidFill>
                  <a:srgbClr val="272D45"/>
                </a:solidFill>
                <a:latin typeface="Kanit Light" pitchFamily="34" charset="0"/>
                <a:ea typeface="Kanit Light" pitchFamily="34" charset="-122"/>
                <a:cs typeface="Kanit Light" pitchFamily="34" charset="-120"/>
              </a:rPr>
              <a:t>Kategori dalam CIFAR-10:</a:t>
            </a:r>
            <a:endParaRPr lang="en-US" sz="1950" dirty="0"/>
          </a:p>
        </p:txBody>
      </p:sp>
      <p:sp>
        <p:nvSpPr>
          <p:cNvPr id="5" name="Text 3"/>
          <p:cNvSpPr/>
          <p:nvPr/>
        </p:nvSpPr>
        <p:spPr>
          <a:xfrm>
            <a:off x="793790" y="3557945"/>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Pesawat</a:t>
            </a:r>
            <a:endParaRPr lang="en-US" sz="1550" dirty="0"/>
          </a:p>
        </p:txBody>
      </p:sp>
      <p:sp>
        <p:nvSpPr>
          <p:cNvPr id="6" name="Text 4"/>
          <p:cNvSpPr/>
          <p:nvPr/>
        </p:nvSpPr>
        <p:spPr>
          <a:xfrm>
            <a:off x="793790" y="3944898"/>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Mobil</a:t>
            </a:r>
            <a:endParaRPr lang="en-US" sz="1550" dirty="0"/>
          </a:p>
        </p:txBody>
      </p:sp>
      <p:sp>
        <p:nvSpPr>
          <p:cNvPr id="7" name="Text 5"/>
          <p:cNvSpPr/>
          <p:nvPr/>
        </p:nvSpPr>
        <p:spPr>
          <a:xfrm>
            <a:off x="793790" y="4331851"/>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Burung</a:t>
            </a:r>
            <a:endParaRPr lang="en-US" sz="1550" dirty="0"/>
          </a:p>
        </p:txBody>
      </p:sp>
      <p:sp>
        <p:nvSpPr>
          <p:cNvPr id="8" name="Text 6"/>
          <p:cNvSpPr/>
          <p:nvPr/>
        </p:nvSpPr>
        <p:spPr>
          <a:xfrm>
            <a:off x="793790" y="4718804"/>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Kucing</a:t>
            </a:r>
            <a:endParaRPr lang="en-US" sz="1550" dirty="0"/>
          </a:p>
        </p:txBody>
      </p:sp>
      <p:sp>
        <p:nvSpPr>
          <p:cNvPr id="9" name="Text 7"/>
          <p:cNvSpPr/>
          <p:nvPr/>
        </p:nvSpPr>
        <p:spPr>
          <a:xfrm>
            <a:off x="793790" y="5105757"/>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Rusa</a:t>
            </a:r>
            <a:endParaRPr lang="en-US" sz="1550" dirty="0"/>
          </a:p>
        </p:txBody>
      </p:sp>
      <p:sp>
        <p:nvSpPr>
          <p:cNvPr id="10" name="Text 8"/>
          <p:cNvSpPr/>
          <p:nvPr/>
        </p:nvSpPr>
        <p:spPr>
          <a:xfrm>
            <a:off x="793790" y="5492710"/>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Anjing</a:t>
            </a:r>
            <a:endParaRPr lang="en-US" sz="1550" dirty="0"/>
          </a:p>
        </p:txBody>
      </p:sp>
      <p:sp>
        <p:nvSpPr>
          <p:cNvPr id="11" name="Text 9"/>
          <p:cNvSpPr/>
          <p:nvPr/>
        </p:nvSpPr>
        <p:spPr>
          <a:xfrm>
            <a:off x="793790" y="5879663"/>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Katak</a:t>
            </a:r>
            <a:endParaRPr lang="en-US" sz="1550" dirty="0"/>
          </a:p>
        </p:txBody>
      </p:sp>
      <p:sp>
        <p:nvSpPr>
          <p:cNvPr id="12" name="Text 10"/>
          <p:cNvSpPr/>
          <p:nvPr/>
        </p:nvSpPr>
        <p:spPr>
          <a:xfrm>
            <a:off x="793790" y="6266617"/>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Kuda</a:t>
            </a:r>
            <a:endParaRPr lang="en-US" sz="1550" dirty="0"/>
          </a:p>
        </p:txBody>
      </p:sp>
      <p:sp>
        <p:nvSpPr>
          <p:cNvPr id="13" name="Text 11"/>
          <p:cNvSpPr/>
          <p:nvPr/>
        </p:nvSpPr>
        <p:spPr>
          <a:xfrm>
            <a:off x="793790" y="6653570"/>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Kapal</a:t>
            </a:r>
            <a:endParaRPr lang="en-US" sz="1550" dirty="0"/>
          </a:p>
        </p:txBody>
      </p:sp>
      <p:sp>
        <p:nvSpPr>
          <p:cNvPr id="14" name="Text 12"/>
          <p:cNvSpPr/>
          <p:nvPr/>
        </p:nvSpPr>
        <p:spPr>
          <a:xfrm>
            <a:off x="793790" y="7040523"/>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Truk</a:t>
            </a:r>
            <a:endParaRPr lang="en-US" sz="1550" dirty="0"/>
          </a:p>
        </p:txBody>
      </p:sp>
      <p:sp>
        <p:nvSpPr>
          <p:cNvPr id="15" name="Text 13"/>
          <p:cNvSpPr/>
          <p:nvPr/>
        </p:nvSpPr>
        <p:spPr>
          <a:xfrm>
            <a:off x="7564874" y="1918216"/>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72D45"/>
                </a:solidFill>
                <a:latin typeface="Kanit Light" pitchFamily="34" charset="0"/>
                <a:ea typeface="Kanit Light" pitchFamily="34" charset="-122"/>
                <a:cs typeface="Kanit Light" pitchFamily="34" charset="-120"/>
              </a:rPr>
              <a:t>Hasil Eksperimen:</a:t>
            </a:r>
            <a:endParaRPr lang="en-US" sz="1950" dirty="0"/>
          </a:p>
        </p:txBody>
      </p:sp>
      <p:sp>
        <p:nvSpPr>
          <p:cNvPr id="16" name="Text 14"/>
          <p:cNvSpPr/>
          <p:nvPr/>
        </p:nvSpPr>
        <p:spPr>
          <a:xfrm>
            <a:off x="7564874" y="2426732"/>
            <a:ext cx="6279356"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Model CNN sederhana mencapai akurasi sekitar 75-80% pada CIFAR-10 setelah 10 epoch pelatihan. Beberapa temuan penting:</a:t>
            </a:r>
            <a:endParaRPr lang="en-US" sz="1550" dirty="0"/>
          </a:p>
        </p:txBody>
      </p:sp>
      <p:sp>
        <p:nvSpPr>
          <p:cNvPr id="17" name="Text 15"/>
          <p:cNvSpPr/>
          <p:nvPr/>
        </p:nvSpPr>
        <p:spPr>
          <a:xfrm>
            <a:off x="7564874" y="3240405"/>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Akurasi meningkat signifikan dengan penambahan layer konvolusi ketiga</a:t>
            </a:r>
            <a:endParaRPr lang="en-US" sz="1550" dirty="0"/>
          </a:p>
        </p:txBody>
      </p:sp>
      <p:sp>
        <p:nvSpPr>
          <p:cNvPr id="18" name="Text 16"/>
          <p:cNvSpPr/>
          <p:nvPr/>
        </p:nvSpPr>
        <p:spPr>
          <a:xfrm>
            <a:off x="7564874" y="3944898"/>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Data augmentation meningkatkan akurasi 3-5%</a:t>
            </a:r>
            <a:endParaRPr lang="en-US" sz="1550" dirty="0"/>
          </a:p>
        </p:txBody>
      </p:sp>
      <p:sp>
        <p:nvSpPr>
          <p:cNvPr id="19" name="Text 17"/>
          <p:cNvSpPr/>
          <p:nvPr/>
        </p:nvSpPr>
        <p:spPr>
          <a:xfrm>
            <a:off x="7564874" y="4331851"/>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Batch normalization mempercepat konvergensi</a:t>
            </a:r>
            <a:endParaRPr lang="en-US" sz="1550" dirty="0"/>
          </a:p>
        </p:txBody>
      </p:sp>
      <p:sp>
        <p:nvSpPr>
          <p:cNvPr id="20" name="Text 18"/>
          <p:cNvSpPr/>
          <p:nvPr/>
        </p:nvSpPr>
        <p:spPr>
          <a:xfrm>
            <a:off x="7564874" y="4718804"/>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Dropout 0.25 pada fully connected layer mencegah overfitting</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793790" y="1682829"/>
            <a:ext cx="6168985"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Tantangan dan Limitasi CNN</a:t>
            </a:r>
            <a:endParaRPr lang="en-US" sz="3900" dirty="0"/>
          </a:p>
        </p:txBody>
      </p:sp>
      <p:sp>
        <p:nvSpPr>
          <p:cNvPr id="3" name="Shape 1"/>
          <p:cNvSpPr/>
          <p:nvPr/>
        </p:nvSpPr>
        <p:spPr>
          <a:xfrm>
            <a:off x="793790" y="2699742"/>
            <a:ext cx="6422231" cy="1824276"/>
          </a:xfrm>
          <a:prstGeom prst="roundRect">
            <a:avLst>
              <a:gd name="adj" fmla="val 6015"/>
            </a:avLst>
          </a:prstGeom>
          <a:solidFill>
            <a:srgbClr val="FFFFFF"/>
          </a:solidFill>
          <a:ln w="22860">
            <a:solidFill>
              <a:srgbClr val="C5D2CF"/>
            </a:solidFill>
            <a:prstDash val="solid"/>
          </a:ln>
        </p:spPr>
      </p:sp>
      <p:sp>
        <p:nvSpPr>
          <p:cNvPr id="4" name="Shape 2"/>
          <p:cNvSpPr/>
          <p:nvPr/>
        </p:nvSpPr>
        <p:spPr>
          <a:xfrm>
            <a:off x="770930" y="2699742"/>
            <a:ext cx="91440" cy="1824276"/>
          </a:xfrm>
          <a:prstGeom prst="roundRect">
            <a:avLst>
              <a:gd name="adj" fmla="val 91163"/>
            </a:avLst>
          </a:prstGeom>
          <a:solidFill>
            <a:srgbClr val="437066"/>
          </a:solidFill>
          <a:ln/>
        </p:spPr>
      </p:sp>
      <p:sp>
        <p:nvSpPr>
          <p:cNvPr id="5" name="Text 3"/>
          <p:cNvSpPr/>
          <p:nvPr/>
        </p:nvSpPr>
        <p:spPr>
          <a:xfrm>
            <a:off x="1083588" y="292096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Kebutuhan Data Besar</a:t>
            </a:r>
            <a:endParaRPr lang="en-US" sz="1950" dirty="0"/>
          </a:p>
        </p:txBody>
      </p:sp>
      <p:sp>
        <p:nvSpPr>
          <p:cNvPr id="6" name="Text 4"/>
          <p:cNvSpPr/>
          <p:nvPr/>
        </p:nvSpPr>
        <p:spPr>
          <a:xfrm>
            <a:off x="1083588" y="3350181"/>
            <a:ext cx="5911215"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CNN membutuhkan banyak data pelatihan untuk generalisasi yang baik. Untuk dataset kecil, transfer learning menjadi sangat penting.</a:t>
            </a:r>
            <a:endParaRPr lang="en-US" sz="1550" dirty="0"/>
          </a:p>
        </p:txBody>
      </p:sp>
      <p:sp>
        <p:nvSpPr>
          <p:cNvPr id="7" name="Shape 5"/>
          <p:cNvSpPr/>
          <p:nvPr/>
        </p:nvSpPr>
        <p:spPr>
          <a:xfrm>
            <a:off x="7414379" y="2699742"/>
            <a:ext cx="6422231" cy="1824276"/>
          </a:xfrm>
          <a:prstGeom prst="roundRect">
            <a:avLst>
              <a:gd name="adj" fmla="val 6015"/>
            </a:avLst>
          </a:prstGeom>
          <a:solidFill>
            <a:srgbClr val="FFFFFF"/>
          </a:solidFill>
          <a:ln w="22860">
            <a:solidFill>
              <a:srgbClr val="C5D2CF"/>
            </a:solidFill>
            <a:prstDash val="solid"/>
          </a:ln>
        </p:spPr>
      </p:sp>
      <p:sp>
        <p:nvSpPr>
          <p:cNvPr id="8" name="Shape 6"/>
          <p:cNvSpPr/>
          <p:nvPr/>
        </p:nvSpPr>
        <p:spPr>
          <a:xfrm>
            <a:off x="7391519" y="2699742"/>
            <a:ext cx="91440" cy="1824276"/>
          </a:xfrm>
          <a:prstGeom prst="roundRect">
            <a:avLst>
              <a:gd name="adj" fmla="val 91163"/>
            </a:avLst>
          </a:prstGeom>
          <a:solidFill>
            <a:srgbClr val="437066"/>
          </a:solidFill>
          <a:ln/>
        </p:spPr>
      </p:sp>
      <p:sp>
        <p:nvSpPr>
          <p:cNvPr id="9" name="Text 7"/>
          <p:cNvSpPr/>
          <p:nvPr/>
        </p:nvSpPr>
        <p:spPr>
          <a:xfrm>
            <a:off x="7704177" y="292096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Komputasi Intensif</a:t>
            </a:r>
            <a:endParaRPr lang="en-US" sz="1950" dirty="0"/>
          </a:p>
        </p:txBody>
      </p:sp>
      <p:sp>
        <p:nvSpPr>
          <p:cNvPr id="10" name="Text 8"/>
          <p:cNvSpPr/>
          <p:nvPr/>
        </p:nvSpPr>
        <p:spPr>
          <a:xfrm>
            <a:off x="7704177" y="3350181"/>
            <a:ext cx="5911215"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Pelatihan CNN membutuhkan sumber daya komputasi signifikan, terutama untuk model dalam. GPU menjadi kebutuhan untuk model besar.</a:t>
            </a:r>
            <a:endParaRPr lang="en-US" sz="1550" dirty="0"/>
          </a:p>
        </p:txBody>
      </p:sp>
      <p:sp>
        <p:nvSpPr>
          <p:cNvPr id="11" name="Shape 9"/>
          <p:cNvSpPr/>
          <p:nvPr/>
        </p:nvSpPr>
        <p:spPr>
          <a:xfrm>
            <a:off x="793790" y="4722376"/>
            <a:ext cx="6422231" cy="1824276"/>
          </a:xfrm>
          <a:prstGeom prst="roundRect">
            <a:avLst>
              <a:gd name="adj" fmla="val 6015"/>
            </a:avLst>
          </a:prstGeom>
          <a:solidFill>
            <a:srgbClr val="FFFFFF"/>
          </a:solidFill>
          <a:ln w="22860">
            <a:solidFill>
              <a:srgbClr val="C5D2CF"/>
            </a:solidFill>
            <a:prstDash val="solid"/>
          </a:ln>
        </p:spPr>
      </p:sp>
      <p:sp>
        <p:nvSpPr>
          <p:cNvPr id="12" name="Shape 10"/>
          <p:cNvSpPr/>
          <p:nvPr/>
        </p:nvSpPr>
        <p:spPr>
          <a:xfrm>
            <a:off x="770930" y="4722376"/>
            <a:ext cx="91440" cy="1824276"/>
          </a:xfrm>
          <a:prstGeom prst="roundRect">
            <a:avLst>
              <a:gd name="adj" fmla="val 91163"/>
            </a:avLst>
          </a:prstGeom>
          <a:solidFill>
            <a:srgbClr val="437066"/>
          </a:solidFill>
          <a:ln/>
        </p:spPr>
      </p:sp>
      <p:sp>
        <p:nvSpPr>
          <p:cNvPr id="13" name="Text 11"/>
          <p:cNvSpPr/>
          <p:nvPr/>
        </p:nvSpPr>
        <p:spPr>
          <a:xfrm>
            <a:off x="1083588" y="4943594"/>
            <a:ext cx="3724632"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Sensitif terhadap Hyperparameter</a:t>
            </a:r>
            <a:endParaRPr lang="en-US" sz="1950" dirty="0"/>
          </a:p>
        </p:txBody>
      </p:sp>
      <p:sp>
        <p:nvSpPr>
          <p:cNvPr id="14" name="Text 12"/>
          <p:cNvSpPr/>
          <p:nvPr/>
        </p:nvSpPr>
        <p:spPr>
          <a:xfrm>
            <a:off x="1083588" y="5372814"/>
            <a:ext cx="5911215"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Performa CNN sangat dipengaruhi oleh pilihan hyperparameter seperti learning rate, jumlah filter, dan arsitektur jaringan.</a:t>
            </a:r>
            <a:endParaRPr lang="en-US" sz="1550" dirty="0"/>
          </a:p>
        </p:txBody>
      </p:sp>
      <p:sp>
        <p:nvSpPr>
          <p:cNvPr id="15" name="Shape 13"/>
          <p:cNvSpPr/>
          <p:nvPr/>
        </p:nvSpPr>
        <p:spPr>
          <a:xfrm>
            <a:off x="7414379" y="4722376"/>
            <a:ext cx="6422231" cy="1824276"/>
          </a:xfrm>
          <a:prstGeom prst="roundRect">
            <a:avLst>
              <a:gd name="adj" fmla="val 6015"/>
            </a:avLst>
          </a:prstGeom>
          <a:solidFill>
            <a:srgbClr val="FFFFFF"/>
          </a:solidFill>
          <a:ln w="22860">
            <a:solidFill>
              <a:srgbClr val="C5D2CF"/>
            </a:solidFill>
            <a:prstDash val="solid"/>
          </a:ln>
        </p:spPr>
      </p:sp>
      <p:sp>
        <p:nvSpPr>
          <p:cNvPr id="16" name="Shape 14"/>
          <p:cNvSpPr/>
          <p:nvPr/>
        </p:nvSpPr>
        <p:spPr>
          <a:xfrm>
            <a:off x="7391519" y="4722376"/>
            <a:ext cx="91440" cy="1824276"/>
          </a:xfrm>
          <a:prstGeom prst="roundRect">
            <a:avLst>
              <a:gd name="adj" fmla="val 91163"/>
            </a:avLst>
          </a:prstGeom>
          <a:solidFill>
            <a:srgbClr val="437066"/>
          </a:solidFill>
          <a:ln/>
        </p:spPr>
      </p:sp>
      <p:sp>
        <p:nvSpPr>
          <p:cNvPr id="17" name="Text 15"/>
          <p:cNvSpPr/>
          <p:nvPr/>
        </p:nvSpPr>
        <p:spPr>
          <a:xfrm>
            <a:off x="7704177" y="4943594"/>
            <a:ext cx="263461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Interpretabilitas Rendah</a:t>
            </a:r>
            <a:endParaRPr lang="en-US" sz="1950" dirty="0"/>
          </a:p>
        </p:txBody>
      </p:sp>
      <p:sp>
        <p:nvSpPr>
          <p:cNvPr id="18" name="Text 16"/>
          <p:cNvSpPr/>
          <p:nvPr/>
        </p:nvSpPr>
        <p:spPr>
          <a:xfrm>
            <a:off x="7704177" y="5372814"/>
            <a:ext cx="5911215"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CNN sering dianggap sebagai "black box". Teknik seperti visualisasi feature map dan Grad-CAM membantu, tetapi interpretasi tetap sulit.</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793790" y="1073468"/>
            <a:ext cx="5046226"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Tren Terkini dalam CNN</a:t>
            </a:r>
            <a:endParaRPr lang="en-US" sz="3900" dirty="0"/>
          </a:p>
        </p:txBody>
      </p:sp>
      <p:sp>
        <p:nvSpPr>
          <p:cNvPr id="3" name="Shape 1"/>
          <p:cNvSpPr/>
          <p:nvPr/>
        </p:nvSpPr>
        <p:spPr>
          <a:xfrm>
            <a:off x="793790" y="4194096"/>
            <a:ext cx="13042821" cy="22860"/>
          </a:xfrm>
          <a:prstGeom prst="roundRect">
            <a:avLst>
              <a:gd name="adj" fmla="val 364651"/>
            </a:avLst>
          </a:prstGeom>
          <a:solidFill>
            <a:srgbClr val="C5D2CF"/>
          </a:solidFill>
          <a:ln/>
        </p:spPr>
      </p:sp>
      <p:sp>
        <p:nvSpPr>
          <p:cNvPr id="4" name="Shape 2"/>
          <p:cNvSpPr/>
          <p:nvPr/>
        </p:nvSpPr>
        <p:spPr>
          <a:xfrm>
            <a:off x="793790" y="2090380"/>
            <a:ext cx="4182189" cy="2103715"/>
          </a:xfrm>
          <a:prstGeom prst="roundRect">
            <a:avLst>
              <a:gd name="adj" fmla="val 3962"/>
            </a:avLst>
          </a:prstGeom>
          <a:solidFill>
            <a:srgbClr val="DFECE9"/>
          </a:solidFill>
          <a:ln w="7620">
            <a:solidFill>
              <a:srgbClr val="C5D2CF"/>
            </a:solidFill>
            <a:prstDash val="solid"/>
          </a:ln>
        </p:spPr>
      </p:sp>
      <p:sp>
        <p:nvSpPr>
          <p:cNvPr id="5" name="Text 3"/>
          <p:cNvSpPr/>
          <p:nvPr/>
        </p:nvSpPr>
        <p:spPr>
          <a:xfrm>
            <a:off x="1644372" y="2296358"/>
            <a:ext cx="2480905" cy="310158"/>
          </a:xfrm>
          <a:prstGeom prst="rect">
            <a:avLst/>
          </a:prstGeom>
          <a:noFill/>
          <a:ln/>
        </p:spPr>
        <p:txBody>
          <a:bodyPr wrap="none" lIns="0" tIns="0" rIns="0" bIns="0" rtlCol="0" anchor="t"/>
          <a:lstStyle/>
          <a:p>
            <a:pPr algn="ctr"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Capsule Networks</a:t>
            </a:r>
            <a:endParaRPr lang="en-US" sz="1950" dirty="0"/>
          </a:p>
        </p:txBody>
      </p:sp>
      <p:sp>
        <p:nvSpPr>
          <p:cNvPr id="6" name="Text 4"/>
          <p:cNvSpPr/>
          <p:nvPr/>
        </p:nvSpPr>
        <p:spPr>
          <a:xfrm>
            <a:off x="999768" y="2725579"/>
            <a:ext cx="3770233" cy="1270159"/>
          </a:xfrm>
          <a:prstGeom prst="rect">
            <a:avLst/>
          </a:prstGeom>
          <a:noFill/>
          <a:ln/>
        </p:spPr>
        <p:txBody>
          <a:bodyPr wrap="square" lIns="0" tIns="0" rIns="0" bIns="0" rtlCol="0" anchor="t"/>
          <a:lstStyle/>
          <a:p>
            <a:pPr algn="ctr"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Dikembangkan oleh Hinton, mengatasi kelemahan CNN dalam memahami relasi spasial. Mempertahankan hierarki spasial yang hilang dalam pooling.</a:t>
            </a:r>
            <a:endParaRPr lang="en-US" sz="1550" dirty="0"/>
          </a:p>
        </p:txBody>
      </p:sp>
      <p:sp>
        <p:nvSpPr>
          <p:cNvPr id="7" name="Shape 5"/>
          <p:cNvSpPr/>
          <p:nvPr/>
        </p:nvSpPr>
        <p:spPr>
          <a:xfrm>
            <a:off x="5223986" y="4216956"/>
            <a:ext cx="4182308" cy="2103715"/>
          </a:xfrm>
          <a:prstGeom prst="rect">
            <a:avLst/>
          </a:prstGeom>
          <a:solidFill>
            <a:srgbClr val="DFECE9"/>
          </a:solidFill>
          <a:ln/>
        </p:spPr>
      </p:sp>
      <p:sp>
        <p:nvSpPr>
          <p:cNvPr id="8" name="Text 6"/>
          <p:cNvSpPr/>
          <p:nvPr/>
        </p:nvSpPr>
        <p:spPr>
          <a:xfrm>
            <a:off x="6074688" y="4415314"/>
            <a:ext cx="2480905" cy="310158"/>
          </a:xfrm>
          <a:prstGeom prst="rect">
            <a:avLst/>
          </a:prstGeom>
          <a:noFill/>
          <a:ln/>
        </p:spPr>
        <p:txBody>
          <a:bodyPr wrap="none" lIns="0" tIns="0" rIns="0" bIns="0" rtlCol="0" anchor="t"/>
          <a:lstStyle/>
          <a:p>
            <a:pPr algn="ctr"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EfficientNet</a:t>
            </a:r>
            <a:endParaRPr lang="en-US" sz="1950" dirty="0"/>
          </a:p>
        </p:txBody>
      </p:sp>
      <p:sp>
        <p:nvSpPr>
          <p:cNvPr id="9" name="Text 7"/>
          <p:cNvSpPr/>
          <p:nvPr/>
        </p:nvSpPr>
        <p:spPr>
          <a:xfrm>
            <a:off x="5429964" y="4844534"/>
            <a:ext cx="3770352" cy="1270159"/>
          </a:xfrm>
          <a:prstGeom prst="rect">
            <a:avLst/>
          </a:prstGeom>
          <a:noFill/>
          <a:ln/>
        </p:spPr>
        <p:txBody>
          <a:bodyPr wrap="square" lIns="0" tIns="0" rIns="0" bIns="0" rtlCol="0" anchor="t"/>
          <a:lstStyle/>
          <a:p>
            <a:pPr algn="ctr"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Optimasi arsitektur CNN melalui scaling seimbang antara kedalaman, lebar, dan resolusi, menghasilkan model yang lebih efisien.</a:t>
            </a:r>
            <a:endParaRPr lang="en-US" sz="1550" dirty="0"/>
          </a:p>
        </p:txBody>
      </p:sp>
      <p:sp>
        <p:nvSpPr>
          <p:cNvPr id="10" name="Shape 8"/>
          <p:cNvSpPr/>
          <p:nvPr/>
        </p:nvSpPr>
        <p:spPr>
          <a:xfrm>
            <a:off x="9654302" y="2090380"/>
            <a:ext cx="4182308" cy="2103715"/>
          </a:xfrm>
          <a:prstGeom prst="roundRect">
            <a:avLst>
              <a:gd name="adj" fmla="val 3962"/>
            </a:avLst>
          </a:prstGeom>
          <a:solidFill>
            <a:srgbClr val="DFECE9"/>
          </a:solidFill>
          <a:ln w="7620">
            <a:solidFill>
              <a:srgbClr val="C5D2CF"/>
            </a:solidFill>
            <a:prstDash val="solid"/>
          </a:ln>
        </p:spPr>
      </p:sp>
      <p:sp>
        <p:nvSpPr>
          <p:cNvPr id="11" name="Text 9"/>
          <p:cNvSpPr/>
          <p:nvPr/>
        </p:nvSpPr>
        <p:spPr>
          <a:xfrm>
            <a:off x="10374273" y="2296358"/>
            <a:ext cx="2742247" cy="310158"/>
          </a:xfrm>
          <a:prstGeom prst="rect">
            <a:avLst/>
          </a:prstGeom>
          <a:noFill/>
          <a:ln/>
        </p:spPr>
        <p:txBody>
          <a:bodyPr wrap="none" lIns="0" tIns="0" rIns="0" bIns="0" rtlCol="0" anchor="t"/>
          <a:lstStyle/>
          <a:p>
            <a:pPr algn="ctr"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Vision Transformers (ViT)</a:t>
            </a:r>
            <a:endParaRPr lang="en-US" sz="1950" dirty="0"/>
          </a:p>
        </p:txBody>
      </p:sp>
      <p:sp>
        <p:nvSpPr>
          <p:cNvPr id="12" name="Text 10"/>
          <p:cNvSpPr/>
          <p:nvPr/>
        </p:nvSpPr>
        <p:spPr>
          <a:xfrm>
            <a:off x="9860280" y="2725579"/>
            <a:ext cx="3770352" cy="1270159"/>
          </a:xfrm>
          <a:prstGeom prst="rect">
            <a:avLst/>
          </a:prstGeom>
          <a:noFill/>
          <a:ln/>
        </p:spPr>
        <p:txBody>
          <a:bodyPr wrap="square" lIns="0" tIns="0" rIns="0" bIns="0" rtlCol="0" anchor="t"/>
          <a:lstStyle/>
          <a:p>
            <a:pPr algn="ctr"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Adaptasi arsitektur Transformer untuk visi komputer, menawarkan alternatif untuk CNN dengan hasil menjanjikan untuk dataset besar.</a:t>
            </a:r>
            <a:endParaRPr lang="en-US" sz="1550" dirty="0"/>
          </a:p>
        </p:txBody>
      </p:sp>
      <p:sp>
        <p:nvSpPr>
          <p:cNvPr id="13" name="Text 11"/>
          <p:cNvSpPr/>
          <p:nvPr/>
        </p:nvSpPr>
        <p:spPr>
          <a:xfrm>
            <a:off x="793790" y="6521053"/>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Integrasi CNN dengan metode lain seperti Attention Mechanism dan Reinforcement Learning menjadi tren yang semakin populer, meningkatkan kemampuan model dalam menangkap detail penting.</a:t>
            </a:r>
            <a:endParaRPr lang="en-US" sz="15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793790" y="810697"/>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Tugas Praktikum</a:t>
            </a:r>
            <a:endParaRPr lang="en-US" sz="3900" dirty="0"/>
          </a:p>
        </p:txBody>
      </p:sp>
      <p:sp>
        <p:nvSpPr>
          <p:cNvPr id="3" name="Text 1"/>
          <p:cNvSpPr/>
          <p:nvPr/>
        </p:nvSpPr>
        <p:spPr>
          <a:xfrm>
            <a:off x="793790" y="1827609"/>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Mahasiswa akan mengerjakan tugas berikut untuk memperdalam pemahaman tentang CNN:</a:t>
            </a:r>
            <a:endParaRPr lang="en-US" sz="1550" dirty="0"/>
          </a:p>
        </p:txBody>
      </p:sp>
      <p:pic>
        <p:nvPicPr>
          <p:cNvPr id="4" name="Image 0" descr="preencoded.png">    </p:cNvPr>
          <p:cNvPicPr>
            <a:picLocks noChangeAspect="1"/>
          </p:cNvPicPr>
          <p:nvPr/>
        </p:nvPicPr>
        <p:blipFill>
          <a:blip r:embed="rId1"/>
          <a:stretch>
            <a:fillRect/>
          </a:stretch>
        </p:blipFill>
        <p:spPr>
          <a:xfrm>
            <a:off x="793790" y="2368391"/>
            <a:ext cx="6521410" cy="793790"/>
          </a:xfrm>
          <a:prstGeom prst="rect">
            <a:avLst/>
          </a:prstGeom>
        </p:spPr>
      </p:pic>
      <p:sp>
        <p:nvSpPr>
          <p:cNvPr id="5" name="Text 2"/>
          <p:cNvSpPr/>
          <p:nvPr/>
        </p:nvSpPr>
        <p:spPr>
          <a:xfrm>
            <a:off x="992148" y="336053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Implementasi Model</a:t>
            </a:r>
            <a:endParaRPr lang="en-US" sz="1950" dirty="0"/>
          </a:p>
        </p:txBody>
      </p:sp>
      <p:sp>
        <p:nvSpPr>
          <p:cNvPr id="6" name="Text 3"/>
          <p:cNvSpPr/>
          <p:nvPr/>
        </p:nvSpPr>
        <p:spPr>
          <a:xfrm>
            <a:off x="992148" y="3789759"/>
            <a:ext cx="6124694"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Melatih model CNN sederhana menggunakan Keras untuk klasifikasi citra pada dataset CIFAR-10 atau Fashion-MNIST.</a:t>
            </a:r>
            <a:endParaRPr lang="en-US" sz="1550" dirty="0"/>
          </a:p>
        </p:txBody>
      </p:sp>
      <p:pic>
        <p:nvPicPr>
          <p:cNvPr id="7" name="Image 1" descr="preencoded.png">    </p:cNvPr>
          <p:cNvPicPr>
            <a:picLocks noChangeAspect="1"/>
          </p:cNvPicPr>
          <p:nvPr/>
        </p:nvPicPr>
        <p:blipFill>
          <a:blip r:embed="rId2"/>
          <a:stretch>
            <a:fillRect/>
          </a:stretch>
        </p:blipFill>
        <p:spPr>
          <a:xfrm>
            <a:off x="7315200" y="2368391"/>
            <a:ext cx="6521410" cy="793790"/>
          </a:xfrm>
          <a:prstGeom prst="rect">
            <a:avLst/>
          </a:prstGeom>
        </p:spPr>
      </p:pic>
      <p:sp>
        <p:nvSpPr>
          <p:cNvPr id="8" name="Text 4"/>
          <p:cNvSpPr/>
          <p:nvPr/>
        </p:nvSpPr>
        <p:spPr>
          <a:xfrm>
            <a:off x="7513558" y="336053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Eksperimen Parameter</a:t>
            </a:r>
            <a:endParaRPr lang="en-US" sz="1950" dirty="0"/>
          </a:p>
        </p:txBody>
      </p:sp>
      <p:sp>
        <p:nvSpPr>
          <p:cNvPr id="9" name="Text 5"/>
          <p:cNvSpPr/>
          <p:nvPr/>
        </p:nvSpPr>
        <p:spPr>
          <a:xfrm>
            <a:off x="7513558" y="3789759"/>
            <a:ext cx="6124694"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Melakukan eksperimen dengan mengubah jumlah filter, ukuran kernel, jenis pooling, dan jumlah layer.</a:t>
            </a:r>
            <a:endParaRPr lang="en-US" sz="1550" dirty="0"/>
          </a:p>
        </p:txBody>
      </p:sp>
      <p:pic>
        <p:nvPicPr>
          <p:cNvPr id="10" name="Image 2" descr="preencoded.png">    </p:cNvPr>
          <p:cNvPicPr>
            <a:picLocks noChangeAspect="1"/>
          </p:cNvPicPr>
          <p:nvPr/>
        </p:nvPicPr>
        <p:blipFill>
          <a:blip r:embed="rId3"/>
          <a:stretch>
            <a:fillRect/>
          </a:stretch>
        </p:blipFill>
        <p:spPr>
          <a:xfrm>
            <a:off x="793790" y="4623197"/>
            <a:ext cx="6521410" cy="793790"/>
          </a:xfrm>
          <a:prstGeom prst="rect">
            <a:avLst/>
          </a:prstGeom>
        </p:spPr>
      </p:pic>
      <p:sp>
        <p:nvSpPr>
          <p:cNvPr id="11" name="Text 6"/>
          <p:cNvSpPr/>
          <p:nvPr/>
        </p:nvSpPr>
        <p:spPr>
          <a:xfrm>
            <a:off x="992148" y="561534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Analisis Hasil</a:t>
            </a:r>
            <a:endParaRPr lang="en-US" sz="1950" dirty="0"/>
          </a:p>
        </p:txBody>
      </p:sp>
      <p:sp>
        <p:nvSpPr>
          <p:cNvPr id="12" name="Text 7"/>
          <p:cNvSpPr/>
          <p:nvPr/>
        </p:nvSpPr>
        <p:spPr>
          <a:xfrm>
            <a:off x="992148" y="6044565"/>
            <a:ext cx="6124694"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Membandingkan dan menganalisis performa model dengan konfigurasi berbeda, visualisasi feature maps.</a:t>
            </a:r>
            <a:endParaRPr lang="en-US" sz="1550" dirty="0"/>
          </a:p>
        </p:txBody>
      </p:sp>
      <p:pic>
        <p:nvPicPr>
          <p:cNvPr id="13" name="Image 3" descr="preencoded.png">    </p:cNvPr>
          <p:cNvPicPr>
            <a:picLocks noChangeAspect="1"/>
          </p:cNvPicPr>
          <p:nvPr/>
        </p:nvPicPr>
        <p:blipFill>
          <a:blip r:embed="rId4"/>
          <a:stretch>
            <a:fillRect/>
          </a:stretch>
        </p:blipFill>
        <p:spPr>
          <a:xfrm>
            <a:off x="7315200" y="4623197"/>
            <a:ext cx="6521410" cy="793790"/>
          </a:xfrm>
          <a:prstGeom prst="rect">
            <a:avLst/>
          </a:prstGeom>
        </p:spPr>
      </p:pic>
      <p:sp>
        <p:nvSpPr>
          <p:cNvPr id="14" name="Text 8"/>
          <p:cNvSpPr/>
          <p:nvPr/>
        </p:nvSpPr>
        <p:spPr>
          <a:xfrm>
            <a:off x="7513558" y="561534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Laporan</a:t>
            </a:r>
            <a:endParaRPr lang="en-US" sz="1950" dirty="0"/>
          </a:p>
        </p:txBody>
      </p:sp>
      <p:sp>
        <p:nvSpPr>
          <p:cNvPr id="15" name="Text 9"/>
          <p:cNvSpPr/>
          <p:nvPr/>
        </p:nvSpPr>
        <p:spPr>
          <a:xfrm>
            <a:off x="7513558" y="6044565"/>
            <a:ext cx="6124694"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Menyusun laporan ilmiah tentang eksperimen yang dilakukan, meliputi metodologi, hasil, dan kesimpulan.</a:t>
            </a:r>
            <a:endParaRPr lang="en-US" sz="1550" dirty="0"/>
          </a:p>
        </p:txBody>
      </p:sp>
      <p:sp>
        <p:nvSpPr>
          <p:cNvPr id="16" name="Text 10"/>
          <p:cNvSpPr/>
          <p:nvPr/>
        </p:nvSpPr>
        <p:spPr>
          <a:xfrm>
            <a:off x="793790" y="7101245"/>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Waktu pengerjaan: 1 minggu. Presentasi hasil akan dilakukan pada pertemuan berikutnya.</a:t>
            </a:r>
            <a:endParaRPr lang="en-US" sz="15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793790" y="870228"/>
            <a:ext cx="6454735"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Referensi dan Sumber Belajar</a:t>
            </a:r>
            <a:endParaRPr lang="en-US" sz="3900" dirty="0"/>
          </a:p>
        </p:txBody>
      </p:sp>
      <p:sp>
        <p:nvSpPr>
          <p:cNvPr id="3" name="Text 1"/>
          <p:cNvSpPr/>
          <p:nvPr/>
        </p:nvSpPr>
        <p:spPr>
          <a:xfrm>
            <a:off x="793790" y="198632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72D45"/>
                </a:solidFill>
                <a:latin typeface="Kanit Light" pitchFamily="34" charset="0"/>
                <a:ea typeface="Kanit Light" pitchFamily="34" charset="-122"/>
                <a:cs typeface="Kanit Light" pitchFamily="34" charset="-120"/>
              </a:rPr>
              <a:t>Buku</a:t>
            </a:r>
            <a:endParaRPr lang="en-US" sz="1950" dirty="0"/>
          </a:p>
        </p:txBody>
      </p:sp>
      <p:sp>
        <p:nvSpPr>
          <p:cNvPr id="4" name="Text 2"/>
          <p:cNvSpPr/>
          <p:nvPr/>
        </p:nvSpPr>
        <p:spPr>
          <a:xfrm>
            <a:off x="793790" y="2494836"/>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Goodfellow, I., Bengio, Y., &amp; Courville, A. (2016). Deep Learning. MIT Press.</a:t>
            </a:r>
            <a:endParaRPr lang="en-US" sz="1550" dirty="0"/>
          </a:p>
        </p:txBody>
      </p:sp>
      <p:sp>
        <p:nvSpPr>
          <p:cNvPr id="5" name="Text 3"/>
          <p:cNvSpPr/>
          <p:nvPr/>
        </p:nvSpPr>
        <p:spPr>
          <a:xfrm>
            <a:off x="793790" y="3199328"/>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Zhang, A., Lipton, Z. C., Li, M., &amp; Smola, A. J. (2021). Dive into Deep Learning.</a:t>
            </a:r>
            <a:endParaRPr lang="en-US" sz="1550" dirty="0"/>
          </a:p>
        </p:txBody>
      </p:sp>
      <p:sp>
        <p:nvSpPr>
          <p:cNvPr id="6" name="Text 4"/>
          <p:cNvSpPr/>
          <p:nvPr/>
        </p:nvSpPr>
        <p:spPr>
          <a:xfrm>
            <a:off x="793790" y="3903821"/>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Chollet, F. (2021). Deep Learning with Python, Second Edition. Manning Publications.</a:t>
            </a:r>
            <a:endParaRPr lang="en-US" sz="1550" dirty="0"/>
          </a:p>
        </p:txBody>
      </p:sp>
      <p:sp>
        <p:nvSpPr>
          <p:cNvPr id="7" name="Text 5"/>
          <p:cNvSpPr/>
          <p:nvPr/>
        </p:nvSpPr>
        <p:spPr>
          <a:xfrm>
            <a:off x="793790" y="473725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72D45"/>
                </a:solidFill>
                <a:latin typeface="Kanit Light" pitchFamily="34" charset="0"/>
                <a:ea typeface="Kanit Light" pitchFamily="34" charset="-122"/>
                <a:cs typeface="Kanit Light" pitchFamily="34" charset="-120"/>
              </a:rPr>
              <a:t>Jurnal dan Paper</a:t>
            </a:r>
            <a:endParaRPr lang="en-US" sz="1950" dirty="0"/>
          </a:p>
        </p:txBody>
      </p:sp>
      <p:sp>
        <p:nvSpPr>
          <p:cNvPr id="8" name="Text 6"/>
          <p:cNvSpPr/>
          <p:nvPr/>
        </p:nvSpPr>
        <p:spPr>
          <a:xfrm>
            <a:off x="793790" y="5245775"/>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LeCun, Y., Bottou, L., Bengio, Y., &amp; Haffner, P. (1998). Gradient-based learning applied to document recognition.</a:t>
            </a:r>
            <a:endParaRPr lang="en-US" sz="1550" dirty="0"/>
          </a:p>
        </p:txBody>
      </p:sp>
      <p:sp>
        <p:nvSpPr>
          <p:cNvPr id="9" name="Text 7"/>
          <p:cNvSpPr/>
          <p:nvPr/>
        </p:nvSpPr>
        <p:spPr>
          <a:xfrm>
            <a:off x="793790" y="5950268"/>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Krizhevsky, A., Sutskever, I., &amp; Hinton, G. E. (2012). ImageNet classification with deep convolutional neural networks.</a:t>
            </a:r>
            <a:endParaRPr lang="en-US" sz="1550" dirty="0"/>
          </a:p>
        </p:txBody>
      </p:sp>
      <p:sp>
        <p:nvSpPr>
          <p:cNvPr id="10" name="Text 8"/>
          <p:cNvSpPr/>
          <p:nvPr/>
        </p:nvSpPr>
        <p:spPr>
          <a:xfrm>
            <a:off x="793790" y="6654760"/>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He, K., Zhang, X., Ren, S., &amp; Sun, J. (2016). Deep residual learning for image recognition.</a:t>
            </a:r>
            <a:endParaRPr lang="en-US" sz="1550" dirty="0"/>
          </a:p>
        </p:txBody>
      </p:sp>
      <p:sp>
        <p:nvSpPr>
          <p:cNvPr id="11" name="Text 9"/>
          <p:cNvSpPr/>
          <p:nvPr/>
        </p:nvSpPr>
        <p:spPr>
          <a:xfrm>
            <a:off x="7564874" y="198632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72D45"/>
                </a:solidFill>
                <a:latin typeface="Kanit Light" pitchFamily="34" charset="0"/>
                <a:ea typeface="Kanit Light" pitchFamily="34" charset="-122"/>
                <a:cs typeface="Kanit Light" pitchFamily="34" charset="-120"/>
              </a:rPr>
              <a:t>Tutorial Online</a:t>
            </a:r>
            <a:endParaRPr lang="en-US" sz="1950" dirty="0"/>
          </a:p>
        </p:txBody>
      </p:sp>
      <p:sp>
        <p:nvSpPr>
          <p:cNvPr id="12" name="Text 10"/>
          <p:cNvSpPr/>
          <p:nvPr/>
        </p:nvSpPr>
        <p:spPr>
          <a:xfrm>
            <a:off x="7564874" y="2494836"/>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TensorFlow: </a:t>
            </a:r>
            <a:pPr algn="l" indent="0" marL="0">
              <a:lnSpc>
                <a:spcPts val="2500"/>
              </a:lnSpc>
              <a:buNone/>
            </a:pPr>
            <a:r>
              <a:rPr lang="en-US" sz="1550" u="sng" dirty="0">
                <a:solidFill>
                  <a:srgbClr val="437066"/>
                </a:solidFill>
                <a:latin typeface="Martel Sans" pitchFamily="34" charset="0"/>
                <a:ea typeface="Martel Sans" pitchFamily="34" charset="-122"/>
                <a:cs typeface="Martel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Tutorial CNN</a:t>
            </a:r>
            <a:endParaRPr lang="en-US" sz="1550" dirty="0"/>
          </a:p>
        </p:txBody>
      </p:sp>
      <p:sp>
        <p:nvSpPr>
          <p:cNvPr id="13" name="Text 11"/>
          <p:cNvSpPr/>
          <p:nvPr/>
        </p:nvSpPr>
        <p:spPr>
          <a:xfrm>
            <a:off x="7564874" y="2881789"/>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Keras: </a:t>
            </a:r>
            <a:pPr algn="l" indent="0" marL="0">
              <a:lnSpc>
                <a:spcPts val="2500"/>
              </a:lnSpc>
              <a:buNone/>
            </a:pPr>
            <a:r>
              <a:rPr lang="en-US" sz="1550" u="sng" dirty="0">
                <a:solidFill>
                  <a:srgbClr val="437066"/>
                </a:solidFill>
                <a:latin typeface="Martel Sans" pitchFamily="34" charset="0"/>
                <a:ea typeface="Martel Sans" pitchFamily="34" charset="-122"/>
                <a:cs typeface="Martel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CNN dengan Keras</a:t>
            </a:r>
            <a:endParaRPr lang="en-US" sz="1550" dirty="0"/>
          </a:p>
        </p:txBody>
      </p:sp>
      <p:sp>
        <p:nvSpPr>
          <p:cNvPr id="14" name="Text 12"/>
          <p:cNvSpPr/>
          <p:nvPr/>
        </p:nvSpPr>
        <p:spPr>
          <a:xfrm>
            <a:off x="7564874" y="3268742"/>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PyTorch: </a:t>
            </a:r>
            <a:pPr algn="l" indent="0" marL="0">
              <a:lnSpc>
                <a:spcPts val="2500"/>
              </a:lnSpc>
              <a:buNone/>
            </a:pPr>
            <a:r>
              <a:rPr lang="en-US" sz="1550" u="sng" dirty="0">
                <a:solidFill>
                  <a:srgbClr val="437066"/>
                </a:solidFill>
                <a:latin typeface="Martel Sans" pitchFamily="34" charset="0"/>
                <a:ea typeface="Martel Sans" pitchFamily="34" charset="-122"/>
                <a:cs typeface="Martel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Tutorial CIFAR-10</a:t>
            </a:r>
            <a:endParaRPr lang="en-US" sz="1550" dirty="0"/>
          </a:p>
        </p:txBody>
      </p:sp>
      <p:sp>
        <p:nvSpPr>
          <p:cNvPr id="15" name="Text 13"/>
          <p:cNvSpPr/>
          <p:nvPr/>
        </p:nvSpPr>
        <p:spPr>
          <a:xfrm>
            <a:off x="7564874" y="378464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72D45"/>
                </a:solidFill>
                <a:latin typeface="Kanit Light" pitchFamily="34" charset="0"/>
                <a:ea typeface="Kanit Light" pitchFamily="34" charset="-122"/>
                <a:cs typeface="Kanit Light" pitchFamily="34" charset="-120"/>
              </a:rPr>
              <a:t>Kursus Online</a:t>
            </a:r>
            <a:endParaRPr lang="en-US" sz="1950" dirty="0"/>
          </a:p>
        </p:txBody>
      </p:sp>
      <p:sp>
        <p:nvSpPr>
          <p:cNvPr id="16" name="Text 14"/>
          <p:cNvSpPr/>
          <p:nvPr/>
        </p:nvSpPr>
        <p:spPr>
          <a:xfrm>
            <a:off x="7564874" y="4293156"/>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Coursera: "Convolutional Neural Networks" oleh Andrew Ng</a:t>
            </a:r>
            <a:endParaRPr lang="en-US" sz="1550" dirty="0"/>
          </a:p>
        </p:txBody>
      </p:sp>
      <p:sp>
        <p:nvSpPr>
          <p:cNvPr id="17" name="Text 15"/>
          <p:cNvSpPr/>
          <p:nvPr/>
        </p:nvSpPr>
        <p:spPr>
          <a:xfrm>
            <a:off x="7564874" y="4680109"/>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edX: "Deep Learning Fundamentals" oleh IBM</a:t>
            </a:r>
            <a:endParaRPr lang="en-US" sz="1550" dirty="0"/>
          </a:p>
        </p:txBody>
      </p:sp>
      <p:sp>
        <p:nvSpPr>
          <p:cNvPr id="18" name="Text 16"/>
          <p:cNvSpPr/>
          <p:nvPr/>
        </p:nvSpPr>
        <p:spPr>
          <a:xfrm>
            <a:off x="7564874" y="5067062"/>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Udacity: "Deep Learning" Nanodegree</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2025-08-13T07:09:18Z</dcterms:created>
  <dcterms:modified xsi:type="dcterms:W3CDTF">2025-08-13T07:09:18Z</dcterms:modified>
</cp:coreProperties>
</file>