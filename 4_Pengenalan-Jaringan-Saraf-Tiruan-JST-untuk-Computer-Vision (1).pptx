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4630400" cy="8229600"/>
  <p:notesSz cx="8229600" cy="14630400"/>
  <p:embeddedFontLst>
    <p:embeddedFont>
      <p:font typeface="Kanit Light"/>
      <p:regular r:id="rId32"/>
    </p:embeddedFont>
    <p:embeddedFont>
      <p:font typeface="Kanit Light"/>
      <p:regular r:id="rId33"/>
    </p:embeddedFont>
    <p:embeddedFont>
      <p:font typeface="Kanit Light"/>
      <p:regular r:id="rId34"/>
    </p:embeddedFont>
    <p:embeddedFont>
      <p:font typeface="Kanit Light"/>
      <p:regular r:id="rId35"/>
    </p:embeddedFont>
    <p:embeddedFont>
      <p:font typeface="Martel Sans"/>
      <p:regular r:id="rId36"/>
    </p:embeddedFont>
    <p:embeddedFont>
      <p:font typeface="Martel Sans"/>
      <p:regular r:id="rId3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font" Target="fonts/font1.fntdata"/><Relationship Id="rId33" Type="http://schemas.openxmlformats.org/officeDocument/2006/relationships/font" Target="fonts/font2.fntdata"/><Relationship Id="rId34" Type="http://schemas.openxmlformats.org/officeDocument/2006/relationships/font" Target="fonts/font3.fntdata"/><Relationship Id="rId35" Type="http://schemas.openxmlformats.org/officeDocument/2006/relationships/font" Target="fonts/font4.fntdata"/><Relationship Id="rId36" Type="http://schemas.openxmlformats.org/officeDocument/2006/relationships/font" Target="fonts/font5.fntdata"/><Relationship Id="rId37"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24.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5.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www.tensorflow.org/docs" TargetMode="External"/><Relationship Id="rId2" Type="http://schemas.openxmlformats.org/officeDocument/2006/relationships/hyperlink" Target="https://keras.io/documentation/" TargetMode="External"/><Relationship Id="rId3" Type="http://schemas.openxmlformats.org/officeDocument/2006/relationships/hyperlink" Target="https://cs231n.github.io/" TargetMode="External"/><Relationship Id="rId4" Type="http://schemas.openxmlformats.org/officeDocument/2006/relationships/hyperlink" Target="https://pytorch.org/tutorials/" TargetMode="External"/><Relationship Id="rId5" Type="http://schemas.openxmlformats.org/officeDocument/2006/relationships/slideLayout" Target="../slideLayouts/slideLayout26.xml"/><Relationship Id="rId6"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596753"/>
            <a:ext cx="13042821" cy="1240155"/>
          </a:xfrm>
          <a:prstGeom prst="rect">
            <a:avLst/>
          </a:prstGeom>
          <a:noFill/>
          <a:ln/>
        </p:spPr>
        <p:txBody>
          <a:bodyPr wrap="squar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Pengenalan Jaringan Saraf Tiruan (JST) untuk Computer Vision</a:t>
            </a:r>
            <a:endParaRPr lang="en-US" sz="3900" dirty="0"/>
          </a:p>
        </p:txBody>
      </p:sp>
      <p:sp>
        <p:nvSpPr>
          <p:cNvPr id="3" name="Text 1"/>
          <p:cNvSpPr/>
          <p:nvPr/>
        </p:nvSpPr>
        <p:spPr>
          <a:xfrm>
            <a:off x="793790" y="4233743"/>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Matakuliah: Advanced Computer Vision</a:t>
            </a:r>
            <a:endParaRPr lang="en-US" sz="1550" dirty="0"/>
          </a:p>
        </p:txBody>
      </p:sp>
      <p:sp>
        <p:nvSpPr>
          <p:cNvPr id="4" name="Text 2"/>
          <p:cNvSpPr/>
          <p:nvPr/>
        </p:nvSpPr>
        <p:spPr>
          <a:xfrm>
            <a:off x="793790" y="477452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Program Studi Teknik Informatika S-2</a:t>
            </a:r>
            <a:endParaRPr lang="en-US" sz="1550" dirty="0"/>
          </a:p>
        </p:txBody>
      </p:sp>
      <p:sp>
        <p:nvSpPr>
          <p:cNvPr id="5" name="Text 3"/>
          <p:cNvSpPr/>
          <p:nvPr/>
        </p:nvSpPr>
        <p:spPr>
          <a:xfrm>
            <a:off x="793790" y="5315307"/>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Pertemuan 4</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27798"/>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Agenda Pembelajaran</a:t>
            </a:r>
            <a:endParaRPr lang="en-US" sz="3900" dirty="0"/>
          </a:p>
        </p:txBody>
      </p:sp>
      <p:sp>
        <p:nvSpPr>
          <p:cNvPr id="3" name="Shape 1"/>
          <p:cNvSpPr/>
          <p:nvPr/>
        </p:nvSpPr>
        <p:spPr>
          <a:xfrm>
            <a:off x="793790" y="2742367"/>
            <a:ext cx="6422231" cy="1781651"/>
          </a:xfrm>
          <a:prstGeom prst="roundRect">
            <a:avLst>
              <a:gd name="adj" fmla="val 6159"/>
            </a:avLst>
          </a:prstGeom>
          <a:solidFill>
            <a:srgbClr val="FFFFFF"/>
          </a:solidFill>
          <a:ln/>
        </p:spPr>
      </p:sp>
      <p:sp>
        <p:nvSpPr>
          <p:cNvPr id="4" name="Shape 2"/>
          <p:cNvSpPr/>
          <p:nvPr/>
        </p:nvSpPr>
        <p:spPr>
          <a:xfrm>
            <a:off x="793790" y="2719507"/>
            <a:ext cx="6422231" cy="91440"/>
          </a:xfrm>
          <a:prstGeom prst="roundRect">
            <a:avLst>
              <a:gd name="adj" fmla="val 91163"/>
            </a:avLst>
          </a:prstGeom>
          <a:solidFill>
            <a:srgbClr val="437066"/>
          </a:solidFill>
          <a:ln/>
        </p:spPr>
      </p:sp>
      <p:sp>
        <p:nvSpPr>
          <p:cNvPr id="5" name="Shape 3"/>
          <p:cNvSpPr/>
          <p:nvPr/>
        </p:nvSpPr>
        <p:spPr>
          <a:xfrm>
            <a:off x="3707249" y="2444710"/>
            <a:ext cx="595313" cy="595313"/>
          </a:xfrm>
          <a:prstGeom prst="roundRect">
            <a:avLst>
              <a:gd name="adj" fmla="val 153600"/>
            </a:avLst>
          </a:prstGeom>
          <a:solidFill>
            <a:srgbClr val="437066"/>
          </a:solidFill>
          <a:ln/>
        </p:spPr>
      </p:sp>
      <p:sp>
        <p:nvSpPr>
          <p:cNvPr id="6" name="Text 4"/>
          <p:cNvSpPr/>
          <p:nvPr/>
        </p:nvSpPr>
        <p:spPr>
          <a:xfrm>
            <a:off x="3885843" y="2593538"/>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1</a:t>
            </a:r>
            <a:endParaRPr lang="en-US" sz="1850" dirty="0"/>
          </a:p>
        </p:txBody>
      </p:sp>
      <p:sp>
        <p:nvSpPr>
          <p:cNvPr id="7" name="Text 5"/>
          <p:cNvSpPr/>
          <p:nvPr/>
        </p:nvSpPr>
        <p:spPr>
          <a:xfrm>
            <a:off x="1015008" y="3238500"/>
            <a:ext cx="3849648"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Konsep Dasar Jaringan Saraf Tiruan</a:t>
            </a:r>
            <a:endParaRPr lang="en-US" sz="1950" dirty="0"/>
          </a:p>
        </p:txBody>
      </p:sp>
      <p:sp>
        <p:nvSpPr>
          <p:cNvPr id="8" name="Text 6"/>
          <p:cNvSpPr/>
          <p:nvPr/>
        </p:nvSpPr>
        <p:spPr>
          <a:xfrm>
            <a:off x="1015008" y="3667720"/>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Pengertian, struktur, dan mekanisme dasar JST dalam konteks pengolahan citra</a:t>
            </a:r>
            <a:endParaRPr lang="en-US" sz="1550" dirty="0"/>
          </a:p>
        </p:txBody>
      </p:sp>
      <p:sp>
        <p:nvSpPr>
          <p:cNvPr id="9" name="Shape 7"/>
          <p:cNvSpPr/>
          <p:nvPr/>
        </p:nvSpPr>
        <p:spPr>
          <a:xfrm>
            <a:off x="7414379" y="2742367"/>
            <a:ext cx="6422231" cy="1781651"/>
          </a:xfrm>
          <a:prstGeom prst="roundRect">
            <a:avLst>
              <a:gd name="adj" fmla="val 6159"/>
            </a:avLst>
          </a:prstGeom>
          <a:solidFill>
            <a:srgbClr val="FFFFFF"/>
          </a:solidFill>
          <a:ln/>
        </p:spPr>
      </p:sp>
      <p:sp>
        <p:nvSpPr>
          <p:cNvPr id="10" name="Shape 8"/>
          <p:cNvSpPr/>
          <p:nvPr/>
        </p:nvSpPr>
        <p:spPr>
          <a:xfrm>
            <a:off x="7414379" y="2719507"/>
            <a:ext cx="6422231" cy="91440"/>
          </a:xfrm>
          <a:prstGeom prst="roundRect">
            <a:avLst>
              <a:gd name="adj" fmla="val 91163"/>
            </a:avLst>
          </a:prstGeom>
          <a:solidFill>
            <a:srgbClr val="437066"/>
          </a:solidFill>
          <a:ln/>
        </p:spPr>
      </p:sp>
      <p:sp>
        <p:nvSpPr>
          <p:cNvPr id="11" name="Shape 9"/>
          <p:cNvSpPr/>
          <p:nvPr/>
        </p:nvSpPr>
        <p:spPr>
          <a:xfrm>
            <a:off x="10327838" y="2444710"/>
            <a:ext cx="595313" cy="595313"/>
          </a:xfrm>
          <a:prstGeom prst="roundRect">
            <a:avLst>
              <a:gd name="adj" fmla="val 153600"/>
            </a:avLst>
          </a:prstGeom>
          <a:solidFill>
            <a:srgbClr val="437066"/>
          </a:solidFill>
          <a:ln/>
        </p:spPr>
      </p:sp>
      <p:sp>
        <p:nvSpPr>
          <p:cNvPr id="12" name="Text 10"/>
          <p:cNvSpPr/>
          <p:nvPr/>
        </p:nvSpPr>
        <p:spPr>
          <a:xfrm>
            <a:off x="10506432" y="2593538"/>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2</a:t>
            </a:r>
            <a:endParaRPr lang="en-US" sz="1850" dirty="0"/>
          </a:p>
        </p:txBody>
      </p:sp>
      <p:sp>
        <p:nvSpPr>
          <p:cNvPr id="13" name="Text 11"/>
          <p:cNvSpPr/>
          <p:nvPr/>
        </p:nvSpPr>
        <p:spPr>
          <a:xfrm>
            <a:off x="7635597" y="3238500"/>
            <a:ext cx="4101822"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Arsitektur JST untuk Computer Vision</a:t>
            </a:r>
            <a:endParaRPr lang="en-US" sz="1950" dirty="0"/>
          </a:p>
        </p:txBody>
      </p:sp>
      <p:sp>
        <p:nvSpPr>
          <p:cNvPr id="14" name="Text 12"/>
          <p:cNvSpPr/>
          <p:nvPr/>
        </p:nvSpPr>
        <p:spPr>
          <a:xfrm>
            <a:off x="7635597" y="3667720"/>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Jenis-jenis arsitektur JST yang umum digunakan dalam pengenalan citra</a:t>
            </a:r>
            <a:endParaRPr lang="en-US" sz="1550" dirty="0"/>
          </a:p>
        </p:txBody>
      </p:sp>
      <p:sp>
        <p:nvSpPr>
          <p:cNvPr id="15" name="Shape 13"/>
          <p:cNvSpPr/>
          <p:nvPr/>
        </p:nvSpPr>
        <p:spPr>
          <a:xfrm>
            <a:off x="793790" y="5020032"/>
            <a:ext cx="6422231" cy="1781651"/>
          </a:xfrm>
          <a:prstGeom prst="roundRect">
            <a:avLst>
              <a:gd name="adj" fmla="val 6159"/>
            </a:avLst>
          </a:prstGeom>
          <a:solidFill>
            <a:srgbClr val="FFFFFF"/>
          </a:solidFill>
          <a:ln/>
        </p:spPr>
      </p:sp>
      <p:sp>
        <p:nvSpPr>
          <p:cNvPr id="16" name="Shape 14"/>
          <p:cNvSpPr/>
          <p:nvPr/>
        </p:nvSpPr>
        <p:spPr>
          <a:xfrm>
            <a:off x="793790" y="4997172"/>
            <a:ext cx="6422231" cy="91440"/>
          </a:xfrm>
          <a:prstGeom prst="roundRect">
            <a:avLst>
              <a:gd name="adj" fmla="val 91163"/>
            </a:avLst>
          </a:prstGeom>
          <a:solidFill>
            <a:srgbClr val="437066"/>
          </a:solidFill>
          <a:ln/>
        </p:spPr>
      </p:sp>
      <p:sp>
        <p:nvSpPr>
          <p:cNvPr id="17" name="Shape 15"/>
          <p:cNvSpPr/>
          <p:nvPr/>
        </p:nvSpPr>
        <p:spPr>
          <a:xfrm>
            <a:off x="3707249" y="4722376"/>
            <a:ext cx="595313" cy="595313"/>
          </a:xfrm>
          <a:prstGeom prst="roundRect">
            <a:avLst>
              <a:gd name="adj" fmla="val 153600"/>
            </a:avLst>
          </a:prstGeom>
          <a:solidFill>
            <a:srgbClr val="437066"/>
          </a:solidFill>
          <a:ln/>
        </p:spPr>
      </p:sp>
      <p:sp>
        <p:nvSpPr>
          <p:cNvPr id="18" name="Text 16"/>
          <p:cNvSpPr/>
          <p:nvPr/>
        </p:nvSpPr>
        <p:spPr>
          <a:xfrm>
            <a:off x="3885843" y="4871204"/>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3</a:t>
            </a:r>
            <a:endParaRPr lang="en-US" sz="1850" dirty="0"/>
          </a:p>
        </p:txBody>
      </p:sp>
      <p:sp>
        <p:nvSpPr>
          <p:cNvPr id="19" name="Text 17"/>
          <p:cNvSpPr/>
          <p:nvPr/>
        </p:nvSpPr>
        <p:spPr>
          <a:xfrm>
            <a:off x="1015008" y="5516166"/>
            <a:ext cx="3644027"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Implementasi JST dengan Python</a:t>
            </a:r>
            <a:endParaRPr lang="en-US" sz="1950" dirty="0"/>
          </a:p>
        </p:txBody>
      </p:sp>
      <p:sp>
        <p:nvSpPr>
          <p:cNvPr id="20" name="Text 18"/>
          <p:cNvSpPr/>
          <p:nvPr/>
        </p:nvSpPr>
        <p:spPr>
          <a:xfrm>
            <a:off x="1015008" y="5945386"/>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Penggunaan TensorFlow/Keras untuk membangun model JST sederhana</a:t>
            </a:r>
            <a:endParaRPr lang="en-US" sz="1550" dirty="0"/>
          </a:p>
        </p:txBody>
      </p:sp>
      <p:sp>
        <p:nvSpPr>
          <p:cNvPr id="21" name="Shape 19"/>
          <p:cNvSpPr/>
          <p:nvPr/>
        </p:nvSpPr>
        <p:spPr>
          <a:xfrm>
            <a:off x="7414379" y="5020032"/>
            <a:ext cx="6422231" cy="1781651"/>
          </a:xfrm>
          <a:prstGeom prst="roundRect">
            <a:avLst>
              <a:gd name="adj" fmla="val 6159"/>
            </a:avLst>
          </a:prstGeom>
          <a:solidFill>
            <a:srgbClr val="FFFFFF"/>
          </a:solidFill>
          <a:ln/>
        </p:spPr>
      </p:sp>
      <p:sp>
        <p:nvSpPr>
          <p:cNvPr id="22" name="Shape 20"/>
          <p:cNvSpPr/>
          <p:nvPr/>
        </p:nvSpPr>
        <p:spPr>
          <a:xfrm>
            <a:off x="7414379" y="4997172"/>
            <a:ext cx="6422231" cy="91440"/>
          </a:xfrm>
          <a:prstGeom prst="roundRect">
            <a:avLst>
              <a:gd name="adj" fmla="val 91163"/>
            </a:avLst>
          </a:prstGeom>
          <a:solidFill>
            <a:srgbClr val="437066"/>
          </a:solidFill>
          <a:ln/>
        </p:spPr>
      </p:sp>
      <p:sp>
        <p:nvSpPr>
          <p:cNvPr id="23" name="Shape 21"/>
          <p:cNvSpPr/>
          <p:nvPr/>
        </p:nvSpPr>
        <p:spPr>
          <a:xfrm>
            <a:off x="10327838" y="4722376"/>
            <a:ext cx="595313" cy="595313"/>
          </a:xfrm>
          <a:prstGeom prst="roundRect">
            <a:avLst>
              <a:gd name="adj" fmla="val 153600"/>
            </a:avLst>
          </a:prstGeom>
          <a:solidFill>
            <a:srgbClr val="437066"/>
          </a:solidFill>
          <a:ln/>
        </p:spPr>
      </p:sp>
      <p:sp>
        <p:nvSpPr>
          <p:cNvPr id="24" name="Text 22"/>
          <p:cNvSpPr/>
          <p:nvPr/>
        </p:nvSpPr>
        <p:spPr>
          <a:xfrm>
            <a:off x="10506432" y="4871204"/>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4</a:t>
            </a:r>
            <a:endParaRPr lang="en-US" sz="1850" dirty="0"/>
          </a:p>
        </p:txBody>
      </p:sp>
      <p:sp>
        <p:nvSpPr>
          <p:cNvPr id="25" name="Text 23"/>
          <p:cNvSpPr/>
          <p:nvPr/>
        </p:nvSpPr>
        <p:spPr>
          <a:xfrm>
            <a:off x="7635597" y="5516166"/>
            <a:ext cx="3599140"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Latihan Klasifikasi Dataset MNIST</a:t>
            </a:r>
            <a:endParaRPr lang="en-US" sz="1950" dirty="0"/>
          </a:p>
        </p:txBody>
      </p:sp>
      <p:sp>
        <p:nvSpPr>
          <p:cNvPr id="26" name="Text 24"/>
          <p:cNvSpPr/>
          <p:nvPr/>
        </p:nvSpPr>
        <p:spPr>
          <a:xfrm>
            <a:off x="7635597" y="5945386"/>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Praktik langsung membangun dan melatih model JST untuk klasifikasi digit</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022396"/>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Capaian Pembelajaran</a:t>
            </a:r>
            <a:endParaRPr lang="en-US" sz="3900" dirty="0"/>
          </a:p>
        </p:txBody>
      </p:sp>
      <p:sp>
        <p:nvSpPr>
          <p:cNvPr id="3" name="Shape 1"/>
          <p:cNvSpPr/>
          <p:nvPr/>
        </p:nvSpPr>
        <p:spPr>
          <a:xfrm>
            <a:off x="793790" y="3163372"/>
            <a:ext cx="446484" cy="446484"/>
          </a:xfrm>
          <a:prstGeom prst="roundRect">
            <a:avLst>
              <a:gd name="adj" fmla="val 18670"/>
            </a:avLst>
          </a:prstGeom>
          <a:solidFill>
            <a:srgbClr val="DFECE9"/>
          </a:solidFill>
          <a:ln w="7620">
            <a:solidFill>
              <a:srgbClr val="C5D2CF"/>
            </a:solidFill>
            <a:prstDash val="solid"/>
          </a:ln>
        </p:spPr>
      </p:sp>
      <p:sp>
        <p:nvSpPr>
          <p:cNvPr id="4" name="Text 2"/>
          <p:cNvSpPr/>
          <p:nvPr/>
        </p:nvSpPr>
        <p:spPr>
          <a:xfrm>
            <a:off x="1438632" y="323159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Kognitif</a:t>
            </a:r>
            <a:endParaRPr lang="en-US" sz="1950" dirty="0"/>
          </a:p>
        </p:txBody>
      </p:sp>
      <p:sp>
        <p:nvSpPr>
          <p:cNvPr id="5" name="Text 3"/>
          <p:cNvSpPr/>
          <p:nvPr/>
        </p:nvSpPr>
        <p:spPr>
          <a:xfrm>
            <a:off x="1438632" y="3740110"/>
            <a:ext cx="5634514"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Memahami konsep dasar jaringan saraf tiruan (JST) dalam konteks computer vision</a:t>
            </a:r>
            <a:endParaRPr lang="en-US" sz="1550" dirty="0"/>
          </a:p>
        </p:txBody>
      </p:sp>
      <p:sp>
        <p:nvSpPr>
          <p:cNvPr id="6" name="Shape 4"/>
          <p:cNvSpPr/>
          <p:nvPr/>
        </p:nvSpPr>
        <p:spPr>
          <a:xfrm>
            <a:off x="793790" y="4772025"/>
            <a:ext cx="446484" cy="446484"/>
          </a:xfrm>
          <a:prstGeom prst="roundRect">
            <a:avLst>
              <a:gd name="adj" fmla="val 18670"/>
            </a:avLst>
          </a:prstGeom>
          <a:solidFill>
            <a:srgbClr val="DFECE9"/>
          </a:solidFill>
          <a:ln w="7620">
            <a:solidFill>
              <a:srgbClr val="C5D2CF"/>
            </a:solidFill>
            <a:prstDash val="solid"/>
          </a:ln>
        </p:spPr>
      </p:sp>
      <p:sp>
        <p:nvSpPr>
          <p:cNvPr id="7" name="Text 5"/>
          <p:cNvSpPr/>
          <p:nvPr/>
        </p:nvSpPr>
        <p:spPr>
          <a:xfrm>
            <a:off x="1438632" y="484024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Psikomotorik</a:t>
            </a:r>
            <a:endParaRPr lang="en-US" sz="1950" dirty="0"/>
          </a:p>
        </p:txBody>
      </p:sp>
      <p:sp>
        <p:nvSpPr>
          <p:cNvPr id="8" name="Text 6"/>
          <p:cNvSpPr/>
          <p:nvPr/>
        </p:nvSpPr>
        <p:spPr>
          <a:xfrm>
            <a:off x="1438632" y="5348764"/>
            <a:ext cx="5634514"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Mampu membuat program Python sederhana untuk pengenalan citra digital berbasis JST</a:t>
            </a:r>
            <a:endParaRPr lang="en-US" sz="1550" dirty="0"/>
          </a:p>
        </p:txBody>
      </p:sp>
      <p:sp>
        <p:nvSpPr>
          <p:cNvPr id="9" name="Text 7"/>
          <p:cNvSpPr/>
          <p:nvPr/>
        </p:nvSpPr>
        <p:spPr>
          <a:xfrm>
            <a:off x="7862530" y="3163372"/>
            <a:ext cx="5981700"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Mahasiswa akan mampu mengaplikasikan pengetahuan tentang JST untuk memecahkan masalah pengenalan pola dalam citra digital melalui implementasi praktis menggunakan Python dan library modern seperti TensorFlow/Keras.</a:t>
            </a:r>
            <a:endParaRPr lang="en-US" sz="1550" dirty="0"/>
          </a:p>
        </p:txBody>
      </p:sp>
      <p:sp>
        <p:nvSpPr>
          <p:cNvPr id="10" name="Shape 8"/>
          <p:cNvSpPr/>
          <p:nvPr/>
        </p:nvSpPr>
        <p:spPr>
          <a:xfrm>
            <a:off x="7564874" y="3163372"/>
            <a:ext cx="22860" cy="1270159"/>
          </a:xfrm>
          <a:prstGeom prst="rect">
            <a:avLst/>
          </a:prstGeom>
          <a:solidFill>
            <a:srgbClr val="437066"/>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41026"/>
            <a:ext cx="830187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Pengertian Jaringan Saraf Tiruan (JST)</a:t>
            </a:r>
            <a:endParaRPr lang="en-US" sz="3900" dirty="0"/>
          </a:p>
        </p:txBody>
      </p:sp>
      <p:sp>
        <p:nvSpPr>
          <p:cNvPr id="3" name="Text 1"/>
          <p:cNvSpPr/>
          <p:nvPr/>
        </p:nvSpPr>
        <p:spPr>
          <a:xfrm>
            <a:off x="793790" y="2557939"/>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Jaringan Saraf Tiruan (JST) atau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Artificial Neural Network</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(ANN) adalah model komputasi yang terinspirasi dari struktur dan fungsi jaringan saraf biologis dalam otak manusia.</a:t>
            </a:r>
            <a:endParaRPr lang="en-US" sz="1550" dirty="0"/>
          </a:p>
        </p:txBody>
      </p:sp>
      <p:sp>
        <p:nvSpPr>
          <p:cNvPr id="4" name="Shape 2"/>
          <p:cNvSpPr/>
          <p:nvPr/>
        </p:nvSpPr>
        <p:spPr>
          <a:xfrm>
            <a:off x="793790" y="3416260"/>
            <a:ext cx="4215289" cy="3272195"/>
          </a:xfrm>
          <a:prstGeom prst="roundRect">
            <a:avLst>
              <a:gd name="adj" fmla="val 2548"/>
            </a:avLst>
          </a:prstGeom>
          <a:solidFill>
            <a:srgbClr val="DFECE9"/>
          </a:solidFill>
          <a:ln w="7620">
            <a:solidFill>
              <a:srgbClr val="C5D2CF"/>
            </a:solidFill>
            <a:prstDash val="solid"/>
          </a:ln>
        </p:spPr>
      </p:sp>
      <p:sp>
        <p:nvSpPr>
          <p:cNvPr id="5" name="Text 3"/>
          <p:cNvSpPr/>
          <p:nvPr/>
        </p:nvSpPr>
        <p:spPr>
          <a:xfrm>
            <a:off x="999768" y="362223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Definisi</a:t>
            </a:r>
            <a:endParaRPr lang="en-US" sz="1950" dirty="0"/>
          </a:p>
        </p:txBody>
      </p:sp>
      <p:sp>
        <p:nvSpPr>
          <p:cNvPr id="6" name="Text 4"/>
          <p:cNvSpPr/>
          <p:nvPr/>
        </p:nvSpPr>
        <p:spPr>
          <a:xfrm>
            <a:off x="999768" y="4051459"/>
            <a:ext cx="3803333" cy="158769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Sistem pemrosesan informasi yang memiliki karakteristik mirip dengan jaringan saraf biologis, terdiri dari sejumlah unit pemroses sederhana yang saling terhubung.</a:t>
            </a:r>
            <a:endParaRPr lang="en-US" sz="1550" dirty="0"/>
          </a:p>
        </p:txBody>
      </p:sp>
      <p:sp>
        <p:nvSpPr>
          <p:cNvPr id="7" name="Shape 5"/>
          <p:cNvSpPr/>
          <p:nvPr/>
        </p:nvSpPr>
        <p:spPr>
          <a:xfrm>
            <a:off x="5207437" y="3416260"/>
            <a:ext cx="4215408" cy="3272195"/>
          </a:xfrm>
          <a:prstGeom prst="roundRect">
            <a:avLst>
              <a:gd name="adj" fmla="val 2548"/>
            </a:avLst>
          </a:prstGeom>
          <a:solidFill>
            <a:srgbClr val="DFECE9"/>
          </a:solidFill>
          <a:ln w="7620">
            <a:solidFill>
              <a:srgbClr val="C5D2CF"/>
            </a:solidFill>
            <a:prstDash val="solid"/>
          </a:ln>
        </p:spPr>
      </p:sp>
      <p:sp>
        <p:nvSpPr>
          <p:cNvPr id="8" name="Text 6"/>
          <p:cNvSpPr/>
          <p:nvPr/>
        </p:nvSpPr>
        <p:spPr>
          <a:xfrm>
            <a:off x="5413415" y="362223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Karakteristik Utama</a:t>
            </a:r>
            <a:endParaRPr lang="en-US" sz="1950" dirty="0"/>
          </a:p>
        </p:txBody>
      </p:sp>
      <p:sp>
        <p:nvSpPr>
          <p:cNvPr id="9" name="Text 7"/>
          <p:cNvSpPr/>
          <p:nvPr/>
        </p:nvSpPr>
        <p:spPr>
          <a:xfrm>
            <a:off x="5413415" y="4051459"/>
            <a:ext cx="3803452"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Kemampuan belajar dari data (learning)</a:t>
            </a:r>
            <a:endParaRPr lang="en-US" sz="1550" dirty="0"/>
          </a:p>
        </p:txBody>
      </p:sp>
      <p:sp>
        <p:nvSpPr>
          <p:cNvPr id="10" name="Text 8"/>
          <p:cNvSpPr/>
          <p:nvPr/>
        </p:nvSpPr>
        <p:spPr>
          <a:xfrm>
            <a:off x="5413415" y="4755952"/>
            <a:ext cx="3803452"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Kemampuan menggeneralisasi (generalization)</a:t>
            </a:r>
            <a:endParaRPr lang="en-US" sz="1550" dirty="0"/>
          </a:p>
        </p:txBody>
      </p:sp>
      <p:sp>
        <p:nvSpPr>
          <p:cNvPr id="11" name="Text 9"/>
          <p:cNvSpPr/>
          <p:nvPr/>
        </p:nvSpPr>
        <p:spPr>
          <a:xfrm>
            <a:off x="5413415" y="5460444"/>
            <a:ext cx="3803452"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Toleransi terhadap kesalahan (fault tolerance)</a:t>
            </a:r>
            <a:endParaRPr lang="en-US" sz="1550" dirty="0"/>
          </a:p>
        </p:txBody>
      </p:sp>
      <p:sp>
        <p:nvSpPr>
          <p:cNvPr id="12" name="Text 10"/>
          <p:cNvSpPr/>
          <p:nvPr/>
        </p:nvSpPr>
        <p:spPr>
          <a:xfrm>
            <a:off x="5413415" y="6164937"/>
            <a:ext cx="3803452"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Komputasi paralel</a:t>
            </a:r>
            <a:endParaRPr lang="en-US" sz="1550" dirty="0"/>
          </a:p>
        </p:txBody>
      </p:sp>
      <p:sp>
        <p:nvSpPr>
          <p:cNvPr id="13" name="Shape 11"/>
          <p:cNvSpPr/>
          <p:nvPr/>
        </p:nvSpPr>
        <p:spPr>
          <a:xfrm>
            <a:off x="9621203" y="3416260"/>
            <a:ext cx="4215289" cy="3272195"/>
          </a:xfrm>
          <a:prstGeom prst="roundRect">
            <a:avLst>
              <a:gd name="adj" fmla="val 2548"/>
            </a:avLst>
          </a:prstGeom>
          <a:solidFill>
            <a:srgbClr val="DFECE9"/>
          </a:solidFill>
          <a:ln w="7620">
            <a:solidFill>
              <a:srgbClr val="C5D2CF"/>
            </a:solidFill>
            <a:prstDash val="solid"/>
          </a:ln>
        </p:spPr>
      </p:sp>
      <p:sp>
        <p:nvSpPr>
          <p:cNvPr id="14" name="Text 12"/>
          <p:cNvSpPr/>
          <p:nvPr/>
        </p:nvSpPr>
        <p:spPr>
          <a:xfrm>
            <a:off x="9827181" y="3622238"/>
            <a:ext cx="3718203"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Kelebihan dalam Computer Vision</a:t>
            </a:r>
            <a:endParaRPr lang="en-US" sz="1950" dirty="0"/>
          </a:p>
        </p:txBody>
      </p:sp>
      <p:sp>
        <p:nvSpPr>
          <p:cNvPr id="15" name="Text 13"/>
          <p:cNvSpPr/>
          <p:nvPr/>
        </p:nvSpPr>
        <p:spPr>
          <a:xfrm>
            <a:off x="9827181" y="4051459"/>
            <a:ext cx="3803333"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Mampu mengenali pola kompleks dalam citra</a:t>
            </a:r>
            <a:endParaRPr lang="en-US" sz="1550" dirty="0"/>
          </a:p>
        </p:txBody>
      </p:sp>
      <p:sp>
        <p:nvSpPr>
          <p:cNvPr id="16" name="Text 14"/>
          <p:cNvSpPr/>
          <p:nvPr/>
        </p:nvSpPr>
        <p:spPr>
          <a:xfrm>
            <a:off x="9827181" y="4755952"/>
            <a:ext cx="3803333"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Robust terhadap noise dan variasi dalam data</a:t>
            </a:r>
            <a:endParaRPr lang="en-US" sz="1550" dirty="0"/>
          </a:p>
        </p:txBody>
      </p:sp>
      <p:sp>
        <p:nvSpPr>
          <p:cNvPr id="17" name="Text 15"/>
          <p:cNvSpPr/>
          <p:nvPr/>
        </p:nvSpPr>
        <p:spPr>
          <a:xfrm>
            <a:off x="9827181" y="5460444"/>
            <a:ext cx="3803333"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Adaptif terhadap perubahan distribusi data</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8424" y="500777"/>
            <a:ext cx="7212330" cy="569119"/>
          </a:xfrm>
          <a:prstGeom prst="rect">
            <a:avLst/>
          </a:prstGeom>
          <a:noFill/>
          <a:ln/>
        </p:spPr>
        <p:txBody>
          <a:bodyPr wrap="none" lIns="0" tIns="0" rIns="0" bIns="0" rtlCol="0" anchor="t"/>
          <a:lstStyle/>
          <a:p>
            <a:pPr algn="l" indent="0" marL="0">
              <a:lnSpc>
                <a:spcPts val="4450"/>
              </a:lnSpc>
              <a:buNone/>
            </a:pPr>
            <a:r>
              <a:rPr lang="en-US" sz="3550" dirty="0">
                <a:solidFill>
                  <a:srgbClr val="272D45"/>
                </a:solidFill>
                <a:latin typeface="Kanit Light" pitchFamily="34" charset="0"/>
                <a:ea typeface="Kanit Light" pitchFamily="34" charset="-122"/>
                <a:cs typeface="Kanit Light" pitchFamily="34" charset="-120"/>
              </a:rPr>
              <a:t>Struktur Dasar Jaringan Saraf Tiruan</a:t>
            </a:r>
            <a:endParaRPr lang="en-US" sz="3550" dirty="0"/>
          </a:p>
        </p:txBody>
      </p:sp>
      <p:pic>
        <p:nvPicPr>
          <p:cNvPr id="3" name="Image 0" descr="preencoded.png">    </p:cNvPr>
          <p:cNvPicPr>
            <a:picLocks noChangeAspect="1"/>
          </p:cNvPicPr>
          <p:nvPr/>
        </p:nvPicPr>
        <p:blipFill>
          <a:blip r:embed="rId1"/>
          <a:stretch>
            <a:fillRect/>
          </a:stretch>
        </p:blipFill>
        <p:spPr>
          <a:xfrm>
            <a:off x="1951434" y="1434108"/>
            <a:ext cx="10727412" cy="5741194"/>
          </a:xfrm>
          <a:prstGeom prst="rect">
            <a:avLst/>
          </a:prstGeom>
        </p:spPr>
      </p:pic>
      <p:sp>
        <p:nvSpPr>
          <p:cNvPr id="4" name="Text 1"/>
          <p:cNvSpPr/>
          <p:nvPr/>
        </p:nvSpPr>
        <p:spPr>
          <a:xfrm>
            <a:off x="6906767" y="1977299"/>
            <a:ext cx="2963998" cy="370500"/>
          </a:xfrm>
          <a:prstGeom prst="rect">
            <a:avLst/>
          </a:prstGeom>
          <a:noFill/>
          <a:ln/>
        </p:spPr>
        <p:txBody>
          <a:bodyPr wrap="none" lIns="0" tIns="0" rIns="0" bIns="0" rtlCol="0" anchor="t"/>
          <a:lstStyle/>
          <a:p>
            <a:pPr algn="l" indent="0" marL="0">
              <a:lnSpc>
                <a:spcPts val="1650"/>
              </a:lnSpc>
              <a:buNone/>
            </a:pPr>
            <a:r>
              <a:rPr lang="en-US" sz="1350" dirty="0">
                <a:solidFill>
                  <a:srgbClr val="2C3249"/>
                </a:solidFill>
                <a:latin typeface="Kanit Light" pitchFamily="34" charset="0"/>
                <a:ea typeface="Kanit Light" pitchFamily="34" charset="-122"/>
                <a:cs typeface="Kanit Light" pitchFamily="34" charset="-120"/>
              </a:rPr>
              <a:t>Lapisan Input</a:t>
            </a:r>
            <a:endParaRPr lang="en-US" sz="1350" dirty="0"/>
          </a:p>
        </p:txBody>
      </p:sp>
      <p:pic>
        <p:nvPicPr>
          <p:cNvPr id="5" name="Image 1" descr="preencoded.png">    </p:cNvPr>
          <p:cNvPicPr>
            <a:picLocks noChangeAspect="1"/>
          </p:cNvPicPr>
          <p:nvPr/>
        </p:nvPicPr>
        <p:blipFill>
          <a:blip r:embed="rId2"/>
          <a:stretch>
            <a:fillRect/>
          </a:stretch>
        </p:blipFill>
        <p:spPr>
          <a:xfrm>
            <a:off x="6215168" y="2037403"/>
            <a:ext cx="263466" cy="263466"/>
          </a:xfrm>
          <a:prstGeom prst="rect">
            <a:avLst/>
          </a:prstGeom>
        </p:spPr>
      </p:pic>
      <p:sp>
        <p:nvSpPr>
          <p:cNvPr id="6" name="Text 2"/>
          <p:cNvSpPr/>
          <p:nvPr/>
        </p:nvSpPr>
        <p:spPr>
          <a:xfrm>
            <a:off x="6906767" y="3031165"/>
            <a:ext cx="2963998" cy="370499"/>
          </a:xfrm>
          <a:prstGeom prst="rect">
            <a:avLst/>
          </a:prstGeom>
          <a:noFill/>
          <a:ln/>
        </p:spPr>
        <p:txBody>
          <a:bodyPr wrap="none" lIns="0" tIns="0" rIns="0" bIns="0" rtlCol="0" anchor="t"/>
          <a:lstStyle/>
          <a:p>
            <a:pPr algn="l" indent="0" marL="0">
              <a:lnSpc>
                <a:spcPts val="1650"/>
              </a:lnSpc>
              <a:buNone/>
            </a:pPr>
            <a:r>
              <a:rPr lang="en-US" sz="1350" dirty="0">
                <a:solidFill>
                  <a:srgbClr val="2C3249"/>
                </a:solidFill>
                <a:latin typeface="Kanit Light" pitchFamily="34" charset="0"/>
                <a:ea typeface="Kanit Light" pitchFamily="34" charset="-122"/>
                <a:cs typeface="Kanit Light" pitchFamily="34" charset="-120"/>
              </a:rPr>
              <a:t>Lapisan Tersembunyi</a:t>
            </a:r>
            <a:endParaRPr lang="en-US" sz="1350" dirty="0"/>
          </a:p>
        </p:txBody>
      </p:sp>
      <p:pic>
        <p:nvPicPr>
          <p:cNvPr id="7" name="Image 2" descr="preencoded.png">    </p:cNvPr>
          <p:cNvPicPr>
            <a:picLocks noChangeAspect="1"/>
          </p:cNvPicPr>
          <p:nvPr/>
        </p:nvPicPr>
        <p:blipFill>
          <a:blip r:embed="rId3"/>
          <a:stretch>
            <a:fillRect/>
          </a:stretch>
        </p:blipFill>
        <p:spPr>
          <a:xfrm>
            <a:off x="6215168" y="3091269"/>
            <a:ext cx="263466" cy="263466"/>
          </a:xfrm>
          <a:prstGeom prst="rect">
            <a:avLst/>
          </a:prstGeom>
        </p:spPr>
      </p:pic>
      <p:sp>
        <p:nvSpPr>
          <p:cNvPr id="8" name="Text 3"/>
          <p:cNvSpPr/>
          <p:nvPr/>
        </p:nvSpPr>
        <p:spPr>
          <a:xfrm>
            <a:off x="6906767" y="4085031"/>
            <a:ext cx="2963998" cy="370500"/>
          </a:xfrm>
          <a:prstGeom prst="rect">
            <a:avLst/>
          </a:prstGeom>
          <a:noFill/>
          <a:ln/>
        </p:spPr>
        <p:txBody>
          <a:bodyPr wrap="none" lIns="0" tIns="0" rIns="0" bIns="0" rtlCol="0" anchor="t"/>
          <a:lstStyle/>
          <a:p>
            <a:pPr algn="l" indent="0" marL="0">
              <a:lnSpc>
                <a:spcPts val="1650"/>
              </a:lnSpc>
              <a:buNone/>
            </a:pPr>
            <a:r>
              <a:rPr lang="en-US" sz="1350" dirty="0">
                <a:solidFill>
                  <a:srgbClr val="2C3249"/>
                </a:solidFill>
                <a:latin typeface="Kanit Light" pitchFamily="34" charset="0"/>
                <a:ea typeface="Kanit Light" pitchFamily="34" charset="-122"/>
                <a:cs typeface="Kanit Light" pitchFamily="34" charset="-120"/>
              </a:rPr>
              <a:t>Lapisan Output</a:t>
            </a:r>
            <a:endParaRPr lang="en-US" sz="1350" dirty="0"/>
          </a:p>
        </p:txBody>
      </p:sp>
      <p:pic>
        <p:nvPicPr>
          <p:cNvPr id="9" name="Image 3" descr="preencoded.png">    </p:cNvPr>
          <p:cNvPicPr>
            <a:picLocks noChangeAspect="1"/>
          </p:cNvPicPr>
          <p:nvPr/>
        </p:nvPicPr>
        <p:blipFill>
          <a:blip r:embed="rId4"/>
          <a:stretch>
            <a:fillRect/>
          </a:stretch>
        </p:blipFill>
        <p:spPr>
          <a:xfrm>
            <a:off x="6215168" y="4145134"/>
            <a:ext cx="263466" cy="263467"/>
          </a:xfrm>
          <a:prstGeom prst="rect">
            <a:avLst/>
          </a:prstGeom>
        </p:spPr>
      </p:pic>
      <p:sp>
        <p:nvSpPr>
          <p:cNvPr id="10" name="Text 4"/>
          <p:cNvSpPr/>
          <p:nvPr/>
        </p:nvSpPr>
        <p:spPr>
          <a:xfrm>
            <a:off x="728424" y="7380089"/>
            <a:ext cx="13173551" cy="874395"/>
          </a:xfrm>
          <a:prstGeom prst="rect">
            <a:avLst/>
          </a:prstGeom>
          <a:noFill/>
          <a:ln/>
        </p:spPr>
        <p:txBody>
          <a:bodyPr wrap="square" lIns="0" tIns="0" rIns="0" bIns="0" rtlCol="0" anchor="t"/>
          <a:lstStyle/>
          <a:p>
            <a:pPr algn="l" indent="0" marL="0">
              <a:lnSpc>
                <a:spcPts val="2250"/>
              </a:lnSpc>
              <a:buNone/>
            </a:pPr>
            <a:r>
              <a:rPr lang="en-US" sz="1400" dirty="0">
                <a:solidFill>
                  <a:srgbClr val="2C3249"/>
                </a:solidFill>
                <a:latin typeface="Martel Sans" pitchFamily="34" charset="0"/>
                <a:ea typeface="Martel Sans" pitchFamily="34" charset="-122"/>
                <a:cs typeface="Martel Sans" pitchFamily="34" charset="-120"/>
              </a:rPr>
              <a:t>Jaringan saraf tiruan terdiri dari neuron-neuron buatan yang saling terhubung. Setiap neuron menerima input, memprosesnya menggunakan fungsi aktivasi, dan menghasilkan output. Neuron-neuron ini disusun dalam lapisan-lapisan yang saling terhubung, membentuk arsitektur jaringan yang dapat dilatih untuk mengenali pola.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682829"/>
            <a:ext cx="7360682"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Komponen Utama Neuron Buatan</a:t>
            </a:r>
            <a:endParaRPr lang="en-US" sz="3900" dirty="0"/>
          </a:p>
        </p:txBody>
      </p:sp>
      <p:sp>
        <p:nvSpPr>
          <p:cNvPr id="3" name="Shape 1"/>
          <p:cNvSpPr/>
          <p:nvPr/>
        </p:nvSpPr>
        <p:spPr>
          <a:xfrm>
            <a:off x="793790" y="2699742"/>
            <a:ext cx="4215289" cy="2141815"/>
          </a:xfrm>
          <a:prstGeom prst="roundRect">
            <a:avLst>
              <a:gd name="adj" fmla="val 5123"/>
            </a:avLst>
          </a:prstGeom>
          <a:solidFill>
            <a:srgbClr val="FFFFFF"/>
          </a:solidFill>
          <a:ln w="22860">
            <a:solidFill>
              <a:srgbClr val="C5D2CF"/>
            </a:solidFill>
            <a:prstDash val="solid"/>
          </a:ln>
        </p:spPr>
      </p:sp>
      <p:sp>
        <p:nvSpPr>
          <p:cNvPr id="4" name="Shape 2"/>
          <p:cNvSpPr/>
          <p:nvPr/>
        </p:nvSpPr>
        <p:spPr>
          <a:xfrm>
            <a:off x="770930" y="2699742"/>
            <a:ext cx="91440" cy="2141815"/>
          </a:xfrm>
          <a:prstGeom prst="roundRect">
            <a:avLst>
              <a:gd name="adj" fmla="val 91163"/>
            </a:avLst>
          </a:prstGeom>
          <a:solidFill>
            <a:srgbClr val="437066"/>
          </a:solidFill>
          <a:ln/>
        </p:spPr>
      </p:sp>
      <p:sp>
        <p:nvSpPr>
          <p:cNvPr id="5" name="Text 3"/>
          <p:cNvSpPr/>
          <p:nvPr/>
        </p:nvSpPr>
        <p:spPr>
          <a:xfrm>
            <a:off x="1083588" y="292096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Input (x)</a:t>
            </a:r>
            <a:endParaRPr lang="en-US" sz="1950" dirty="0"/>
          </a:p>
        </p:txBody>
      </p:sp>
      <p:sp>
        <p:nvSpPr>
          <p:cNvPr id="6" name="Text 4"/>
          <p:cNvSpPr/>
          <p:nvPr/>
        </p:nvSpPr>
        <p:spPr>
          <a:xfrm>
            <a:off x="1083588" y="3350181"/>
            <a:ext cx="3704273"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Sinyal masukan yang diterima dari neuron lain atau dari lingkungan luar, merepresentasikan fitur dari data (misalnya nilai piksel dalam citra).</a:t>
            </a:r>
            <a:endParaRPr lang="en-US" sz="1550" dirty="0"/>
          </a:p>
        </p:txBody>
      </p:sp>
      <p:sp>
        <p:nvSpPr>
          <p:cNvPr id="7" name="Shape 5"/>
          <p:cNvSpPr/>
          <p:nvPr/>
        </p:nvSpPr>
        <p:spPr>
          <a:xfrm>
            <a:off x="5207437" y="2699742"/>
            <a:ext cx="4215408" cy="2141815"/>
          </a:xfrm>
          <a:prstGeom prst="roundRect">
            <a:avLst>
              <a:gd name="adj" fmla="val 5123"/>
            </a:avLst>
          </a:prstGeom>
          <a:solidFill>
            <a:srgbClr val="FFFFFF"/>
          </a:solidFill>
          <a:ln w="22860">
            <a:solidFill>
              <a:srgbClr val="C5D2CF"/>
            </a:solidFill>
            <a:prstDash val="solid"/>
          </a:ln>
        </p:spPr>
      </p:sp>
      <p:sp>
        <p:nvSpPr>
          <p:cNvPr id="8" name="Shape 6"/>
          <p:cNvSpPr/>
          <p:nvPr/>
        </p:nvSpPr>
        <p:spPr>
          <a:xfrm>
            <a:off x="5184577" y="2699742"/>
            <a:ext cx="91440" cy="2141815"/>
          </a:xfrm>
          <a:prstGeom prst="roundRect">
            <a:avLst>
              <a:gd name="adj" fmla="val 91163"/>
            </a:avLst>
          </a:prstGeom>
          <a:solidFill>
            <a:srgbClr val="437066"/>
          </a:solidFill>
          <a:ln/>
        </p:spPr>
      </p:sp>
      <p:sp>
        <p:nvSpPr>
          <p:cNvPr id="9" name="Text 7"/>
          <p:cNvSpPr/>
          <p:nvPr/>
        </p:nvSpPr>
        <p:spPr>
          <a:xfrm>
            <a:off x="5497235" y="292096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Bobot (w)</a:t>
            </a:r>
            <a:endParaRPr lang="en-US" sz="1950" dirty="0"/>
          </a:p>
        </p:txBody>
      </p:sp>
      <p:sp>
        <p:nvSpPr>
          <p:cNvPr id="10" name="Text 8"/>
          <p:cNvSpPr/>
          <p:nvPr/>
        </p:nvSpPr>
        <p:spPr>
          <a:xfrm>
            <a:off x="5497235" y="3350181"/>
            <a:ext cx="3704392"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Parameter yang dapat dilatih dan menentukan kekuatan koneksi antar neuron. Bobot ini akan diperbarui selama proses pembelajaran.</a:t>
            </a:r>
            <a:endParaRPr lang="en-US" sz="1550" dirty="0"/>
          </a:p>
        </p:txBody>
      </p:sp>
      <p:sp>
        <p:nvSpPr>
          <p:cNvPr id="11" name="Shape 9"/>
          <p:cNvSpPr/>
          <p:nvPr/>
        </p:nvSpPr>
        <p:spPr>
          <a:xfrm>
            <a:off x="9621203" y="2699742"/>
            <a:ext cx="4215289" cy="2141815"/>
          </a:xfrm>
          <a:prstGeom prst="roundRect">
            <a:avLst>
              <a:gd name="adj" fmla="val 5123"/>
            </a:avLst>
          </a:prstGeom>
          <a:solidFill>
            <a:srgbClr val="FFFFFF"/>
          </a:solidFill>
          <a:ln w="22860">
            <a:solidFill>
              <a:srgbClr val="C5D2CF"/>
            </a:solidFill>
            <a:prstDash val="solid"/>
          </a:ln>
        </p:spPr>
      </p:sp>
      <p:sp>
        <p:nvSpPr>
          <p:cNvPr id="12" name="Shape 10"/>
          <p:cNvSpPr/>
          <p:nvPr/>
        </p:nvSpPr>
        <p:spPr>
          <a:xfrm>
            <a:off x="9598343" y="2699742"/>
            <a:ext cx="91440" cy="2141815"/>
          </a:xfrm>
          <a:prstGeom prst="roundRect">
            <a:avLst>
              <a:gd name="adj" fmla="val 91163"/>
            </a:avLst>
          </a:prstGeom>
          <a:solidFill>
            <a:srgbClr val="437066"/>
          </a:solidFill>
          <a:ln/>
        </p:spPr>
      </p:sp>
      <p:sp>
        <p:nvSpPr>
          <p:cNvPr id="13" name="Text 11"/>
          <p:cNvSpPr/>
          <p:nvPr/>
        </p:nvSpPr>
        <p:spPr>
          <a:xfrm>
            <a:off x="9911001" y="292096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Fungsi Penjumlahan</a:t>
            </a:r>
            <a:endParaRPr lang="en-US" sz="1950" dirty="0"/>
          </a:p>
        </p:txBody>
      </p:sp>
      <p:sp>
        <p:nvSpPr>
          <p:cNvPr id="14" name="Text 12"/>
          <p:cNvSpPr/>
          <p:nvPr/>
        </p:nvSpPr>
        <p:spPr>
          <a:xfrm>
            <a:off x="9911001" y="3350181"/>
            <a:ext cx="3704273"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Menjumlahkan semua input yang telah dikalikan dengan bobotnya masing-masing: Σ(wi × xi) + b, dimana b adalah bias.</a:t>
            </a:r>
            <a:endParaRPr lang="en-US" sz="1550" dirty="0"/>
          </a:p>
        </p:txBody>
      </p:sp>
      <p:sp>
        <p:nvSpPr>
          <p:cNvPr id="15" name="Shape 13"/>
          <p:cNvSpPr/>
          <p:nvPr/>
        </p:nvSpPr>
        <p:spPr>
          <a:xfrm>
            <a:off x="793790" y="5039916"/>
            <a:ext cx="6422112" cy="1506736"/>
          </a:xfrm>
          <a:prstGeom prst="roundRect">
            <a:avLst>
              <a:gd name="adj" fmla="val 7282"/>
            </a:avLst>
          </a:prstGeom>
          <a:solidFill>
            <a:srgbClr val="FFFFFF"/>
          </a:solidFill>
          <a:ln w="22860">
            <a:solidFill>
              <a:srgbClr val="C5D2CF"/>
            </a:solidFill>
            <a:prstDash val="solid"/>
          </a:ln>
        </p:spPr>
      </p:sp>
      <p:sp>
        <p:nvSpPr>
          <p:cNvPr id="16" name="Shape 14"/>
          <p:cNvSpPr/>
          <p:nvPr/>
        </p:nvSpPr>
        <p:spPr>
          <a:xfrm>
            <a:off x="770930" y="5039916"/>
            <a:ext cx="91440" cy="1506736"/>
          </a:xfrm>
          <a:prstGeom prst="roundRect">
            <a:avLst>
              <a:gd name="adj" fmla="val 91163"/>
            </a:avLst>
          </a:prstGeom>
          <a:solidFill>
            <a:srgbClr val="437066"/>
          </a:solidFill>
          <a:ln/>
        </p:spPr>
      </p:sp>
      <p:sp>
        <p:nvSpPr>
          <p:cNvPr id="17" name="Text 15"/>
          <p:cNvSpPr/>
          <p:nvPr/>
        </p:nvSpPr>
        <p:spPr>
          <a:xfrm>
            <a:off x="1083588" y="526113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Fungsi Aktivasi</a:t>
            </a:r>
            <a:endParaRPr lang="en-US" sz="1950" dirty="0"/>
          </a:p>
        </p:txBody>
      </p:sp>
      <p:sp>
        <p:nvSpPr>
          <p:cNvPr id="18" name="Text 16"/>
          <p:cNvSpPr/>
          <p:nvPr/>
        </p:nvSpPr>
        <p:spPr>
          <a:xfrm>
            <a:off x="1083588" y="5690354"/>
            <a:ext cx="5911096"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Menentukan output neuron berdasarkan hasil penjumlahan. Contoh: sigmoid, tanh, ReLU, softmax, dll.</a:t>
            </a:r>
            <a:endParaRPr lang="en-US" sz="1550" dirty="0"/>
          </a:p>
        </p:txBody>
      </p:sp>
      <p:sp>
        <p:nvSpPr>
          <p:cNvPr id="19" name="Shape 17"/>
          <p:cNvSpPr/>
          <p:nvPr/>
        </p:nvSpPr>
        <p:spPr>
          <a:xfrm>
            <a:off x="7414260" y="5039916"/>
            <a:ext cx="6422231" cy="1506736"/>
          </a:xfrm>
          <a:prstGeom prst="roundRect">
            <a:avLst>
              <a:gd name="adj" fmla="val 7282"/>
            </a:avLst>
          </a:prstGeom>
          <a:solidFill>
            <a:srgbClr val="FFFFFF"/>
          </a:solidFill>
          <a:ln w="22860">
            <a:solidFill>
              <a:srgbClr val="C5D2CF"/>
            </a:solidFill>
            <a:prstDash val="solid"/>
          </a:ln>
        </p:spPr>
      </p:sp>
      <p:sp>
        <p:nvSpPr>
          <p:cNvPr id="20" name="Shape 18"/>
          <p:cNvSpPr/>
          <p:nvPr/>
        </p:nvSpPr>
        <p:spPr>
          <a:xfrm>
            <a:off x="7391400" y="5039916"/>
            <a:ext cx="91440" cy="1506736"/>
          </a:xfrm>
          <a:prstGeom prst="roundRect">
            <a:avLst>
              <a:gd name="adj" fmla="val 91163"/>
            </a:avLst>
          </a:prstGeom>
          <a:solidFill>
            <a:srgbClr val="437066"/>
          </a:solidFill>
          <a:ln/>
        </p:spPr>
      </p:sp>
      <p:sp>
        <p:nvSpPr>
          <p:cNvPr id="21" name="Text 19"/>
          <p:cNvSpPr/>
          <p:nvPr/>
        </p:nvSpPr>
        <p:spPr>
          <a:xfrm>
            <a:off x="7704058" y="526113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Output (y)</a:t>
            </a:r>
            <a:endParaRPr lang="en-US" sz="1950" dirty="0"/>
          </a:p>
        </p:txBody>
      </p:sp>
      <p:sp>
        <p:nvSpPr>
          <p:cNvPr id="22" name="Text 20"/>
          <p:cNvSpPr/>
          <p:nvPr/>
        </p:nvSpPr>
        <p:spPr>
          <a:xfrm>
            <a:off x="7704058" y="5690354"/>
            <a:ext cx="5911215"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Hasil keluaran dari neuron yang akan diteruskan ke neuron lain atau sebagai output final dari jaringan.</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09437"/>
            <a:ext cx="5622250"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Fungsi Aktivasi dalam JST</a:t>
            </a:r>
            <a:endParaRPr lang="en-US" sz="3900" dirty="0"/>
          </a:p>
        </p:txBody>
      </p:sp>
      <p:sp>
        <p:nvSpPr>
          <p:cNvPr id="3" name="Text 1"/>
          <p:cNvSpPr/>
          <p:nvPr/>
        </p:nvSpPr>
        <p:spPr>
          <a:xfrm>
            <a:off x="793790" y="2226350"/>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Fungsi aktivasi berperan penting dalam mengenalkan non-linearitas ke dalam model, memungkinkan JST untuk mempelajari pola kompleks dalam data citra.</a:t>
            </a:r>
            <a:endParaRPr lang="en-US" sz="1550" dirty="0"/>
          </a:p>
        </p:txBody>
      </p:sp>
      <p:sp>
        <p:nvSpPr>
          <p:cNvPr id="4" name="Shape 2"/>
          <p:cNvSpPr/>
          <p:nvPr/>
        </p:nvSpPr>
        <p:spPr>
          <a:xfrm>
            <a:off x="793790" y="3084671"/>
            <a:ext cx="13042821" cy="3935492"/>
          </a:xfrm>
          <a:prstGeom prst="roundRect">
            <a:avLst>
              <a:gd name="adj" fmla="val 2118"/>
            </a:avLst>
          </a:prstGeom>
          <a:noFill/>
          <a:ln w="7620">
            <a:solidFill>
              <a:srgbClr val="000000">
                <a:alpha val="8000"/>
              </a:srgbClr>
            </a:solidFill>
            <a:prstDash val="solid"/>
          </a:ln>
        </p:spPr>
      </p:sp>
      <p:sp>
        <p:nvSpPr>
          <p:cNvPr id="5" name="Shape 3"/>
          <p:cNvSpPr/>
          <p:nvPr/>
        </p:nvSpPr>
        <p:spPr>
          <a:xfrm>
            <a:off x="801410" y="3092291"/>
            <a:ext cx="13027581" cy="570905"/>
          </a:xfrm>
          <a:prstGeom prst="rect">
            <a:avLst/>
          </a:prstGeom>
          <a:solidFill>
            <a:srgbClr val="FFFFFF">
              <a:alpha val="4000"/>
            </a:srgbClr>
          </a:solidFill>
          <a:ln/>
        </p:spPr>
      </p:sp>
      <p:sp>
        <p:nvSpPr>
          <p:cNvPr id="6" name="Text 4"/>
          <p:cNvSpPr/>
          <p:nvPr/>
        </p:nvSpPr>
        <p:spPr>
          <a:xfrm>
            <a:off x="1000006" y="3218974"/>
            <a:ext cx="2856309"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Fungsi Aktivasi</a:t>
            </a:r>
            <a:endParaRPr lang="en-US" sz="1550" dirty="0"/>
          </a:p>
        </p:txBody>
      </p:sp>
      <p:sp>
        <p:nvSpPr>
          <p:cNvPr id="7" name="Text 5"/>
          <p:cNvSpPr/>
          <p:nvPr/>
        </p:nvSpPr>
        <p:spPr>
          <a:xfrm>
            <a:off x="4260652" y="3218974"/>
            <a:ext cx="2852499"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Formula</a:t>
            </a:r>
            <a:endParaRPr lang="en-US" sz="1550" dirty="0"/>
          </a:p>
        </p:txBody>
      </p:sp>
      <p:sp>
        <p:nvSpPr>
          <p:cNvPr id="8" name="Text 6"/>
          <p:cNvSpPr/>
          <p:nvPr/>
        </p:nvSpPr>
        <p:spPr>
          <a:xfrm>
            <a:off x="7517487" y="3218974"/>
            <a:ext cx="2852499"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Karakteristik</a:t>
            </a:r>
            <a:endParaRPr lang="en-US" sz="1550" dirty="0"/>
          </a:p>
        </p:txBody>
      </p:sp>
      <p:sp>
        <p:nvSpPr>
          <p:cNvPr id="9" name="Text 7"/>
          <p:cNvSpPr/>
          <p:nvPr/>
        </p:nvSpPr>
        <p:spPr>
          <a:xfrm>
            <a:off x="10774323" y="3218974"/>
            <a:ext cx="2856309"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Aplikasi</a:t>
            </a:r>
            <a:endParaRPr lang="en-US" sz="1550" dirty="0"/>
          </a:p>
        </p:txBody>
      </p:sp>
      <p:sp>
        <p:nvSpPr>
          <p:cNvPr id="10" name="Shape 8"/>
          <p:cNvSpPr/>
          <p:nvPr/>
        </p:nvSpPr>
        <p:spPr>
          <a:xfrm>
            <a:off x="801410" y="3663196"/>
            <a:ext cx="13027581" cy="888444"/>
          </a:xfrm>
          <a:prstGeom prst="rect">
            <a:avLst/>
          </a:prstGeom>
          <a:solidFill>
            <a:srgbClr val="000000">
              <a:alpha val="4000"/>
            </a:srgbClr>
          </a:solidFill>
          <a:ln/>
        </p:spPr>
      </p:sp>
      <p:sp>
        <p:nvSpPr>
          <p:cNvPr id="11" name="Text 9"/>
          <p:cNvSpPr/>
          <p:nvPr/>
        </p:nvSpPr>
        <p:spPr>
          <a:xfrm>
            <a:off x="1000006" y="3789878"/>
            <a:ext cx="285630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Sigmoid</a:t>
            </a:r>
            <a:endParaRPr lang="en-US" sz="1550" dirty="0"/>
          </a:p>
        </p:txBody>
      </p:sp>
      <p:sp>
        <p:nvSpPr>
          <p:cNvPr id="12" name="Text 10"/>
          <p:cNvSpPr/>
          <p:nvPr/>
        </p:nvSpPr>
        <p:spPr>
          <a:xfrm>
            <a:off x="4260652" y="3804761"/>
            <a:ext cx="2852499" cy="564833"/>
          </a:xfrm>
          <a:prstGeom prst="rect">
            <a:avLst/>
          </a:prstGeom>
          <a:noFill/>
          <a:ln/>
        </p:spPr>
        <p:txBody>
          <a:bodyPr wrap="square" lIns="0" tIns="0" rIns="0" bIns="0" rtlCol="0" anchor="t"/>
          <a:lstStyle/>
          <a:p>
            <a:pPr algn="l" indent="0" marL="0">
              <a:lnSpc>
                <a:spcPts val="2800"/>
              </a:lnSpc>
              <a:buNone/>
            </a:pPr>
            <a:endParaRPr lang="en-US" sz="1750" dirty="0"/>
          </a:p>
        </p:txBody>
      </p:sp>
      <p:pic>
        <p:nvPicPr>
          <p:cNvPr id="13" name="Image 0" descr="preencoded.png">    </p:cNvPr>
          <p:cNvPicPr>
            <a:picLocks noChangeAspect="1"/>
          </p:cNvPicPr>
          <p:nvPr/>
        </p:nvPicPr>
        <p:blipFill>
          <a:blip r:embed="rId1"/>
          <a:stretch>
            <a:fillRect/>
          </a:stretch>
        </p:blipFill>
        <p:spPr>
          <a:xfrm>
            <a:off x="4260652" y="3804761"/>
            <a:ext cx="2852499" cy="564833"/>
          </a:xfrm>
          <a:prstGeom prst="rect">
            <a:avLst/>
          </a:prstGeom>
        </p:spPr>
      </p:pic>
      <p:sp>
        <p:nvSpPr>
          <p:cNvPr id="14" name="Text 11"/>
          <p:cNvSpPr/>
          <p:nvPr/>
        </p:nvSpPr>
        <p:spPr>
          <a:xfrm>
            <a:off x="7517487" y="3789878"/>
            <a:ext cx="2852499"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Output antara 0-1, saturasi pada nilai ekstrem</a:t>
            </a:r>
            <a:endParaRPr lang="en-US" sz="1550" dirty="0"/>
          </a:p>
        </p:txBody>
      </p:sp>
      <p:sp>
        <p:nvSpPr>
          <p:cNvPr id="15" name="Text 12"/>
          <p:cNvSpPr/>
          <p:nvPr/>
        </p:nvSpPr>
        <p:spPr>
          <a:xfrm>
            <a:off x="10774323" y="3789878"/>
            <a:ext cx="285630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Output biner, hidden layer</a:t>
            </a:r>
            <a:endParaRPr lang="en-US" sz="1550" dirty="0"/>
          </a:p>
        </p:txBody>
      </p:sp>
      <p:sp>
        <p:nvSpPr>
          <p:cNvPr id="16" name="Shape 13"/>
          <p:cNvSpPr/>
          <p:nvPr/>
        </p:nvSpPr>
        <p:spPr>
          <a:xfrm>
            <a:off x="801410" y="4551640"/>
            <a:ext cx="13027581" cy="882253"/>
          </a:xfrm>
          <a:prstGeom prst="rect">
            <a:avLst/>
          </a:prstGeom>
          <a:solidFill>
            <a:srgbClr val="FFFFFF">
              <a:alpha val="4000"/>
            </a:srgbClr>
          </a:solidFill>
          <a:ln/>
        </p:spPr>
      </p:sp>
      <p:sp>
        <p:nvSpPr>
          <p:cNvPr id="17" name="Text 14"/>
          <p:cNvSpPr/>
          <p:nvPr/>
        </p:nvSpPr>
        <p:spPr>
          <a:xfrm>
            <a:off x="1000006" y="4678323"/>
            <a:ext cx="285630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Tanh</a:t>
            </a:r>
            <a:endParaRPr lang="en-US" sz="1550" dirty="0"/>
          </a:p>
        </p:txBody>
      </p:sp>
      <p:sp>
        <p:nvSpPr>
          <p:cNvPr id="18" name="Text 15"/>
          <p:cNvSpPr/>
          <p:nvPr/>
        </p:nvSpPr>
        <p:spPr>
          <a:xfrm>
            <a:off x="4260652" y="4693206"/>
            <a:ext cx="2852499" cy="599123"/>
          </a:xfrm>
          <a:prstGeom prst="rect">
            <a:avLst/>
          </a:prstGeom>
          <a:noFill/>
          <a:ln/>
        </p:spPr>
        <p:txBody>
          <a:bodyPr wrap="square" lIns="0" tIns="0" rIns="0" bIns="0" rtlCol="0" anchor="t"/>
          <a:lstStyle/>
          <a:p>
            <a:pPr algn="l" indent="0" marL="0">
              <a:lnSpc>
                <a:spcPts val="2800"/>
              </a:lnSpc>
              <a:buNone/>
            </a:pPr>
            <a:endParaRPr lang="en-US" sz="1750" dirty="0"/>
          </a:p>
        </p:txBody>
      </p:sp>
      <p:pic>
        <p:nvPicPr>
          <p:cNvPr id="19" name="Image 1" descr="preencoded.png">    </p:cNvPr>
          <p:cNvPicPr>
            <a:picLocks noChangeAspect="1"/>
          </p:cNvPicPr>
          <p:nvPr/>
        </p:nvPicPr>
        <p:blipFill>
          <a:blip r:embed="rId2"/>
          <a:stretch>
            <a:fillRect/>
          </a:stretch>
        </p:blipFill>
        <p:spPr>
          <a:xfrm>
            <a:off x="4260652" y="4693206"/>
            <a:ext cx="2852499" cy="599123"/>
          </a:xfrm>
          <a:prstGeom prst="rect">
            <a:avLst/>
          </a:prstGeom>
        </p:spPr>
      </p:pic>
      <p:sp>
        <p:nvSpPr>
          <p:cNvPr id="20" name="Text 16"/>
          <p:cNvSpPr/>
          <p:nvPr/>
        </p:nvSpPr>
        <p:spPr>
          <a:xfrm>
            <a:off x="7517487" y="4678323"/>
            <a:ext cx="285249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Output antara -1 hingga 1</a:t>
            </a:r>
            <a:endParaRPr lang="en-US" sz="1550" dirty="0"/>
          </a:p>
        </p:txBody>
      </p:sp>
      <p:sp>
        <p:nvSpPr>
          <p:cNvPr id="21" name="Text 17"/>
          <p:cNvSpPr/>
          <p:nvPr/>
        </p:nvSpPr>
        <p:spPr>
          <a:xfrm>
            <a:off x="10774323" y="4678323"/>
            <a:ext cx="285630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Hidden layer</a:t>
            </a:r>
            <a:endParaRPr lang="en-US" sz="1550" dirty="0"/>
          </a:p>
        </p:txBody>
      </p:sp>
      <p:sp>
        <p:nvSpPr>
          <p:cNvPr id="22" name="Shape 18"/>
          <p:cNvSpPr/>
          <p:nvPr/>
        </p:nvSpPr>
        <p:spPr>
          <a:xfrm>
            <a:off x="801410" y="5433893"/>
            <a:ext cx="13027581" cy="630079"/>
          </a:xfrm>
          <a:prstGeom prst="rect">
            <a:avLst/>
          </a:prstGeom>
          <a:solidFill>
            <a:srgbClr val="000000">
              <a:alpha val="4000"/>
            </a:srgbClr>
          </a:solidFill>
          <a:ln/>
        </p:spPr>
      </p:sp>
      <p:sp>
        <p:nvSpPr>
          <p:cNvPr id="23" name="Text 19"/>
          <p:cNvSpPr/>
          <p:nvPr/>
        </p:nvSpPr>
        <p:spPr>
          <a:xfrm>
            <a:off x="1000006" y="5560576"/>
            <a:ext cx="285630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ReLU</a:t>
            </a:r>
            <a:endParaRPr lang="en-US" sz="1550" dirty="0"/>
          </a:p>
        </p:txBody>
      </p:sp>
      <p:sp>
        <p:nvSpPr>
          <p:cNvPr id="24" name="Text 20"/>
          <p:cNvSpPr/>
          <p:nvPr/>
        </p:nvSpPr>
        <p:spPr>
          <a:xfrm>
            <a:off x="4260652" y="5575459"/>
            <a:ext cx="2852499" cy="346948"/>
          </a:xfrm>
          <a:prstGeom prst="rect">
            <a:avLst/>
          </a:prstGeom>
          <a:noFill/>
          <a:ln/>
        </p:spPr>
        <p:txBody>
          <a:bodyPr wrap="none" lIns="0" tIns="0" rIns="0" bIns="0" rtlCol="0" anchor="t"/>
          <a:lstStyle/>
          <a:p>
            <a:pPr algn="l" indent="0" marL="0">
              <a:lnSpc>
                <a:spcPts val="2800"/>
              </a:lnSpc>
              <a:buNone/>
            </a:pPr>
            <a:endParaRPr lang="en-US" sz="1750" dirty="0"/>
          </a:p>
        </p:txBody>
      </p:sp>
      <p:pic>
        <p:nvPicPr>
          <p:cNvPr id="25" name="Image 2" descr="preencoded.png">    </p:cNvPr>
          <p:cNvPicPr>
            <a:picLocks noChangeAspect="1"/>
          </p:cNvPicPr>
          <p:nvPr/>
        </p:nvPicPr>
        <p:blipFill>
          <a:blip r:embed="rId3"/>
          <a:stretch>
            <a:fillRect/>
          </a:stretch>
        </p:blipFill>
        <p:spPr>
          <a:xfrm>
            <a:off x="4260652" y="5575459"/>
            <a:ext cx="2852499" cy="346948"/>
          </a:xfrm>
          <a:prstGeom prst="rect">
            <a:avLst/>
          </a:prstGeom>
        </p:spPr>
      </p:pic>
      <p:sp>
        <p:nvSpPr>
          <p:cNvPr id="26" name="Text 21"/>
          <p:cNvSpPr/>
          <p:nvPr/>
        </p:nvSpPr>
        <p:spPr>
          <a:xfrm>
            <a:off x="7517487" y="5560576"/>
            <a:ext cx="285249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Sederhana, efisien komputasi</a:t>
            </a:r>
            <a:endParaRPr lang="en-US" sz="1550" dirty="0"/>
          </a:p>
        </p:txBody>
      </p:sp>
      <p:sp>
        <p:nvSpPr>
          <p:cNvPr id="27" name="Text 22"/>
          <p:cNvSpPr/>
          <p:nvPr/>
        </p:nvSpPr>
        <p:spPr>
          <a:xfrm>
            <a:off x="10774323" y="5560576"/>
            <a:ext cx="285630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Hidden layer CNN</a:t>
            </a:r>
            <a:endParaRPr lang="en-US" sz="1550" dirty="0"/>
          </a:p>
        </p:txBody>
      </p:sp>
      <p:sp>
        <p:nvSpPr>
          <p:cNvPr id="28" name="Shape 23"/>
          <p:cNvSpPr/>
          <p:nvPr/>
        </p:nvSpPr>
        <p:spPr>
          <a:xfrm>
            <a:off x="801410" y="6063972"/>
            <a:ext cx="13027581" cy="948571"/>
          </a:xfrm>
          <a:prstGeom prst="rect">
            <a:avLst/>
          </a:prstGeom>
          <a:solidFill>
            <a:srgbClr val="FFFFFF">
              <a:alpha val="4000"/>
            </a:srgbClr>
          </a:solidFill>
          <a:ln/>
        </p:spPr>
      </p:sp>
      <p:sp>
        <p:nvSpPr>
          <p:cNvPr id="29" name="Text 24"/>
          <p:cNvSpPr/>
          <p:nvPr/>
        </p:nvSpPr>
        <p:spPr>
          <a:xfrm>
            <a:off x="1000006" y="6190655"/>
            <a:ext cx="285630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Softmax</a:t>
            </a:r>
            <a:endParaRPr lang="en-US" sz="1550" dirty="0"/>
          </a:p>
        </p:txBody>
      </p:sp>
      <p:sp>
        <p:nvSpPr>
          <p:cNvPr id="30" name="Text 25"/>
          <p:cNvSpPr/>
          <p:nvPr/>
        </p:nvSpPr>
        <p:spPr>
          <a:xfrm>
            <a:off x="4260652" y="6205538"/>
            <a:ext cx="2852499" cy="665440"/>
          </a:xfrm>
          <a:prstGeom prst="rect">
            <a:avLst/>
          </a:prstGeom>
          <a:noFill/>
          <a:ln/>
        </p:spPr>
        <p:txBody>
          <a:bodyPr wrap="square" lIns="0" tIns="0" rIns="0" bIns="0" rtlCol="0" anchor="t"/>
          <a:lstStyle/>
          <a:p>
            <a:pPr algn="l" indent="0" marL="0">
              <a:lnSpc>
                <a:spcPts val="2800"/>
              </a:lnSpc>
              <a:buNone/>
            </a:pPr>
            <a:endParaRPr lang="en-US" sz="1750" dirty="0"/>
          </a:p>
        </p:txBody>
      </p:sp>
      <p:pic>
        <p:nvPicPr>
          <p:cNvPr id="31" name="Image 3" descr="preencoded.png">    </p:cNvPr>
          <p:cNvPicPr>
            <a:picLocks noChangeAspect="1"/>
          </p:cNvPicPr>
          <p:nvPr/>
        </p:nvPicPr>
        <p:blipFill>
          <a:blip r:embed="rId4"/>
          <a:stretch>
            <a:fillRect/>
          </a:stretch>
        </p:blipFill>
        <p:spPr>
          <a:xfrm>
            <a:off x="4260652" y="6205538"/>
            <a:ext cx="2852499" cy="665440"/>
          </a:xfrm>
          <a:prstGeom prst="rect">
            <a:avLst/>
          </a:prstGeom>
        </p:spPr>
      </p:pic>
      <p:sp>
        <p:nvSpPr>
          <p:cNvPr id="32" name="Text 26"/>
          <p:cNvSpPr/>
          <p:nvPr/>
        </p:nvSpPr>
        <p:spPr>
          <a:xfrm>
            <a:off x="7517487" y="6190655"/>
            <a:ext cx="285249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Output sebagai probabilitas</a:t>
            </a:r>
            <a:endParaRPr lang="en-US" sz="1550" dirty="0"/>
          </a:p>
        </p:txBody>
      </p:sp>
      <p:sp>
        <p:nvSpPr>
          <p:cNvPr id="33" name="Text 27"/>
          <p:cNvSpPr/>
          <p:nvPr/>
        </p:nvSpPr>
        <p:spPr>
          <a:xfrm>
            <a:off x="10774323" y="6190655"/>
            <a:ext cx="2856309"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Layer output klasifikasi</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836301"/>
            <a:ext cx="8205668"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Arsitektur JST untuk Computer Vision</a:t>
            </a:r>
            <a:endParaRPr lang="en-US" sz="3900" dirty="0"/>
          </a:p>
        </p:txBody>
      </p:sp>
      <p:sp>
        <p:nvSpPr>
          <p:cNvPr id="3" name="Shape 1"/>
          <p:cNvSpPr/>
          <p:nvPr/>
        </p:nvSpPr>
        <p:spPr>
          <a:xfrm>
            <a:off x="793790" y="2853214"/>
            <a:ext cx="4215289" cy="3540085"/>
          </a:xfrm>
          <a:prstGeom prst="roundRect">
            <a:avLst>
              <a:gd name="adj" fmla="val 2355"/>
            </a:avLst>
          </a:prstGeom>
          <a:solidFill>
            <a:srgbClr val="DFECE9"/>
          </a:solidFill>
          <a:ln w="7620">
            <a:solidFill>
              <a:srgbClr val="C5D2CF"/>
            </a:solidFill>
            <a:prstDash val="solid"/>
          </a:ln>
        </p:spPr>
      </p:sp>
      <p:sp>
        <p:nvSpPr>
          <p:cNvPr id="4" name="Shape 2"/>
          <p:cNvSpPr/>
          <p:nvPr/>
        </p:nvSpPr>
        <p:spPr>
          <a:xfrm>
            <a:off x="999768" y="3059192"/>
            <a:ext cx="595313" cy="595313"/>
          </a:xfrm>
          <a:prstGeom prst="roundRect">
            <a:avLst>
              <a:gd name="adj" fmla="val 15358451"/>
            </a:avLst>
          </a:prstGeom>
          <a:solidFill>
            <a:srgbClr val="437066"/>
          </a:solidFill>
          <a:ln/>
        </p:spPr>
      </p:sp>
      <p:pic>
        <p:nvPicPr>
          <p:cNvPr id="5" name="Image 0" descr="preencoded.png">    </p:cNvPr>
          <p:cNvPicPr>
            <a:picLocks noChangeAspect="1"/>
          </p:cNvPicPr>
          <p:nvPr/>
        </p:nvPicPr>
        <p:blipFill>
          <a:blip r:embed="rId1"/>
          <a:stretch>
            <a:fillRect/>
          </a:stretch>
        </p:blipFill>
        <p:spPr>
          <a:xfrm>
            <a:off x="1163479" y="3189327"/>
            <a:ext cx="267891" cy="334923"/>
          </a:xfrm>
          <a:prstGeom prst="rect">
            <a:avLst/>
          </a:prstGeom>
        </p:spPr>
      </p:pic>
      <p:sp>
        <p:nvSpPr>
          <p:cNvPr id="6" name="Text 3"/>
          <p:cNvSpPr/>
          <p:nvPr/>
        </p:nvSpPr>
        <p:spPr>
          <a:xfrm>
            <a:off x="999768" y="3852863"/>
            <a:ext cx="3005614"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Multilayer Perceptron (MLP)</a:t>
            </a:r>
            <a:endParaRPr lang="en-US" sz="1950" dirty="0"/>
          </a:p>
        </p:txBody>
      </p:sp>
      <p:sp>
        <p:nvSpPr>
          <p:cNvPr id="7" name="Text 4"/>
          <p:cNvSpPr/>
          <p:nvPr/>
        </p:nvSpPr>
        <p:spPr>
          <a:xfrm>
            <a:off x="999768" y="4282083"/>
            <a:ext cx="3803333" cy="190523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Jaringan feedforward sederhana dengan satu atau lebih lapisan tersembunyi. Setiap neuron terhubung dengan semua neuron di lapisan sebelumnya. Cocok untuk klasifikasi citra sederhana dengan dimensi rendah.</a:t>
            </a:r>
            <a:endParaRPr lang="en-US" sz="1550" dirty="0"/>
          </a:p>
        </p:txBody>
      </p:sp>
      <p:sp>
        <p:nvSpPr>
          <p:cNvPr id="8" name="Shape 5"/>
          <p:cNvSpPr/>
          <p:nvPr/>
        </p:nvSpPr>
        <p:spPr>
          <a:xfrm>
            <a:off x="5207437" y="2853214"/>
            <a:ext cx="4215408" cy="3540085"/>
          </a:xfrm>
          <a:prstGeom prst="roundRect">
            <a:avLst>
              <a:gd name="adj" fmla="val 2355"/>
            </a:avLst>
          </a:prstGeom>
          <a:solidFill>
            <a:srgbClr val="DFECE9"/>
          </a:solidFill>
          <a:ln w="7620">
            <a:solidFill>
              <a:srgbClr val="C5D2CF"/>
            </a:solidFill>
            <a:prstDash val="solid"/>
          </a:ln>
        </p:spPr>
      </p:sp>
      <p:sp>
        <p:nvSpPr>
          <p:cNvPr id="9" name="Shape 6"/>
          <p:cNvSpPr/>
          <p:nvPr/>
        </p:nvSpPr>
        <p:spPr>
          <a:xfrm>
            <a:off x="5413415" y="3059192"/>
            <a:ext cx="595313" cy="595313"/>
          </a:xfrm>
          <a:prstGeom prst="roundRect">
            <a:avLst>
              <a:gd name="adj" fmla="val 15358451"/>
            </a:avLst>
          </a:prstGeom>
          <a:solidFill>
            <a:srgbClr val="437066"/>
          </a:solidFill>
          <a:ln/>
        </p:spPr>
      </p:sp>
      <p:sp>
        <p:nvSpPr>
          <p:cNvPr id="10" name="Text 7"/>
          <p:cNvSpPr/>
          <p:nvPr/>
        </p:nvSpPr>
        <p:spPr>
          <a:xfrm>
            <a:off x="5413415" y="3852863"/>
            <a:ext cx="3803452" cy="620316"/>
          </a:xfrm>
          <a:prstGeom prst="rect">
            <a:avLst/>
          </a:prstGeom>
          <a:noFill/>
          <a:ln/>
        </p:spPr>
        <p:txBody>
          <a:bodyPr wrap="squar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Convolutional Neural Network (CNN)</a:t>
            </a:r>
            <a:endParaRPr lang="en-US" sz="1950" dirty="0"/>
          </a:p>
        </p:txBody>
      </p:sp>
      <p:sp>
        <p:nvSpPr>
          <p:cNvPr id="11" name="Text 8"/>
          <p:cNvSpPr/>
          <p:nvPr/>
        </p:nvSpPr>
        <p:spPr>
          <a:xfrm>
            <a:off x="5413415" y="4592241"/>
            <a:ext cx="3803452" cy="158769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Dirancang khusus untuk data citra, menggunakan operasi konvolusi untuk ekstraksi fitur spasial. Arsitektur ini mengeksploitasi lokalitas spasial dan invariansi translasi dalam citra.</a:t>
            </a:r>
            <a:endParaRPr lang="en-US" sz="1550" dirty="0"/>
          </a:p>
        </p:txBody>
      </p:sp>
      <p:sp>
        <p:nvSpPr>
          <p:cNvPr id="12" name="Shape 9"/>
          <p:cNvSpPr/>
          <p:nvPr/>
        </p:nvSpPr>
        <p:spPr>
          <a:xfrm>
            <a:off x="9621203" y="2853214"/>
            <a:ext cx="4215289" cy="3540085"/>
          </a:xfrm>
          <a:prstGeom prst="roundRect">
            <a:avLst>
              <a:gd name="adj" fmla="val 2355"/>
            </a:avLst>
          </a:prstGeom>
          <a:solidFill>
            <a:srgbClr val="DFECE9"/>
          </a:solidFill>
          <a:ln w="7620">
            <a:solidFill>
              <a:srgbClr val="C5D2CF"/>
            </a:solidFill>
            <a:prstDash val="solid"/>
          </a:ln>
        </p:spPr>
      </p:sp>
      <p:sp>
        <p:nvSpPr>
          <p:cNvPr id="13" name="Shape 10"/>
          <p:cNvSpPr/>
          <p:nvPr/>
        </p:nvSpPr>
        <p:spPr>
          <a:xfrm>
            <a:off x="9827181" y="3059192"/>
            <a:ext cx="595313" cy="595313"/>
          </a:xfrm>
          <a:prstGeom prst="roundRect">
            <a:avLst>
              <a:gd name="adj" fmla="val 15358451"/>
            </a:avLst>
          </a:prstGeom>
          <a:solidFill>
            <a:srgbClr val="437066"/>
          </a:solidFill>
          <a:ln/>
        </p:spPr>
      </p:sp>
      <p:pic>
        <p:nvPicPr>
          <p:cNvPr id="14" name="Image 1" descr="preencoded.png">    </p:cNvPr>
          <p:cNvPicPr>
            <a:picLocks noChangeAspect="1"/>
          </p:cNvPicPr>
          <p:nvPr/>
        </p:nvPicPr>
        <p:blipFill>
          <a:blip r:embed="rId2"/>
          <a:stretch>
            <a:fillRect/>
          </a:stretch>
        </p:blipFill>
        <p:spPr>
          <a:xfrm>
            <a:off x="9990892" y="3189327"/>
            <a:ext cx="267891" cy="334923"/>
          </a:xfrm>
          <a:prstGeom prst="rect">
            <a:avLst/>
          </a:prstGeom>
        </p:spPr>
      </p:pic>
      <p:sp>
        <p:nvSpPr>
          <p:cNvPr id="15" name="Text 11"/>
          <p:cNvSpPr/>
          <p:nvPr/>
        </p:nvSpPr>
        <p:spPr>
          <a:xfrm>
            <a:off x="9827181" y="3852863"/>
            <a:ext cx="348674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Recurrent Neural Network (RNN)</a:t>
            </a:r>
            <a:endParaRPr lang="en-US" sz="1950" dirty="0"/>
          </a:p>
        </p:txBody>
      </p:sp>
      <p:sp>
        <p:nvSpPr>
          <p:cNvPr id="16" name="Text 12"/>
          <p:cNvSpPr/>
          <p:nvPr/>
        </p:nvSpPr>
        <p:spPr>
          <a:xfrm>
            <a:off x="9827181" y="4282083"/>
            <a:ext cx="3803333" cy="158769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Memiliki koneksi feedback, memungkinkan pemrosesan sekuensial. Dalam computer vision, digunakan untuk analisis video atau sequence of images.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922377"/>
            <a:ext cx="8107442"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Convolutional Neural Networks (CNN)</a:t>
            </a:r>
            <a:endParaRPr lang="en-US" sz="3900" dirty="0"/>
          </a:p>
        </p:txBody>
      </p:sp>
      <p:sp>
        <p:nvSpPr>
          <p:cNvPr id="3" name="Text 1"/>
          <p:cNvSpPr/>
          <p:nvPr/>
        </p:nvSpPr>
        <p:spPr>
          <a:xfrm>
            <a:off x="793790" y="1939290"/>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CNN merupakan arsitektur JST yang sangat efektif untuk tugas-tugas computer vision karena dirancang khusus untuk menangani data citra.</a:t>
            </a:r>
            <a:endParaRPr lang="en-US" sz="1550" dirty="0"/>
          </a:p>
        </p:txBody>
      </p:sp>
      <p:pic>
        <p:nvPicPr>
          <p:cNvPr id="4" name="Image 0" descr="preencoded.png">    </p:cNvPr>
          <p:cNvPicPr>
            <a:picLocks noChangeAspect="1"/>
          </p:cNvPicPr>
          <p:nvPr/>
        </p:nvPicPr>
        <p:blipFill>
          <a:blip r:embed="rId1"/>
          <a:stretch>
            <a:fillRect/>
          </a:stretch>
        </p:blipFill>
        <p:spPr>
          <a:xfrm>
            <a:off x="793790" y="2797612"/>
            <a:ext cx="6521410" cy="793790"/>
          </a:xfrm>
          <a:prstGeom prst="rect">
            <a:avLst/>
          </a:prstGeom>
        </p:spPr>
      </p:pic>
      <p:sp>
        <p:nvSpPr>
          <p:cNvPr id="5" name="Text 2"/>
          <p:cNvSpPr/>
          <p:nvPr/>
        </p:nvSpPr>
        <p:spPr>
          <a:xfrm>
            <a:off x="992148" y="378975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Input Layer</a:t>
            </a:r>
            <a:endParaRPr lang="en-US" sz="1950" dirty="0"/>
          </a:p>
        </p:txBody>
      </p:sp>
      <p:sp>
        <p:nvSpPr>
          <p:cNvPr id="6" name="Text 3"/>
          <p:cNvSpPr/>
          <p:nvPr/>
        </p:nvSpPr>
        <p:spPr>
          <a:xfrm>
            <a:off x="992148" y="4218980"/>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Menerima citra input dalam bentuk tensor multi-dimensi (tinggi × lebar × channel)</a:t>
            </a:r>
            <a:endParaRPr lang="en-US" sz="1550" dirty="0"/>
          </a:p>
        </p:txBody>
      </p:sp>
      <p:pic>
        <p:nvPicPr>
          <p:cNvPr id="7" name="Image 1" descr="preencoded.png">    </p:cNvPr>
          <p:cNvPicPr>
            <a:picLocks noChangeAspect="1"/>
          </p:cNvPicPr>
          <p:nvPr/>
        </p:nvPicPr>
        <p:blipFill>
          <a:blip r:embed="rId2"/>
          <a:stretch>
            <a:fillRect/>
          </a:stretch>
        </p:blipFill>
        <p:spPr>
          <a:xfrm>
            <a:off x="7315200" y="2797612"/>
            <a:ext cx="6521410" cy="793790"/>
          </a:xfrm>
          <a:prstGeom prst="rect">
            <a:avLst/>
          </a:prstGeom>
        </p:spPr>
      </p:pic>
      <p:sp>
        <p:nvSpPr>
          <p:cNvPr id="8" name="Text 4"/>
          <p:cNvSpPr/>
          <p:nvPr/>
        </p:nvSpPr>
        <p:spPr>
          <a:xfrm>
            <a:off x="7513558" y="378975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Convolutional Layer</a:t>
            </a:r>
            <a:endParaRPr lang="en-US" sz="1950" dirty="0"/>
          </a:p>
        </p:txBody>
      </p:sp>
      <p:sp>
        <p:nvSpPr>
          <p:cNvPr id="9" name="Text 5"/>
          <p:cNvSpPr/>
          <p:nvPr/>
        </p:nvSpPr>
        <p:spPr>
          <a:xfrm>
            <a:off x="7513558" y="4218980"/>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Melakukan operasi konvolusi menggunakan filter untuk ekstraksi fitur spasial</a:t>
            </a:r>
            <a:endParaRPr lang="en-US" sz="1550" dirty="0"/>
          </a:p>
        </p:txBody>
      </p:sp>
      <p:pic>
        <p:nvPicPr>
          <p:cNvPr id="10" name="Image 2" descr="preencoded.png">    </p:cNvPr>
          <p:cNvPicPr>
            <a:picLocks noChangeAspect="1"/>
          </p:cNvPicPr>
          <p:nvPr/>
        </p:nvPicPr>
        <p:blipFill>
          <a:blip r:embed="rId3"/>
          <a:stretch>
            <a:fillRect/>
          </a:stretch>
        </p:blipFill>
        <p:spPr>
          <a:xfrm>
            <a:off x="793790" y="5052417"/>
            <a:ext cx="6521410" cy="793790"/>
          </a:xfrm>
          <a:prstGeom prst="rect">
            <a:avLst/>
          </a:prstGeom>
        </p:spPr>
      </p:pic>
      <p:sp>
        <p:nvSpPr>
          <p:cNvPr id="11" name="Text 6"/>
          <p:cNvSpPr/>
          <p:nvPr/>
        </p:nvSpPr>
        <p:spPr>
          <a:xfrm>
            <a:off x="992148" y="604456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Pooling Layer</a:t>
            </a:r>
            <a:endParaRPr lang="en-US" sz="1950" dirty="0"/>
          </a:p>
        </p:txBody>
      </p:sp>
      <p:sp>
        <p:nvSpPr>
          <p:cNvPr id="12" name="Text 7"/>
          <p:cNvSpPr/>
          <p:nvPr/>
        </p:nvSpPr>
        <p:spPr>
          <a:xfrm>
            <a:off x="992148" y="6473785"/>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Mengurangi dimensi spasial (down-sampling) untuk mengurangi parameter</a:t>
            </a:r>
            <a:endParaRPr lang="en-US" sz="1550" dirty="0"/>
          </a:p>
        </p:txBody>
      </p:sp>
      <p:pic>
        <p:nvPicPr>
          <p:cNvPr id="13" name="Image 3" descr="preencoded.png">    </p:cNvPr>
          <p:cNvPicPr>
            <a:picLocks noChangeAspect="1"/>
          </p:cNvPicPr>
          <p:nvPr/>
        </p:nvPicPr>
        <p:blipFill>
          <a:blip r:embed="rId4"/>
          <a:stretch>
            <a:fillRect/>
          </a:stretch>
        </p:blipFill>
        <p:spPr>
          <a:xfrm>
            <a:off x="7315200" y="5052417"/>
            <a:ext cx="6521410" cy="793790"/>
          </a:xfrm>
          <a:prstGeom prst="rect">
            <a:avLst/>
          </a:prstGeom>
        </p:spPr>
      </p:pic>
      <p:sp>
        <p:nvSpPr>
          <p:cNvPr id="14" name="Text 8"/>
          <p:cNvSpPr/>
          <p:nvPr/>
        </p:nvSpPr>
        <p:spPr>
          <a:xfrm>
            <a:off x="7513558" y="604456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Fully Connected Layer</a:t>
            </a:r>
            <a:endParaRPr lang="en-US" sz="1950" dirty="0"/>
          </a:p>
        </p:txBody>
      </p:sp>
      <p:sp>
        <p:nvSpPr>
          <p:cNvPr id="15" name="Text 9"/>
          <p:cNvSpPr/>
          <p:nvPr/>
        </p:nvSpPr>
        <p:spPr>
          <a:xfrm>
            <a:off x="7513558" y="6473785"/>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Mengklasifikasikan fitur yang telah diekstraksi ke dalam kelas yang ditentukan</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3130034"/>
            <a:ext cx="5448062"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Proses Pembelajaran JST</a:t>
            </a:r>
            <a:endParaRPr lang="en-US" sz="3900" dirty="0"/>
          </a:p>
        </p:txBody>
      </p:sp>
      <p:sp>
        <p:nvSpPr>
          <p:cNvPr id="3" name="Text 1"/>
          <p:cNvSpPr/>
          <p:nvPr/>
        </p:nvSpPr>
        <p:spPr>
          <a:xfrm>
            <a:off x="793790" y="4146947"/>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Pembelajaran JST terjadi melalui proses iteratif yang terus menerus memperbaiki bobot-bobot dalam jaringan untuk meminimalkan error antara prediksi dan nilai sebenarnya. Algoritma backpropagation sangat penting dalam proses ini, memungkinkan jaringan untuk "belajar" dari kesalahan dan meningkatkan akurasinya secara bertahap.</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149548"/>
            <a:ext cx="6006227"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Algoritma Backpropagation</a:t>
            </a:r>
            <a:endParaRPr lang="en-US" sz="3900" dirty="0"/>
          </a:p>
        </p:txBody>
      </p:sp>
      <p:sp>
        <p:nvSpPr>
          <p:cNvPr id="3" name="Text 1"/>
          <p:cNvSpPr/>
          <p:nvPr/>
        </p:nvSpPr>
        <p:spPr>
          <a:xfrm>
            <a:off x="793790" y="2166461"/>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Backpropagation adalah algoritma pembelajaran terawasi yang digunakan untuk melatih JST dengan mempropagasi error dari output ke input dan memperbarui bobot.</a:t>
            </a:r>
            <a:endParaRPr lang="en-US" sz="1550" dirty="0"/>
          </a:p>
        </p:txBody>
      </p:sp>
      <p:sp>
        <p:nvSpPr>
          <p:cNvPr id="4" name="Shape 2"/>
          <p:cNvSpPr/>
          <p:nvPr/>
        </p:nvSpPr>
        <p:spPr>
          <a:xfrm>
            <a:off x="793790" y="3024783"/>
            <a:ext cx="6422231" cy="1963103"/>
          </a:xfrm>
          <a:prstGeom prst="roundRect">
            <a:avLst>
              <a:gd name="adj" fmla="val 4246"/>
            </a:avLst>
          </a:prstGeom>
          <a:solidFill>
            <a:srgbClr val="FFFFFF"/>
          </a:solidFill>
          <a:ln w="22860">
            <a:solidFill>
              <a:srgbClr val="C5D2CF"/>
            </a:solidFill>
            <a:prstDash val="solid"/>
          </a:ln>
        </p:spPr>
      </p:sp>
      <p:sp>
        <p:nvSpPr>
          <p:cNvPr id="5" name="Text 3"/>
          <p:cNvSpPr/>
          <p:nvPr/>
        </p:nvSpPr>
        <p:spPr>
          <a:xfrm>
            <a:off x="1015008" y="3246001"/>
            <a:ext cx="3164086"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Tahap 1: Forward Propagation</a:t>
            </a:r>
            <a:endParaRPr lang="en-US" sz="1950" dirty="0"/>
          </a:p>
        </p:txBody>
      </p:sp>
      <p:sp>
        <p:nvSpPr>
          <p:cNvPr id="6" name="Text 4"/>
          <p:cNvSpPr/>
          <p:nvPr/>
        </p:nvSpPr>
        <p:spPr>
          <a:xfrm>
            <a:off x="1015008" y="3675221"/>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Input data dimasukkan ke jaringan</a:t>
            </a:r>
            <a:endParaRPr lang="en-US" sz="1550" dirty="0"/>
          </a:p>
        </p:txBody>
      </p:sp>
      <p:sp>
        <p:nvSpPr>
          <p:cNvPr id="7" name="Text 5"/>
          <p:cNvSpPr/>
          <p:nvPr/>
        </p:nvSpPr>
        <p:spPr>
          <a:xfrm>
            <a:off x="1015008" y="4062174"/>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Data diproses melalui semua lapisan jaringan</a:t>
            </a:r>
            <a:endParaRPr lang="en-US" sz="1550" dirty="0"/>
          </a:p>
        </p:txBody>
      </p:sp>
      <p:sp>
        <p:nvSpPr>
          <p:cNvPr id="8" name="Text 6"/>
          <p:cNvSpPr/>
          <p:nvPr/>
        </p:nvSpPr>
        <p:spPr>
          <a:xfrm>
            <a:off x="1015008" y="4449128"/>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Menghasilkan output prediksi</a:t>
            </a:r>
            <a:endParaRPr lang="en-US" sz="1550" dirty="0"/>
          </a:p>
        </p:txBody>
      </p:sp>
      <p:sp>
        <p:nvSpPr>
          <p:cNvPr id="9" name="Shape 7"/>
          <p:cNvSpPr/>
          <p:nvPr/>
        </p:nvSpPr>
        <p:spPr>
          <a:xfrm>
            <a:off x="7414379" y="3024783"/>
            <a:ext cx="6422231" cy="1963103"/>
          </a:xfrm>
          <a:prstGeom prst="roundRect">
            <a:avLst>
              <a:gd name="adj" fmla="val 4246"/>
            </a:avLst>
          </a:prstGeom>
          <a:solidFill>
            <a:srgbClr val="FFFFFF"/>
          </a:solidFill>
          <a:ln w="22860">
            <a:solidFill>
              <a:srgbClr val="C5D2CF"/>
            </a:solidFill>
            <a:prstDash val="solid"/>
          </a:ln>
        </p:spPr>
      </p:sp>
      <p:sp>
        <p:nvSpPr>
          <p:cNvPr id="10" name="Text 8"/>
          <p:cNvSpPr/>
          <p:nvPr/>
        </p:nvSpPr>
        <p:spPr>
          <a:xfrm>
            <a:off x="7635597" y="3246001"/>
            <a:ext cx="2518767"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Tahap 2: Kalkulasi Error</a:t>
            </a:r>
            <a:endParaRPr lang="en-US" sz="1950" dirty="0"/>
          </a:p>
        </p:txBody>
      </p:sp>
      <p:sp>
        <p:nvSpPr>
          <p:cNvPr id="11" name="Text 9"/>
          <p:cNvSpPr/>
          <p:nvPr/>
        </p:nvSpPr>
        <p:spPr>
          <a:xfrm>
            <a:off x="7635597" y="3675221"/>
            <a:ext cx="597979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Menghitung perbedaan antara output prediksi dan target sebenarnya</a:t>
            </a:r>
            <a:endParaRPr lang="en-US" sz="1550" dirty="0"/>
          </a:p>
        </p:txBody>
      </p:sp>
      <p:sp>
        <p:nvSpPr>
          <p:cNvPr id="12" name="Text 10"/>
          <p:cNvSpPr/>
          <p:nvPr/>
        </p:nvSpPr>
        <p:spPr>
          <a:xfrm>
            <a:off x="7635597" y="4379714"/>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Menggunakan fungsi loss (misalnya MSE, cross-entropy)</a:t>
            </a:r>
            <a:endParaRPr lang="en-US" sz="1550" dirty="0"/>
          </a:p>
        </p:txBody>
      </p:sp>
      <p:sp>
        <p:nvSpPr>
          <p:cNvPr id="13" name="Shape 11"/>
          <p:cNvSpPr/>
          <p:nvPr/>
        </p:nvSpPr>
        <p:spPr>
          <a:xfrm>
            <a:off x="793790" y="5186243"/>
            <a:ext cx="6422231" cy="1893689"/>
          </a:xfrm>
          <a:prstGeom prst="roundRect">
            <a:avLst>
              <a:gd name="adj" fmla="val 4402"/>
            </a:avLst>
          </a:prstGeom>
          <a:solidFill>
            <a:srgbClr val="FFFFFF"/>
          </a:solidFill>
          <a:ln w="22860">
            <a:solidFill>
              <a:srgbClr val="C5D2CF"/>
            </a:solidFill>
            <a:prstDash val="solid"/>
          </a:ln>
        </p:spPr>
      </p:sp>
      <p:sp>
        <p:nvSpPr>
          <p:cNvPr id="14" name="Text 12"/>
          <p:cNvSpPr/>
          <p:nvPr/>
        </p:nvSpPr>
        <p:spPr>
          <a:xfrm>
            <a:off x="1015008" y="5407462"/>
            <a:ext cx="3398044"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Tahap 3: Backward Propagation</a:t>
            </a:r>
            <a:endParaRPr lang="en-US" sz="1950" dirty="0"/>
          </a:p>
        </p:txBody>
      </p:sp>
      <p:sp>
        <p:nvSpPr>
          <p:cNvPr id="15" name="Text 13"/>
          <p:cNvSpPr/>
          <p:nvPr/>
        </p:nvSpPr>
        <p:spPr>
          <a:xfrm>
            <a:off x="1015008" y="5836682"/>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Menghitung gradien error terhadap setiap bobot</a:t>
            </a:r>
            <a:endParaRPr lang="en-US" sz="1550" dirty="0"/>
          </a:p>
        </p:txBody>
      </p:sp>
      <p:sp>
        <p:nvSpPr>
          <p:cNvPr id="16" name="Text 14"/>
          <p:cNvSpPr/>
          <p:nvPr/>
        </p:nvSpPr>
        <p:spPr>
          <a:xfrm>
            <a:off x="1015008" y="6223635"/>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Mempropagasi error dari output ke lapisan sebelumnya</a:t>
            </a:r>
            <a:endParaRPr lang="en-US" sz="1550" dirty="0"/>
          </a:p>
        </p:txBody>
      </p:sp>
      <p:sp>
        <p:nvSpPr>
          <p:cNvPr id="17" name="Shape 15"/>
          <p:cNvSpPr/>
          <p:nvPr/>
        </p:nvSpPr>
        <p:spPr>
          <a:xfrm>
            <a:off x="7414379" y="5186243"/>
            <a:ext cx="6422231" cy="1893689"/>
          </a:xfrm>
          <a:prstGeom prst="roundRect">
            <a:avLst>
              <a:gd name="adj" fmla="val 4402"/>
            </a:avLst>
          </a:prstGeom>
          <a:solidFill>
            <a:srgbClr val="FFFFFF"/>
          </a:solidFill>
          <a:ln w="22860">
            <a:solidFill>
              <a:srgbClr val="C5D2CF"/>
            </a:solidFill>
            <a:prstDash val="solid"/>
          </a:ln>
        </p:spPr>
      </p:sp>
      <p:sp>
        <p:nvSpPr>
          <p:cNvPr id="18" name="Text 16"/>
          <p:cNvSpPr/>
          <p:nvPr/>
        </p:nvSpPr>
        <p:spPr>
          <a:xfrm>
            <a:off x="7635597" y="5407462"/>
            <a:ext cx="2950607"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Tahap 4: Pembaruan Bobot</a:t>
            </a:r>
            <a:endParaRPr lang="en-US" sz="1950" dirty="0"/>
          </a:p>
        </p:txBody>
      </p:sp>
      <p:sp>
        <p:nvSpPr>
          <p:cNvPr id="19" name="Text 17"/>
          <p:cNvSpPr/>
          <p:nvPr/>
        </p:nvSpPr>
        <p:spPr>
          <a:xfrm>
            <a:off x="7635597" y="5836682"/>
            <a:ext cx="597979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Menggunakan optimizer (SGD, Adam, dll.) untuk memperbarui bobot</a:t>
            </a:r>
            <a:endParaRPr lang="en-US" sz="1550" dirty="0"/>
          </a:p>
        </p:txBody>
      </p:sp>
      <p:sp>
        <p:nvSpPr>
          <p:cNvPr id="20" name="Text 18"/>
          <p:cNvSpPr/>
          <p:nvPr/>
        </p:nvSpPr>
        <p:spPr>
          <a:xfrm>
            <a:off x="7635597" y="6541175"/>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Bobot baru = bobot lama - learning rate × gradien</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661636"/>
            <a:ext cx="5707618"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Fungsi Loss dan Optimizer</a:t>
            </a:r>
            <a:endParaRPr lang="en-US" sz="3900" dirty="0"/>
          </a:p>
        </p:txBody>
      </p:sp>
      <p:sp>
        <p:nvSpPr>
          <p:cNvPr id="3" name="Text 1"/>
          <p:cNvSpPr/>
          <p:nvPr/>
        </p:nvSpPr>
        <p:spPr>
          <a:xfrm>
            <a:off x="793790" y="2777728"/>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272D45"/>
                </a:solidFill>
                <a:latin typeface="Kanit Light" pitchFamily="34" charset="0"/>
                <a:ea typeface="Kanit Light" pitchFamily="34" charset="-122"/>
                <a:cs typeface="Kanit Light" pitchFamily="34" charset="-120"/>
              </a:rPr>
              <a:t>Fungsi Loss</a:t>
            </a:r>
            <a:endParaRPr lang="en-US" sz="2300" dirty="0"/>
          </a:p>
        </p:txBody>
      </p:sp>
      <p:sp>
        <p:nvSpPr>
          <p:cNvPr id="4" name="Text 2"/>
          <p:cNvSpPr/>
          <p:nvPr/>
        </p:nvSpPr>
        <p:spPr>
          <a:xfrm>
            <a:off x="793790" y="3348157"/>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Mengukur seberapa jauh prediksi model dari nilai sebenarnya:</a:t>
            </a:r>
            <a:endParaRPr lang="en-US" sz="1550" dirty="0"/>
          </a:p>
        </p:txBody>
      </p:sp>
      <p:sp>
        <p:nvSpPr>
          <p:cNvPr id="5" name="Text 3"/>
          <p:cNvSpPr/>
          <p:nvPr/>
        </p:nvSpPr>
        <p:spPr>
          <a:xfrm>
            <a:off x="793790" y="384429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Mean Squared Error (MSE)</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Untuk regresi</a:t>
            </a:r>
            <a:endParaRPr lang="en-US" sz="1550" dirty="0"/>
          </a:p>
        </p:txBody>
      </p:sp>
      <p:sp>
        <p:nvSpPr>
          <p:cNvPr id="6" name="Text 4"/>
          <p:cNvSpPr/>
          <p:nvPr/>
        </p:nvSpPr>
        <p:spPr>
          <a:xfrm>
            <a:off x="793790" y="423124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Binary Cross-Entropy</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Untuk klasifikasi biner</a:t>
            </a:r>
            <a:endParaRPr lang="en-US" sz="1550" dirty="0"/>
          </a:p>
        </p:txBody>
      </p:sp>
      <p:sp>
        <p:nvSpPr>
          <p:cNvPr id="7" name="Text 5"/>
          <p:cNvSpPr/>
          <p:nvPr/>
        </p:nvSpPr>
        <p:spPr>
          <a:xfrm>
            <a:off x="793790" y="4618196"/>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Categorical Cross-Entropy</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Untuk klasifikasi multi-kelas</a:t>
            </a:r>
            <a:endParaRPr lang="en-US" sz="1550" dirty="0"/>
          </a:p>
        </p:txBody>
      </p:sp>
      <p:sp>
        <p:nvSpPr>
          <p:cNvPr id="8" name="Text 6"/>
          <p:cNvSpPr/>
          <p:nvPr/>
        </p:nvSpPr>
        <p:spPr>
          <a:xfrm>
            <a:off x="793790" y="5005149"/>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Sparse Categorical Cross-Entropy</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Untuk label integer</a:t>
            </a:r>
            <a:endParaRPr lang="en-US" sz="1550" dirty="0"/>
          </a:p>
        </p:txBody>
      </p:sp>
      <p:sp>
        <p:nvSpPr>
          <p:cNvPr id="9" name="Text 7"/>
          <p:cNvSpPr/>
          <p:nvPr/>
        </p:nvSpPr>
        <p:spPr>
          <a:xfrm>
            <a:off x="7564874" y="2777728"/>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272D45"/>
                </a:solidFill>
                <a:latin typeface="Kanit Light" pitchFamily="34" charset="0"/>
                <a:ea typeface="Kanit Light" pitchFamily="34" charset="-122"/>
                <a:cs typeface="Kanit Light" pitchFamily="34" charset="-120"/>
              </a:rPr>
              <a:t>Optimizer</a:t>
            </a:r>
            <a:endParaRPr lang="en-US" sz="2300" dirty="0"/>
          </a:p>
        </p:txBody>
      </p:sp>
      <p:sp>
        <p:nvSpPr>
          <p:cNvPr id="10" name="Text 8"/>
          <p:cNvSpPr/>
          <p:nvPr/>
        </p:nvSpPr>
        <p:spPr>
          <a:xfrm>
            <a:off x="7564874" y="3348157"/>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Algoritma yang digunakan untuk memperbarui bobot jaringan:</a:t>
            </a:r>
            <a:endParaRPr lang="en-US" sz="1550" dirty="0"/>
          </a:p>
        </p:txBody>
      </p:sp>
      <p:sp>
        <p:nvSpPr>
          <p:cNvPr id="11" name="Text 9"/>
          <p:cNvSpPr/>
          <p:nvPr/>
        </p:nvSpPr>
        <p:spPr>
          <a:xfrm>
            <a:off x="7564874" y="3844290"/>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Stochastic Gradient Descent (SGD)</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Sederhana, laju konvergensi lambat</a:t>
            </a:r>
            <a:endParaRPr lang="en-US" sz="1550" dirty="0"/>
          </a:p>
        </p:txBody>
      </p:sp>
      <p:sp>
        <p:nvSpPr>
          <p:cNvPr id="12" name="Text 10"/>
          <p:cNvSpPr/>
          <p:nvPr/>
        </p:nvSpPr>
        <p:spPr>
          <a:xfrm>
            <a:off x="7564874" y="454878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Adam</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Adaptif, konvergensi cepat</a:t>
            </a:r>
            <a:endParaRPr lang="en-US" sz="1550" dirty="0"/>
          </a:p>
        </p:txBody>
      </p:sp>
      <p:sp>
        <p:nvSpPr>
          <p:cNvPr id="13" name="Text 11"/>
          <p:cNvSpPr/>
          <p:nvPr/>
        </p:nvSpPr>
        <p:spPr>
          <a:xfrm>
            <a:off x="7564874" y="4935736"/>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RMSprop</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Baik untuk RNN</a:t>
            </a:r>
            <a:endParaRPr lang="en-US" sz="1550" dirty="0"/>
          </a:p>
        </p:txBody>
      </p:sp>
      <p:sp>
        <p:nvSpPr>
          <p:cNvPr id="14" name="Text 12"/>
          <p:cNvSpPr/>
          <p:nvPr/>
        </p:nvSpPr>
        <p:spPr>
          <a:xfrm>
            <a:off x="7564874" y="5322689"/>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Adagrad</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Adaptif untuk data jarang</a:t>
            </a:r>
            <a:endParaRPr lang="en-US" sz="1550" dirty="0"/>
          </a:p>
        </p:txBody>
      </p:sp>
      <p:sp>
        <p:nvSpPr>
          <p:cNvPr id="15" name="Text 13"/>
          <p:cNvSpPr/>
          <p:nvPr/>
        </p:nvSpPr>
        <p:spPr>
          <a:xfrm>
            <a:off x="793790" y="593288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Pemilihan fungsi loss dan optimizer yang tepat sangat memengaruhi performa model JST. Fungsi loss harus sesuai dengan jenis masalah (regresi/klasifikasi), sedangkan optimizer mempengaruhi kecepatan dan kualitas konvergensi.</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928807"/>
            <a:ext cx="8046839"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Regulasi dan Pencegahan Overfitting</a:t>
            </a:r>
            <a:endParaRPr lang="en-US" sz="3900" dirty="0"/>
          </a:p>
        </p:txBody>
      </p:sp>
      <p:sp>
        <p:nvSpPr>
          <p:cNvPr id="3" name="Shape 1"/>
          <p:cNvSpPr/>
          <p:nvPr/>
        </p:nvSpPr>
        <p:spPr>
          <a:xfrm>
            <a:off x="793790" y="1945719"/>
            <a:ext cx="6422231" cy="2737128"/>
          </a:xfrm>
          <a:prstGeom prst="roundRect">
            <a:avLst>
              <a:gd name="adj" fmla="val 3046"/>
            </a:avLst>
          </a:prstGeom>
          <a:solidFill>
            <a:srgbClr val="FFFFFF"/>
          </a:solidFill>
          <a:ln w="22860">
            <a:solidFill>
              <a:srgbClr val="C5D2CF"/>
            </a:solidFill>
            <a:prstDash val="solid"/>
          </a:ln>
        </p:spPr>
      </p:sp>
      <p:sp>
        <p:nvSpPr>
          <p:cNvPr id="4" name="Shape 2"/>
          <p:cNvSpPr/>
          <p:nvPr/>
        </p:nvSpPr>
        <p:spPr>
          <a:xfrm>
            <a:off x="816650" y="1968579"/>
            <a:ext cx="6376511" cy="595313"/>
          </a:xfrm>
          <a:prstGeom prst="roundRect">
            <a:avLst>
              <a:gd name="adj" fmla="val 9395"/>
            </a:avLst>
          </a:prstGeom>
          <a:solidFill>
            <a:srgbClr val="DFECE9"/>
          </a:solidFill>
          <a:ln/>
        </p:spPr>
      </p:sp>
      <p:sp>
        <p:nvSpPr>
          <p:cNvPr id="5" name="Text 3"/>
          <p:cNvSpPr/>
          <p:nvPr/>
        </p:nvSpPr>
        <p:spPr>
          <a:xfrm>
            <a:off x="1015008" y="276225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Dropout</a:t>
            </a:r>
            <a:endParaRPr lang="en-US" sz="1950" dirty="0"/>
          </a:p>
        </p:txBody>
      </p:sp>
      <p:sp>
        <p:nvSpPr>
          <p:cNvPr id="6" name="Text 4"/>
          <p:cNvSpPr/>
          <p:nvPr/>
        </p:nvSpPr>
        <p:spPr>
          <a:xfrm>
            <a:off x="1015008" y="3191470"/>
            <a:ext cx="5979795"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Secara acak mematikan sebagian neuron selama pelatihan untuk mencegah ketergantungan antar neuron. Biasanya diatur dengan nilai probabilitas (misal: 0.5 berarti 50% neuron dimatikan).</a:t>
            </a:r>
            <a:endParaRPr lang="en-US" sz="1550" dirty="0"/>
          </a:p>
        </p:txBody>
      </p:sp>
      <p:sp>
        <p:nvSpPr>
          <p:cNvPr id="7" name="Shape 5"/>
          <p:cNvSpPr/>
          <p:nvPr/>
        </p:nvSpPr>
        <p:spPr>
          <a:xfrm>
            <a:off x="7414379" y="1945719"/>
            <a:ext cx="6422231" cy="2737128"/>
          </a:xfrm>
          <a:prstGeom prst="roundRect">
            <a:avLst>
              <a:gd name="adj" fmla="val 3046"/>
            </a:avLst>
          </a:prstGeom>
          <a:solidFill>
            <a:srgbClr val="FFFFFF"/>
          </a:solidFill>
          <a:ln w="22860">
            <a:solidFill>
              <a:srgbClr val="C5D2CF"/>
            </a:solidFill>
            <a:prstDash val="solid"/>
          </a:ln>
        </p:spPr>
      </p:sp>
      <p:sp>
        <p:nvSpPr>
          <p:cNvPr id="8" name="Shape 6"/>
          <p:cNvSpPr/>
          <p:nvPr/>
        </p:nvSpPr>
        <p:spPr>
          <a:xfrm>
            <a:off x="7437239" y="1968579"/>
            <a:ext cx="6376511" cy="595313"/>
          </a:xfrm>
          <a:prstGeom prst="roundRect">
            <a:avLst>
              <a:gd name="adj" fmla="val 9395"/>
            </a:avLst>
          </a:prstGeom>
          <a:solidFill>
            <a:srgbClr val="DFECE9"/>
          </a:solidFill>
          <a:ln/>
        </p:spPr>
      </p:sp>
      <p:pic>
        <p:nvPicPr>
          <p:cNvPr id="9" name="Image 0" descr="preencoded.png">    </p:cNvPr>
          <p:cNvPicPr>
            <a:picLocks noChangeAspect="1"/>
          </p:cNvPicPr>
          <p:nvPr/>
        </p:nvPicPr>
        <p:blipFill>
          <a:blip r:embed="rId1"/>
          <a:stretch>
            <a:fillRect/>
          </a:stretch>
        </p:blipFill>
        <p:spPr>
          <a:xfrm>
            <a:off x="10476667" y="2076331"/>
            <a:ext cx="297656" cy="372070"/>
          </a:xfrm>
          <a:prstGeom prst="rect">
            <a:avLst/>
          </a:prstGeom>
        </p:spPr>
      </p:pic>
      <p:sp>
        <p:nvSpPr>
          <p:cNvPr id="10" name="Text 7"/>
          <p:cNvSpPr/>
          <p:nvPr/>
        </p:nvSpPr>
        <p:spPr>
          <a:xfrm>
            <a:off x="7635597" y="276225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Regularisasi L1/L2</a:t>
            </a:r>
            <a:endParaRPr lang="en-US" sz="1950" dirty="0"/>
          </a:p>
        </p:txBody>
      </p:sp>
      <p:sp>
        <p:nvSpPr>
          <p:cNvPr id="11" name="Text 8"/>
          <p:cNvSpPr/>
          <p:nvPr/>
        </p:nvSpPr>
        <p:spPr>
          <a:xfrm>
            <a:off x="7635597" y="3191470"/>
            <a:ext cx="597979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Menambahkan penalti pada bobot besar untuk mencegah kompleksitas model berlebihan. L1 mendorong sparsity, L2 mendorong bobot kecil dan merata.</a:t>
            </a:r>
            <a:endParaRPr lang="en-US" sz="1550" dirty="0"/>
          </a:p>
        </p:txBody>
      </p:sp>
      <p:sp>
        <p:nvSpPr>
          <p:cNvPr id="12" name="Shape 9"/>
          <p:cNvSpPr/>
          <p:nvPr/>
        </p:nvSpPr>
        <p:spPr>
          <a:xfrm>
            <a:off x="793790" y="4881205"/>
            <a:ext cx="6422231" cy="2419588"/>
          </a:xfrm>
          <a:prstGeom prst="roundRect">
            <a:avLst>
              <a:gd name="adj" fmla="val 3445"/>
            </a:avLst>
          </a:prstGeom>
          <a:solidFill>
            <a:srgbClr val="FFFFFF"/>
          </a:solidFill>
          <a:ln w="22860">
            <a:solidFill>
              <a:srgbClr val="C5D2CF"/>
            </a:solidFill>
            <a:prstDash val="solid"/>
          </a:ln>
        </p:spPr>
      </p:sp>
      <p:sp>
        <p:nvSpPr>
          <p:cNvPr id="13" name="Shape 10"/>
          <p:cNvSpPr/>
          <p:nvPr/>
        </p:nvSpPr>
        <p:spPr>
          <a:xfrm>
            <a:off x="816650" y="4904065"/>
            <a:ext cx="6376511" cy="595313"/>
          </a:xfrm>
          <a:prstGeom prst="roundRect">
            <a:avLst>
              <a:gd name="adj" fmla="val 9395"/>
            </a:avLst>
          </a:prstGeom>
          <a:solidFill>
            <a:srgbClr val="DFECE9"/>
          </a:solidFill>
          <a:ln/>
        </p:spPr>
      </p:sp>
      <p:pic>
        <p:nvPicPr>
          <p:cNvPr id="14" name="Image 1" descr="preencoded.png">    </p:cNvPr>
          <p:cNvPicPr>
            <a:picLocks noChangeAspect="1"/>
          </p:cNvPicPr>
          <p:nvPr/>
        </p:nvPicPr>
        <p:blipFill>
          <a:blip r:embed="rId2"/>
          <a:stretch>
            <a:fillRect/>
          </a:stretch>
        </p:blipFill>
        <p:spPr>
          <a:xfrm>
            <a:off x="3856077" y="5011817"/>
            <a:ext cx="297656" cy="372070"/>
          </a:xfrm>
          <a:prstGeom prst="rect">
            <a:avLst/>
          </a:prstGeom>
        </p:spPr>
      </p:pic>
      <p:sp>
        <p:nvSpPr>
          <p:cNvPr id="15" name="Text 11"/>
          <p:cNvSpPr/>
          <p:nvPr/>
        </p:nvSpPr>
        <p:spPr>
          <a:xfrm>
            <a:off x="1015008" y="569773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Early Stopping</a:t>
            </a:r>
            <a:endParaRPr lang="en-US" sz="1950" dirty="0"/>
          </a:p>
        </p:txBody>
      </p:sp>
      <p:sp>
        <p:nvSpPr>
          <p:cNvPr id="16" name="Text 12"/>
          <p:cNvSpPr/>
          <p:nvPr/>
        </p:nvSpPr>
        <p:spPr>
          <a:xfrm>
            <a:off x="1015008" y="6126956"/>
            <a:ext cx="597979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Menghentikan pelatihan ketika performa pada validation set mulai memburuk, menandakan model mulai overfitting terhadap data latih.</a:t>
            </a:r>
            <a:endParaRPr lang="en-US" sz="1550" dirty="0"/>
          </a:p>
        </p:txBody>
      </p:sp>
      <p:sp>
        <p:nvSpPr>
          <p:cNvPr id="17" name="Shape 13"/>
          <p:cNvSpPr/>
          <p:nvPr/>
        </p:nvSpPr>
        <p:spPr>
          <a:xfrm>
            <a:off x="7414379" y="4881205"/>
            <a:ext cx="6422231" cy="2419588"/>
          </a:xfrm>
          <a:prstGeom prst="roundRect">
            <a:avLst>
              <a:gd name="adj" fmla="val 3445"/>
            </a:avLst>
          </a:prstGeom>
          <a:solidFill>
            <a:srgbClr val="FFFFFF"/>
          </a:solidFill>
          <a:ln w="22860">
            <a:solidFill>
              <a:srgbClr val="C5D2CF"/>
            </a:solidFill>
            <a:prstDash val="solid"/>
          </a:ln>
        </p:spPr>
      </p:sp>
      <p:sp>
        <p:nvSpPr>
          <p:cNvPr id="18" name="Shape 14"/>
          <p:cNvSpPr/>
          <p:nvPr/>
        </p:nvSpPr>
        <p:spPr>
          <a:xfrm>
            <a:off x="7437239" y="4904065"/>
            <a:ext cx="6376511" cy="595313"/>
          </a:xfrm>
          <a:prstGeom prst="roundRect">
            <a:avLst>
              <a:gd name="adj" fmla="val 9395"/>
            </a:avLst>
          </a:prstGeom>
          <a:solidFill>
            <a:srgbClr val="DFECE9"/>
          </a:solidFill>
          <a:ln/>
        </p:spPr>
      </p:sp>
      <p:pic>
        <p:nvPicPr>
          <p:cNvPr id="19" name="Image 2" descr="preencoded.png">    </p:cNvPr>
          <p:cNvPicPr>
            <a:picLocks noChangeAspect="1"/>
          </p:cNvPicPr>
          <p:nvPr/>
        </p:nvPicPr>
        <p:blipFill>
          <a:blip r:embed="rId3"/>
          <a:stretch>
            <a:fillRect/>
          </a:stretch>
        </p:blipFill>
        <p:spPr>
          <a:xfrm>
            <a:off x="10476667" y="5011817"/>
            <a:ext cx="297656" cy="372070"/>
          </a:xfrm>
          <a:prstGeom prst="rect">
            <a:avLst/>
          </a:prstGeom>
        </p:spPr>
      </p:pic>
      <p:sp>
        <p:nvSpPr>
          <p:cNvPr id="20" name="Text 15"/>
          <p:cNvSpPr/>
          <p:nvPr/>
        </p:nvSpPr>
        <p:spPr>
          <a:xfrm>
            <a:off x="7635597" y="569773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Batch Normalization</a:t>
            </a:r>
            <a:endParaRPr lang="en-US" sz="1950" dirty="0"/>
          </a:p>
        </p:txBody>
      </p:sp>
      <p:sp>
        <p:nvSpPr>
          <p:cNvPr id="21" name="Text 16"/>
          <p:cNvSpPr/>
          <p:nvPr/>
        </p:nvSpPr>
        <p:spPr>
          <a:xfrm>
            <a:off x="7635597" y="6126956"/>
            <a:ext cx="597979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Menormalkan aktivasi di setiap lapisan untuk menstabilkan dan mempercepat pembelajaran, serta memberikan efek regularisasi.</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713309"/>
            <a:ext cx="9804678"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Mengapa JST Efektif untuk Computer Vision?</a:t>
            </a:r>
            <a:endParaRPr lang="en-US" sz="3900" dirty="0"/>
          </a:p>
        </p:txBody>
      </p:sp>
      <p:sp>
        <p:nvSpPr>
          <p:cNvPr id="3" name="Shape 1"/>
          <p:cNvSpPr/>
          <p:nvPr/>
        </p:nvSpPr>
        <p:spPr>
          <a:xfrm>
            <a:off x="793790" y="2730222"/>
            <a:ext cx="6422231" cy="1793796"/>
          </a:xfrm>
          <a:prstGeom prst="roundRect">
            <a:avLst>
              <a:gd name="adj" fmla="val 26555"/>
            </a:avLst>
          </a:prstGeom>
          <a:solidFill>
            <a:srgbClr val="DFECE9"/>
          </a:solidFill>
          <a:ln w="7620">
            <a:solidFill>
              <a:srgbClr val="C5D2CF"/>
            </a:solidFill>
            <a:prstDash val="solid"/>
          </a:ln>
        </p:spPr>
      </p:sp>
      <p:sp>
        <p:nvSpPr>
          <p:cNvPr id="4" name="Text 2"/>
          <p:cNvSpPr/>
          <p:nvPr/>
        </p:nvSpPr>
        <p:spPr>
          <a:xfrm>
            <a:off x="999768" y="2936200"/>
            <a:ext cx="2521268"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Ekstraksi Fitur Hierarkis</a:t>
            </a:r>
            <a:endParaRPr lang="en-US" sz="1950" dirty="0"/>
          </a:p>
        </p:txBody>
      </p:sp>
      <p:sp>
        <p:nvSpPr>
          <p:cNvPr id="5" name="Text 3"/>
          <p:cNvSpPr/>
          <p:nvPr/>
        </p:nvSpPr>
        <p:spPr>
          <a:xfrm>
            <a:off x="999768" y="3365421"/>
            <a:ext cx="601027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JST, terutama CNN, dapat mempelajari fitur dari tingkat rendah (tepi, warna) hingga tingkat tinggi (tekstur, bentuk, objek) secara hierarkis.</a:t>
            </a:r>
            <a:endParaRPr lang="en-US" sz="1550" dirty="0"/>
          </a:p>
        </p:txBody>
      </p:sp>
      <p:sp>
        <p:nvSpPr>
          <p:cNvPr id="6" name="Shape 4"/>
          <p:cNvSpPr/>
          <p:nvPr/>
        </p:nvSpPr>
        <p:spPr>
          <a:xfrm>
            <a:off x="7414379" y="2730222"/>
            <a:ext cx="6422231" cy="1793796"/>
          </a:xfrm>
          <a:prstGeom prst="roundRect">
            <a:avLst>
              <a:gd name="adj" fmla="val 26555"/>
            </a:avLst>
          </a:prstGeom>
          <a:solidFill>
            <a:srgbClr val="DFECE9"/>
          </a:solidFill>
          <a:ln w="7620">
            <a:solidFill>
              <a:srgbClr val="C5D2CF"/>
            </a:solidFill>
            <a:prstDash val="solid"/>
          </a:ln>
        </p:spPr>
      </p:sp>
      <p:sp>
        <p:nvSpPr>
          <p:cNvPr id="7" name="Text 5"/>
          <p:cNvSpPr/>
          <p:nvPr/>
        </p:nvSpPr>
        <p:spPr>
          <a:xfrm>
            <a:off x="7620357" y="293620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Invariansi Spasial</a:t>
            </a:r>
            <a:endParaRPr lang="en-US" sz="1950" dirty="0"/>
          </a:p>
        </p:txBody>
      </p:sp>
      <p:sp>
        <p:nvSpPr>
          <p:cNvPr id="8" name="Text 6"/>
          <p:cNvSpPr/>
          <p:nvPr/>
        </p:nvSpPr>
        <p:spPr>
          <a:xfrm>
            <a:off x="7620357" y="3365421"/>
            <a:ext cx="601027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CNN mampu mengenali objek terlepas dari posisinya dalam citra melalui operasi konvolusi dan pooling, memberikan invariansi translasi.</a:t>
            </a:r>
            <a:endParaRPr lang="en-US" sz="1550" dirty="0"/>
          </a:p>
        </p:txBody>
      </p:sp>
      <p:sp>
        <p:nvSpPr>
          <p:cNvPr id="9" name="Shape 7"/>
          <p:cNvSpPr/>
          <p:nvPr/>
        </p:nvSpPr>
        <p:spPr>
          <a:xfrm>
            <a:off x="793790" y="4722376"/>
            <a:ext cx="6422231" cy="1793796"/>
          </a:xfrm>
          <a:prstGeom prst="roundRect">
            <a:avLst>
              <a:gd name="adj" fmla="val 26555"/>
            </a:avLst>
          </a:prstGeom>
          <a:solidFill>
            <a:srgbClr val="DFECE9"/>
          </a:solidFill>
          <a:ln w="7620">
            <a:solidFill>
              <a:srgbClr val="C5D2CF"/>
            </a:solidFill>
            <a:prstDash val="solid"/>
          </a:ln>
        </p:spPr>
      </p:sp>
      <p:sp>
        <p:nvSpPr>
          <p:cNvPr id="10" name="Text 8"/>
          <p:cNvSpPr/>
          <p:nvPr/>
        </p:nvSpPr>
        <p:spPr>
          <a:xfrm>
            <a:off x="999768" y="4928354"/>
            <a:ext cx="2749987"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Kemampuan Generalisasi</a:t>
            </a:r>
            <a:endParaRPr lang="en-US" sz="1950" dirty="0"/>
          </a:p>
        </p:txBody>
      </p:sp>
      <p:sp>
        <p:nvSpPr>
          <p:cNvPr id="11" name="Text 9"/>
          <p:cNvSpPr/>
          <p:nvPr/>
        </p:nvSpPr>
        <p:spPr>
          <a:xfrm>
            <a:off x="999768" y="5357574"/>
            <a:ext cx="6010275"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JST dapat menggeneralisasi dari data pelatihan ke data baru yang belum pernah dilihat, menangkap pola umum dalam citra.</a:t>
            </a:r>
            <a:endParaRPr lang="en-US" sz="1550" dirty="0"/>
          </a:p>
        </p:txBody>
      </p:sp>
      <p:sp>
        <p:nvSpPr>
          <p:cNvPr id="12" name="Shape 10"/>
          <p:cNvSpPr/>
          <p:nvPr/>
        </p:nvSpPr>
        <p:spPr>
          <a:xfrm>
            <a:off x="7414379" y="4722376"/>
            <a:ext cx="6422231" cy="1793796"/>
          </a:xfrm>
          <a:prstGeom prst="roundRect">
            <a:avLst>
              <a:gd name="adj" fmla="val 26555"/>
            </a:avLst>
          </a:prstGeom>
          <a:solidFill>
            <a:srgbClr val="DFECE9"/>
          </a:solidFill>
          <a:ln w="7620">
            <a:solidFill>
              <a:srgbClr val="C5D2CF"/>
            </a:solidFill>
            <a:prstDash val="solid"/>
          </a:ln>
        </p:spPr>
      </p:sp>
      <p:sp>
        <p:nvSpPr>
          <p:cNvPr id="13" name="Text 11"/>
          <p:cNvSpPr/>
          <p:nvPr/>
        </p:nvSpPr>
        <p:spPr>
          <a:xfrm>
            <a:off x="7620357" y="492835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Parameter Sharing</a:t>
            </a:r>
            <a:endParaRPr lang="en-US" sz="1950" dirty="0"/>
          </a:p>
        </p:txBody>
      </p:sp>
      <p:sp>
        <p:nvSpPr>
          <p:cNvPr id="14" name="Text 12"/>
          <p:cNvSpPr/>
          <p:nvPr/>
        </p:nvSpPr>
        <p:spPr>
          <a:xfrm>
            <a:off x="7620357" y="5357574"/>
            <a:ext cx="601027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Dalam CNN, filter konvolusi yang sama digunakan di seluruh citra, mengurangi jumlah parameter dan meningkatkan efisiensi.</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672584"/>
            <a:ext cx="6365081" cy="465177"/>
          </a:xfrm>
          <a:prstGeom prst="rect">
            <a:avLst/>
          </a:prstGeom>
          <a:noFill/>
          <a:ln/>
        </p:spPr>
        <p:txBody>
          <a:bodyPr wrap="none" lIns="0" tIns="0" rIns="0" bIns="0" rtlCol="0" anchor="t"/>
          <a:lstStyle/>
          <a:p>
            <a:pPr algn="l" indent="0" marL="0">
              <a:lnSpc>
                <a:spcPts val="3650"/>
              </a:lnSpc>
              <a:buNone/>
            </a:pPr>
            <a:r>
              <a:rPr lang="en-US" sz="2900" dirty="0">
                <a:solidFill>
                  <a:srgbClr val="272D45"/>
                </a:solidFill>
                <a:latin typeface="Kanit Light" pitchFamily="34" charset="0"/>
                <a:ea typeface="Kanit Light" pitchFamily="34" charset="-122"/>
                <a:cs typeface="Kanit Light" pitchFamily="34" charset="-120"/>
              </a:rPr>
              <a:t>Penerapan JST dalam Computer Vision</a:t>
            </a:r>
            <a:endParaRPr lang="en-US" sz="2900" dirty="0"/>
          </a:p>
        </p:txBody>
      </p:sp>
      <p:pic>
        <p:nvPicPr>
          <p:cNvPr id="3" name="Image 0" descr="preencoded.png">    </p:cNvPr>
          <p:cNvPicPr>
            <a:picLocks noChangeAspect="1"/>
          </p:cNvPicPr>
          <p:nvPr/>
        </p:nvPicPr>
        <p:blipFill>
          <a:blip r:embed="rId1"/>
          <a:stretch>
            <a:fillRect/>
          </a:stretch>
        </p:blipFill>
        <p:spPr>
          <a:xfrm>
            <a:off x="793790" y="1435418"/>
            <a:ext cx="9782056" cy="5477947"/>
          </a:xfrm>
          <a:prstGeom prst="rect">
            <a:avLst/>
          </a:prstGeom>
        </p:spPr>
      </p:pic>
      <p:sp>
        <p:nvSpPr>
          <p:cNvPr id="4" name="Text 1"/>
          <p:cNvSpPr/>
          <p:nvPr/>
        </p:nvSpPr>
        <p:spPr>
          <a:xfrm>
            <a:off x="793790" y="7080766"/>
            <a:ext cx="13042821" cy="476250"/>
          </a:xfrm>
          <a:prstGeom prst="rect">
            <a:avLst/>
          </a:prstGeom>
          <a:noFill/>
          <a:ln/>
        </p:spPr>
        <p:txBody>
          <a:bodyPr wrap="square" lIns="0" tIns="0" rIns="0" bIns="0" rtlCol="0" anchor="t"/>
          <a:lstStyle/>
          <a:p>
            <a:pPr algn="l" indent="0" marL="0">
              <a:lnSpc>
                <a:spcPts val="1850"/>
              </a:lnSpc>
              <a:buNone/>
            </a:pPr>
            <a:r>
              <a:rPr lang="en-US" sz="1150" dirty="0">
                <a:solidFill>
                  <a:srgbClr val="2C3249"/>
                </a:solidFill>
                <a:latin typeface="Martel Sans" pitchFamily="34" charset="0"/>
                <a:ea typeface="Martel Sans" pitchFamily="34" charset="-122"/>
                <a:cs typeface="Martel Sans" pitchFamily="34" charset="-120"/>
              </a:rPr>
              <a:t>JST, khususnya CNN, telah menjadi tulang punggung sebagian besar aplikasi computer vision modern. Grafik di atas menunjukkan tingkat adopsi JST dalam berbagai aplikasi computer vision, dengan klasifikasi citra menjadi aplikasi yang paling banyak mengadopsi teknologi ini.</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1682829"/>
            <a:ext cx="6857643"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Dataset untuk Computer Vision</a:t>
            </a:r>
            <a:endParaRPr lang="en-US" sz="3900" dirty="0"/>
          </a:p>
        </p:txBody>
      </p:sp>
      <p:sp>
        <p:nvSpPr>
          <p:cNvPr id="3" name="Shape 1"/>
          <p:cNvSpPr/>
          <p:nvPr/>
        </p:nvSpPr>
        <p:spPr>
          <a:xfrm>
            <a:off x="793790" y="2699742"/>
            <a:ext cx="6422231" cy="1824276"/>
          </a:xfrm>
          <a:prstGeom prst="roundRect">
            <a:avLst>
              <a:gd name="adj" fmla="val 6015"/>
            </a:avLst>
          </a:prstGeom>
          <a:solidFill>
            <a:srgbClr val="FFFFFF"/>
          </a:solidFill>
          <a:ln w="22860">
            <a:solidFill>
              <a:srgbClr val="C5D2CF"/>
            </a:solidFill>
            <a:prstDash val="solid"/>
          </a:ln>
        </p:spPr>
      </p:sp>
      <p:sp>
        <p:nvSpPr>
          <p:cNvPr id="4" name="Shape 2"/>
          <p:cNvSpPr/>
          <p:nvPr/>
        </p:nvSpPr>
        <p:spPr>
          <a:xfrm>
            <a:off x="770930" y="2699742"/>
            <a:ext cx="91440" cy="1824276"/>
          </a:xfrm>
          <a:prstGeom prst="roundRect">
            <a:avLst>
              <a:gd name="adj" fmla="val 91163"/>
            </a:avLst>
          </a:prstGeom>
          <a:solidFill>
            <a:srgbClr val="437066"/>
          </a:solidFill>
          <a:ln/>
        </p:spPr>
      </p:sp>
      <p:sp>
        <p:nvSpPr>
          <p:cNvPr id="5" name="Text 3"/>
          <p:cNvSpPr/>
          <p:nvPr/>
        </p:nvSpPr>
        <p:spPr>
          <a:xfrm>
            <a:off x="1083588" y="292096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MNIST</a:t>
            </a:r>
            <a:endParaRPr lang="en-US" sz="1950" dirty="0"/>
          </a:p>
        </p:txBody>
      </p:sp>
      <p:sp>
        <p:nvSpPr>
          <p:cNvPr id="6" name="Text 4"/>
          <p:cNvSpPr/>
          <p:nvPr/>
        </p:nvSpPr>
        <p:spPr>
          <a:xfrm>
            <a:off x="1083588" y="3350181"/>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Dataset klasik berisi 70.000 citra digit tulisan tangan (0-9) dalam format grayscale 28×28 piksel. Sering digunakan sebagai "Hello World" dalam computer vision.</a:t>
            </a:r>
            <a:endParaRPr lang="en-US" sz="1550" dirty="0"/>
          </a:p>
        </p:txBody>
      </p:sp>
      <p:sp>
        <p:nvSpPr>
          <p:cNvPr id="7" name="Shape 5"/>
          <p:cNvSpPr/>
          <p:nvPr/>
        </p:nvSpPr>
        <p:spPr>
          <a:xfrm>
            <a:off x="7414379" y="2699742"/>
            <a:ext cx="6422231" cy="1824276"/>
          </a:xfrm>
          <a:prstGeom prst="roundRect">
            <a:avLst>
              <a:gd name="adj" fmla="val 6015"/>
            </a:avLst>
          </a:prstGeom>
          <a:solidFill>
            <a:srgbClr val="FFFFFF"/>
          </a:solidFill>
          <a:ln w="22860">
            <a:solidFill>
              <a:srgbClr val="C5D2CF"/>
            </a:solidFill>
            <a:prstDash val="solid"/>
          </a:ln>
        </p:spPr>
      </p:sp>
      <p:sp>
        <p:nvSpPr>
          <p:cNvPr id="8" name="Shape 6"/>
          <p:cNvSpPr/>
          <p:nvPr/>
        </p:nvSpPr>
        <p:spPr>
          <a:xfrm>
            <a:off x="7391519" y="2699742"/>
            <a:ext cx="91440" cy="1824276"/>
          </a:xfrm>
          <a:prstGeom prst="roundRect">
            <a:avLst>
              <a:gd name="adj" fmla="val 91163"/>
            </a:avLst>
          </a:prstGeom>
          <a:solidFill>
            <a:srgbClr val="437066"/>
          </a:solidFill>
          <a:ln/>
        </p:spPr>
      </p:sp>
      <p:sp>
        <p:nvSpPr>
          <p:cNvPr id="9" name="Text 7"/>
          <p:cNvSpPr/>
          <p:nvPr/>
        </p:nvSpPr>
        <p:spPr>
          <a:xfrm>
            <a:off x="7704177" y="292096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CIFAR-10/100</a:t>
            </a:r>
            <a:endParaRPr lang="en-US" sz="1950" dirty="0"/>
          </a:p>
        </p:txBody>
      </p:sp>
      <p:sp>
        <p:nvSpPr>
          <p:cNvPr id="10" name="Text 8"/>
          <p:cNvSpPr/>
          <p:nvPr/>
        </p:nvSpPr>
        <p:spPr>
          <a:xfrm>
            <a:off x="7704177" y="3350181"/>
            <a:ext cx="5911215"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CIFAR-10 berisi 60.000 citra berwarna 32×32 dalam 10 kelas. CIFAR-100 memiliki 100 kelas dengan 600 citra per kelas.</a:t>
            </a:r>
            <a:endParaRPr lang="en-US" sz="1550" dirty="0"/>
          </a:p>
        </p:txBody>
      </p:sp>
      <p:sp>
        <p:nvSpPr>
          <p:cNvPr id="11" name="Shape 9"/>
          <p:cNvSpPr/>
          <p:nvPr/>
        </p:nvSpPr>
        <p:spPr>
          <a:xfrm>
            <a:off x="793790" y="4722376"/>
            <a:ext cx="6422231" cy="1824276"/>
          </a:xfrm>
          <a:prstGeom prst="roundRect">
            <a:avLst>
              <a:gd name="adj" fmla="val 6015"/>
            </a:avLst>
          </a:prstGeom>
          <a:solidFill>
            <a:srgbClr val="FFFFFF"/>
          </a:solidFill>
          <a:ln w="22860">
            <a:solidFill>
              <a:srgbClr val="C5D2CF"/>
            </a:solidFill>
            <a:prstDash val="solid"/>
          </a:ln>
        </p:spPr>
      </p:sp>
      <p:sp>
        <p:nvSpPr>
          <p:cNvPr id="12" name="Shape 10"/>
          <p:cNvSpPr/>
          <p:nvPr/>
        </p:nvSpPr>
        <p:spPr>
          <a:xfrm>
            <a:off x="770930" y="4722376"/>
            <a:ext cx="91440" cy="1824276"/>
          </a:xfrm>
          <a:prstGeom prst="roundRect">
            <a:avLst>
              <a:gd name="adj" fmla="val 91163"/>
            </a:avLst>
          </a:prstGeom>
          <a:solidFill>
            <a:srgbClr val="437066"/>
          </a:solidFill>
          <a:ln/>
        </p:spPr>
      </p:sp>
      <p:sp>
        <p:nvSpPr>
          <p:cNvPr id="13" name="Text 11"/>
          <p:cNvSpPr/>
          <p:nvPr/>
        </p:nvSpPr>
        <p:spPr>
          <a:xfrm>
            <a:off x="1083588" y="494359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ImageNet</a:t>
            </a:r>
            <a:endParaRPr lang="en-US" sz="1950" dirty="0"/>
          </a:p>
        </p:txBody>
      </p:sp>
      <p:sp>
        <p:nvSpPr>
          <p:cNvPr id="14" name="Text 12"/>
          <p:cNvSpPr/>
          <p:nvPr/>
        </p:nvSpPr>
        <p:spPr>
          <a:xfrm>
            <a:off x="1083588" y="5372814"/>
            <a:ext cx="5911215"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Dataset besar dengan lebih dari 14 juta citra dalam 20.000+ kategori. Subset ILSVRC berisi 1,2 juta citra dalam 1.000 kelas.</a:t>
            </a:r>
            <a:endParaRPr lang="en-US" sz="1550" dirty="0"/>
          </a:p>
        </p:txBody>
      </p:sp>
      <p:sp>
        <p:nvSpPr>
          <p:cNvPr id="15" name="Shape 13"/>
          <p:cNvSpPr/>
          <p:nvPr/>
        </p:nvSpPr>
        <p:spPr>
          <a:xfrm>
            <a:off x="7414379" y="4722376"/>
            <a:ext cx="6422231" cy="1824276"/>
          </a:xfrm>
          <a:prstGeom prst="roundRect">
            <a:avLst>
              <a:gd name="adj" fmla="val 6015"/>
            </a:avLst>
          </a:prstGeom>
          <a:solidFill>
            <a:srgbClr val="FFFFFF"/>
          </a:solidFill>
          <a:ln w="22860">
            <a:solidFill>
              <a:srgbClr val="C5D2CF"/>
            </a:solidFill>
            <a:prstDash val="solid"/>
          </a:ln>
        </p:spPr>
      </p:sp>
      <p:sp>
        <p:nvSpPr>
          <p:cNvPr id="16" name="Shape 14"/>
          <p:cNvSpPr/>
          <p:nvPr/>
        </p:nvSpPr>
        <p:spPr>
          <a:xfrm>
            <a:off x="7391519" y="4722376"/>
            <a:ext cx="91440" cy="1824276"/>
          </a:xfrm>
          <a:prstGeom prst="roundRect">
            <a:avLst>
              <a:gd name="adj" fmla="val 91163"/>
            </a:avLst>
          </a:prstGeom>
          <a:solidFill>
            <a:srgbClr val="437066"/>
          </a:solidFill>
          <a:ln/>
        </p:spPr>
      </p:sp>
      <p:sp>
        <p:nvSpPr>
          <p:cNvPr id="17" name="Text 15"/>
          <p:cNvSpPr/>
          <p:nvPr/>
        </p:nvSpPr>
        <p:spPr>
          <a:xfrm>
            <a:off x="7704177" y="4943594"/>
            <a:ext cx="3896439"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COCO (Common Objects in Context)</a:t>
            </a:r>
            <a:endParaRPr lang="en-US" sz="1950" dirty="0"/>
          </a:p>
        </p:txBody>
      </p:sp>
      <p:sp>
        <p:nvSpPr>
          <p:cNvPr id="18" name="Text 16"/>
          <p:cNvSpPr/>
          <p:nvPr/>
        </p:nvSpPr>
        <p:spPr>
          <a:xfrm>
            <a:off x="7704177" y="5372814"/>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Dataset untuk deteksi objek, segmentasi, dan captioning dengan 330.000 citra, 1,5 juta instance objek dalam 80 kategori.</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1699855"/>
            <a:ext cx="728972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Implementasi JST dengan Python</a:t>
            </a:r>
            <a:endParaRPr lang="en-US" sz="3900" dirty="0"/>
          </a:p>
        </p:txBody>
      </p:sp>
      <p:sp>
        <p:nvSpPr>
          <p:cNvPr id="3" name="Text 1"/>
          <p:cNvSpPr/>
          <p:nvPr/>
        </p:nvSpPr>
        <p:spPr>
          <a:xfrm>
            <a:off x="793790" y="271676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Python menjadi bahasa pemrograman terpopuler untuk implementasi JST berkat ekosistem library yang kaya dan dukungan komunitas yang luas.</a:t>
            </a:r>
            <a:endParaRPr lang="en-US" sz="1550" dirty="0"/>
          </a:p>
        </p:txBody>
      </p:sp>
      <p:sp>
        <p:nvSpPr>
          <p:cNvPr id="4" name="Shape 2"/>
          <p:cNvSpPr/>
          <p:nvPr/>
        </p:nvSpPr>
        <p:spPr>
          <a:xfrm>
            <a:off x="793790" y="3575090"/>
            <a:ext cx="4215289" cy="2954655"/>
          </a:xfrm>
          <a:prstGeom prst="roundRect">
            <a:avLst>
              <a:gd name="adj" fmla="val 2821"/>
            </a:avLst>
          </a:prstGeom>
          <a:solidFill>
            <a:srgbClr val="DFECE9"/>
          </a:solidFill>
          <a:ln w="7620">
            <a:solidFill>
              <a:srgbClr val="C5D2CF"/>
            </a:solidFill>
            <a:prstDash val="solid"/>
          </a:ln>
        </p:spPr>
      </p:sp>
      <p:sp>
        <p:nvSpPr>
          <p:cNvPr id="5" name="Text 3"/>
          <p:cNvSpPr/>
          <p:nvPr/>
        </p:nvSpPr>
        <p:spPr>
          <a:xfrm>
            <a:off x="999768" y="378106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Library Utama</a:t>
            </a:r>
            <a:endParaRPr lang="en-US" sz="1950" dirty="0"/>
          </a:p>
        </p:txBody>
      </p:sp>
      <p:sp>
        <p:nvSpPr>
          <p:cNvPr id="6" name="Text 4"/>
          <p:cNvSpPr/>
          <p:nvPr/>
        </p:nvSpPr>
        <p:spPr>
          <a:xfrm>
            <a:off x="999768" y="4210288"/>
            <a:ext cx="380333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TensorFlow (Google)</a:t>
            </a:r>
            <a:endParaRPr lang="en-US" sz="1550" dirty="0"/>
          </a:p>
        </p:txBody>
      </p:sp>
      <p:sp>
        <p:nvSpPr>
          <p:cNvPr id="7" name="Text 5"/>
          <p:cNvSpPr/>
          <p:nvPr/>
        </p:nvSpPr>
        <p:spPr>
          <a:xfrm>
            <a:off x="999768" y="4597241"/>
            <a:ext cx="3803333"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Keras (High-level API untuk TensorFlow)</a:t>
            </a:r>
            <a:endParaRPr lang="en-US" sz="1550" dirty="0"/>
          </a:p>
        </p:txBody>
      </p:sp>
      <p:sp>
        <p:nvSpPr>
          <p:cNvPr id="8" name="Text 6"/>
          <p:cNvSpPr/>
          <p:nvPr/>
        </p:nvSpPr>
        <p:spPr>
          <a:xfrm>
            <a:off x="999768" y="5301734"/>
            <a:ext cx="380333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PyTorch (Facebook)</a:t>
            </a:r>
            <a:endParaRPr lang="en-US" sz="1550" dirty="0"/>
          </a:p>
        </p:txBody>
      </p:sp>
      <p:sp>
        <p:nvSpPr>
          <p:cNvPr id="9" name="Text 7"/>
          <p:cNvSpPr/>
          <p:nvPr/>
        </p:nvSpPr>
        <p:spPr>
          <a:xfrm>
            <a:off x="999768" y="5688687"/>
            <a:ext cx="3803333"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Scikit-learn (untuk model ML sederhana)</a:t>
            </a:r>
            <a:endParaRPr lang="en-US" sz="1550" dirty="0"/>
          </a:p>
        </p:txBody>
      </p:sp>
      <p:sp>
        <p:nvSpPr>
          <p:cNvPr id="10" name="Shape 8"/>
          <p:cNvSpPr/>
          <p:nvPr/>
        </p:nvSpPr>
        <p:spPr>
          <a:xfrm>
            <a:off x="5207437" y="3575090"/>
            <a:ext cx="4215408" cy="2954655"/>
          </a:xfrm>
          <a:prstGeom prst="roundRect">
            <a:avLst>
              <a:gd name="adj" fmla="val 2821"/>
            </a:avLst>
          </a:prstGeom>
          <a:solidFill>
            <a:srgbClr val="DFECE9"/>
          </a:solidFill>
          <a:ln w="7620">
            <a:solidFill>
              <a:srgbClr val="C5D2CF"/>
            </a:solidFill>
            <a:prstDash val="solid"/>
          </a:ln>
        </p:spPr>
      </p:sp>
      <p:sp>
        <p:nvSpPr>
          <p:cNvPr id="11" name="Text 9"/>
          <p:cNvSpPr/>
          <p:nvPr/>
        </p:nvSpPr>
        <p:spPr>
          <a:xfrm>
            <a:off x="5413415" y="378106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Library Pendukung</a:t>
            </a:r>
            <a:endParaRPr lang="en-US" sz="1950" dirty="0"/>
          </a:p>
        </p:txBody>
      </p:sp>
      <p:sp>
        <p:nvSpPr>
          <p:cNvPr id="12" name="Text 10"/>
          <p:cNvSpPr/>
          <p:nvPr/>
        </p:nvSpPr>
        <p:spPr>
          <a:xfrm>
            <a:off x="5413415" y="4210288"/>
            <a:ext cx="3803452"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NumPy (manipulasi array)</a:t>
            </a:r>
            <a:endParaRPr lang="en-US" sz="1550" dirty="0"/>
          </a:p>
        </p:txBody>
      </p:sp>
      <p:sp>
        <p:nvSpPr>
          <p:cNvPr id="13" name="Text 11"/>
          <p:cNvSpPr/>
          <p:nvPr/>
        </p:nvSpPr>
        <p:spPr>
          <a:xfrm>
            <a:off x="5413415" y="4597241"/>
            <a:ext cx="3803452"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Pandas (manipulasi data)</a:t>
            </a:r>
            <a:endParaRPr lang="en-US" sz="1550" dirty="0"/>
          </a:p>
        </p:txBody>
      </p:sp>
      <p:sp>
        <p:nvSpPr>
          <p:cNvPr id="14" name="Text 12"/>
          <p:cNvSpPr/>
          <p:nvPr/>
        </p:nvSpPr>
        <p:spPr>
          <a:xfrm>
            <a:off x="5413415" y="4984194"/>
            <a:ext cx="3803452"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Matplotlib/Seaborn (visualisasi)</a:t>
            </a:r>
            <a:endParaRPr lang="en-US" sz="1550" dirty="0"/>
          </a:p>
        </p:txBody>
      </p:sp>
      <p:sp>
        <p:nvSpPr>
          <p:cNvPr id="15" name="Text 13"/>
          <p:cNvSpPr/>
          <p:nvPr/>
        </p:nvSpPr>
        <p:spPr>
          <a:xfrm>
            <a:off x="5413415" y="5371148"/>
            <a:ext cx="3803452"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OpenCV (pengolahan citra)</a:t>
            </a:r>
            <a:endParaRPr lang="en-US" sz="1550" dirty="0"/>
          </a:p>
        </p:txBody>
      </p:sp>
      <p:sp>
        <p:nvSpPr>
          <p:cNvPr id="16" name="Shape 14"/>
          <p:cNvSpPr/>
          <p:nvPr/>
        </p:nvSpPr>
        <p:spPr>
          <a:xfrm>
            <a:off x="9621203" y="3575090"/>
            <a:ext cx="4215289" cy="2954655"/>
          </a:xfrm>
          <a:prstGeom prst="roundRect">
            <a:avLst>
              <a:gd name="adj" fmla="val 2821"/>
            </a:avLst>
          </a:prstGeom>
          <a:solidFill>
            <a:srgbClr val="DFECE9"/>
          </a:solidFill>
          <a:ln w="7620">
            <a:solidFill>
              <a:srgbClr val="C5D2CF"/>
            </a:solidFill>
            <a:prstDash val="solid"/>
          </a:ln>
        </p:spPr>
      </p:sp>
      <p:sp>
        <p:nvSpPr>
          <p:cNvPr id="17" name="Text 15"/>
          <p:cNvSpPr/>
          <p:nvPr/>
        </p:nvSpPr>
        <p:spPr>
          <a:xfrm>
            <a:off x="9827181" y="378106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Keunggulan Keras</a:t>
            </a:r>
            <a:endParaRPr lang="en-US" sz="1950" dirty="0"/>
          </a:p>
        </p:txBody>
      </p:sp>
      <p:sp>
        <p:nvSpPr>
          <p:cNvPr id="18" name="Text 16"/>
          <p:cNvSpPr/>
          <p:nvPr/>
        </p:nvSpPr>
        <p:spPr>
          <a:xfrm>
            <a:off x="9827181" y="4210288"/>
            <a:ext cx="3803333"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API tingkat tinggi yang mudah digunakan</a:t>
            </a:r>
            <a:endParaRPr lang="en-US" sz="1550" dirty="0"/>
          </a:p>
        </p:txBody>
      </p:sp>
      <p:sp>
        <p:nvSpPr>
          <p:cNvPr id="19" name="Text 17"/>
          <p:cNvSpPr/>
          <p:nvPr/>
        </p:nvSpPr>
        <p:spPr>
          <a:xfrm>
            <a:off x="9827181" y="4914781"/>
            <a:ext cx="380333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Rapid prototyping</a:t>
            </a:r>
            <a:endParaRPr lang="en-US" sz="1550" dirty="0"/>
          </a:p>
        </p:txBody>
      </p:sp>
      <p:sp>
        <p:nvSpPr>
          <p:cNvPr id="20" name="Text 18"/>
          <p:cNvSpPr/>
          <p:nvPr/>
        </p:nvSpPr>
        <p:spPr>
          <a:xfrm>
            <a:off x="9827181" y="5301734"/>
            <a:ext cx="3803333"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Mendukung berbagai jenis layer dan model</a:t>
            </a:r>
            <a:endParaRPr lang="en-US" sz="1550" dirty="0"/>
          </a:p>
        </p:txBody>
      </p:sp>
      <p:sp>
        <p:nvSpPr>
          <p:cNvPr id="21" name="Text 19"/>
          <p:cNvSpPr/>
          <p:nvPr/>
        </p:nvSpPr>
        <p:spPr>
          <a:xfrm>
            <a:off x="9827181" y="6006227"/>
            <a:ext cx="380333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Dokumentasi yang baik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740688"/>
            <a:ext cx="10824686"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Langkah-langkah Implementasi JST dengan Keras</a:t>
            </a:r>
            <a:endParaRPr lang="en-US" sz="3900" dirty="0"/>
          </a:p>
        </p:txBody>
      </p:sp>
      <p:sp>
        <p:nvSpPr>
          <p:cNvPr id="3" name="Text 1"/>
          <p:cNvSpPr/>
          <p:nvPr/>
        </p:nvSpPr>
        <p:spPr>
          <a:xfrm>
            <a:off x="793790" y="1757601"/>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Kanit Light" pitchFamily="34" charset="0"/>
                <a:ea typeface="Kanit Light" pitchFamily="34" charset="-122"/>
                <a:cs typeface="Kanit Light" pitchFamily="34" charset="-120"/>
              </a:rPr>
              <a:t>01</a:t>
            </a:r>
            <a:endParaRPr lang="en-US" sz="1550" dirty="0"/>
          </a:p>
        </p:txBody>
      </p:sp>
      <p:sp>
        <p:nvSpPr>
          <p:cNvPr id="4" name="Shape 2"/>
          <p:cNvSpPr/>
          <p:nvPr/>
        </p:nvSpPr>
        <p:spPr>
          <a:xfrm>
            <a:off x="793790" y="2071926"/>
            <a:ext cx="6422231" cy="22860"/>
          </a:xfrm>
          <a:prstGeom prst="rect">
            <a:avLst/>
          </a:prstGeom>
          <a:solidFill>
            <a:srgbClr val="437066"/>
          </a:solidFill>
          <a:ln/>
        </p:spPr>
      </p:sp>
      <p:sp>
        <p:nvSpPr>
          <p:cNvPr id="5" name="Text 3"/>
          <p:cNvSpPr/>
          <p:nvPr/>
        </p:nvSpPr>
        <p:spPr>
          <a:xfrm>
            <a:off x="793790" y="221682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Persiapan Data</a:t>
            </a:r>
            <a:endParaRPr lang="en-US" sz="1950" dirty="0"/>
          </a:p>
        </p:txBody>
      </p:sp>
      <p:sp>
        <p:nvSpPr>
          <p:cNvPr id="6" name="Text 4"/>
          <p:cNvSpPr/>
          <p:nvPr/>
        </p:nvSpPr>
        <p:spPr>
          <a:xfrm>
            <a:off x="793790" y="2646045"/>
            <a:ext cx="6422231"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Memuat dataset, membagi menjadi training dan testing set, melakukan preprocessing (normalisasi, augmentasi), dan konversi format.</a:t>
            </a:r>
            <a:endParaRPr lang="en-US" sz="1550" dirty="0"/>
          </a:p>
        </p:txBody>
      </p:sp>
      <p:sp>
        <p:nvSpPr>
          <p:cNvPr id="7" name="Text 5"/>
          <p:cNvSpPr/>
          <p:nvPr/>
        </p:nvSpPr>
        <p:spPr>
          <a:xfrm>
            <a:off x="7414379" y="1757601"/>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Kanit Light" pitchFamily="34" charset="0"/>
                <a:ea typeface="Kanit Light" pitchFamily="34" charset="-122"/>
                <a:cs typeface="Kanit Light" pitchFamily="34" charset="-120"/>
              </a:rPr>
              <a:t>02</a:t>
            </a:r>
            <a:endParaRPr lang="en-US" sz="1550" dirty="0"/>
          </a:p>
        </p:txBody>
      </p:sp>
      <p:sp>
        <p:nvSpPr>
          <p:cNvPr id="8" name="Shape 6"/>
          <p:cNvSpPr/>
          <p:nvPr/>
        </p:nvSpPr>
        <p:spPr>
          <a:xfrm>
            <a:off x="7414379" y="2071926"/>
            <a:ext cx="6422231" cy="22860"/>
          </a:xfrm>
          <a:prstGeom prst="rect">
            <a:avLst/>
          </a:prstGeom>
          <a:solidFill>
            <a:srgbClr val="437066"/>
          </a:solidFill>
          <a:ln/>
        </p:spPr>
      </p:sp>
      <p:sp>
        <p:nvSpPr>
          <p:cNvPr id="9" name="Text 7"/>
          <p:cNvSpPr/>
          <p:nvPr/>
        </p:nvSpPr>
        <p:spPr>
          <a:xfrm>
            <a:off x="7414379" y="2216825"/>
            <a:ext cx="3500199"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Mendefinisikan Arsitektur Model</a:t>
            </a:r>
            <a:endParaRPr lang="en-US" sz="1950" dirty="0"/>
          </a:p>
        </p:txBody>
      </p:sp>
      <p:sp>
        <p:nvSpPr>
          <p:cNvPr id="10" name="Text 8"/>
          <p:cNvSpPr/>
          <p:nvPr/>
        </p:nvSpPr>
        <p:spPr>
          <a:xfrm>
            <a:off x="7414379" y="2646045"/>
            <a:ext cx="6422231"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Menentukan jenis model (Sequential atau Functional API), menambahkan layer-layer, dan menentukan jumlah neuron, fungsi aktivasi, dll.</a:t>
            </a:r>
            <a:endParaRPr lang="en-US" sz="1550" dirty="0"/>
          </a:p>
        </p:txBody>
      </p:sp>
      <p:sp>
        <p:nvSpPr>
          <p:cNvPr id="11" name="Text 9"/>
          <p:cNvSpPr/>
          <p:nvPr/>
        </p:nvSpPr>
        <p:spPr>
          <a:xfrm>
            <a:off x="793790" y="3945850"/>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Kanit Light" pitchFamily="34" charset="0"/>
                <a:ea typeface="Kanit Light" pitchFamily="34" charset="-122"/>
                <a:cs typeface="Kanit Light" pitchFamily="34" charset="-120"/>
              </a:rPr>
              <a:t>03</a:t>
            </a:r>
            <a:endParaRPr lang="en-US" sz="1550" dirty="0"/>
          </a:p>
        </p:txBody>
      </p:sp>
      <p:sp>
        <p:nvSpPr>
          <p:cNvPr id="12" name="Shape 10"/>
          <p:cNvSpPr/>
          <p:nvPr/>
        </p:nvSpPr>
        <p:spPr>
          <a:xfrm>
            <a:off x="793790" y="4260175"/>
            <a:ext cx="6422231" cy="22860"/>
          </a:xfrm>
          <a:prstGeom prst="rect">
            <a:avLst/>
          </a:prstGeom>
          <a:solidFill>
            <a:srgbClr val="437066"/>
          </a:solidFill>
          <a:ln/>
        </p:spPr>
      </p:sp>
      <p:sp>
        <p:nvSpPr>
          <p:cNvPr id="13" name="Text 11"/>
          <p:cNvSpPr/>
          <p:nvPr/>
        </p:nvSpPr>
        <p:spPr>
          <a:xfrm>
            <a:off x="793790" y="440507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Kompilasi Model</a:t>
            </a:r>
            <a:endParaRPr lang="en-US" sz="1950" dirty="0"/>
          </a:p>
        </p:txBody>
      </p:sp>
      <p:sp>
        <p:nvSpPr>
          <p:cNvPr id="14" name="Text 12"/>
          <p:cNvSpPr/>
          <p:nvPr/>
        </p:nvSpPr>
        <p:spPr>
          <a:xfrm>
            <a:off x="793790" y="483429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Menentukan fungsi loss, optimizer, dan metrik evaluasi yang akan digunakan selama pelatihan.</a:t>
            </a:r>
            <a:endParaRPr lang="en-US" sz="1550" dirty="0"/>
          </a:p>
        </p:txBody>
      </p:sp>
      <p:sp>
        <p:nvSpPr>
          <p:cNvPr id="15" name="Text 13"/>
          <p:cNvSpPr/>
          <p:nvPr/>
        </p:nvSpPr>
        <p:spPr>
          <a:xfrm>
            <a:off x="7414379" y="3945850"/>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Kanit Light" pitchFamily="34" charset="0"/>
                <a:ea typeface="Kanit Light" pitchFamily="34" charset="-122"/>
                <a:cs typeface="Kanit Light" pitchFamily="34" charset="-120"/>
              </a:rPr>
              <a:t>04</a:t>
            </a:r>
            <a:endParaRPr lang="en-US" sz="1550" dirty="0"/>
          </a:p>
        </p:txBody>
      </p:sp>
      <p:sp>
        <p:nvSpPr>
          <p:cNvPr id="16" name="Shape 14"/>
          <p:cNvSpPr/>
          <p:nvPr/>
        </p:nvSpPr>
        <p:spPr>
          <a:xfrm>
            <a:off x="7414379" y="4260175"/>
            <a:ext cx="6422231" cy="22860"/>
          </a:xfrm>
          <a:prstGeom prst="rect">
            <a:avLst/>
          </a:prstGeom>
          <a:solidFill>
            <a:srgbClr val="437066"/>
          </a:solidFill>
          <a:ln/>
        </p:spPr>
      </p:sp>
      <p:sp>
        <p:nvSpPr>
          <p:cNvPr id="17" name="Text 15"/>
          <p:cNvSpPr/>
          <p:nvPr/>
        </p:nvSpPr>
        <p:spPr>
          <a:xfrm>
            <a:off x="7414379" y="440507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Melatih Model</a:t>
            </a:r>
            <a:endParaRPr lang="en-US" sz="1950" dirty="0"/>
          </a:p>
        </p:txBody>
      </p:sp>
      <p:sp>
        <p:nvSpPr>
          <p:cNvPr id="18" name="Text 16"/>
          <p:cNvSpPr/>
          <p:nvPr/>
        </p:nvSpPr>
        <p:spPr>
          <a:xfrm>
            <a:off x="7414379" y="483429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Memasukkan data training ke model, mengatur jumlah epoch, batch size, callbacks, dan validation data.</a:t>
            </a:r>
            <a:endParaRPr lang="en-US" sz="1550" dirty="0"/>
          </a:p>
        </p:txBody>
      </p:sp>
      <p:sp>
        <p:nvSpPr>
          <p:cNvPr id="19" name="Text 17"/>
          <p:cNvSpPr/>
          <p:nvPr/>
        </p:nvSpPr>
        <p:spPr>
          <a:xfrm>
            <a:off x="793790" y="5816560"/>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Kanit Light" pitchFamily="34" charset="0"/>
                <a:ea typeface="Kanit Light" pitchFamily="34" charset="-122"/>
                <a:cs typeface="Kanit Light" pitchFamily="34" charset="-120"/>
              </a:rPr>
              <a:t>05</a:t>
            </a:r>
            <a:endParaRPr lang="en-US" sz="1550" dirty="0"/>
          </a:p>
        </p:txBody>
      </p:sp>
      <p:sp>
        <p:nvSpPr>
          <p:cNvPr id="20" name="Shape 18"/>
          <p:cNvSpPr/>
          <p:nvPr/>
        </p:nvSpPr>
        <p:spPr>
          <a:xfrm>
            <a:off x="793790" y="6130885"/>
            <a:ext cx="6422231" cy="22860"/>
          </a:xfrm>
          <a:prstGeom prst="rect">
            <a:avLst/>
          </a:prstGeom>
          <a:solidFill>
            <a:srgbClr val="437066"/>
          </a:solidFill>
          <a:ln/>
        </p:spPr>
      </p:sp>
      <p:sp>
        <p:nvSpPr>
          <p:cNvPr id="21" name="Text 19"/>
          <p:cNvSpPr/>
          <p:nvPr/>
        </p:nvSpPr>
        <p:spPr>
          <a:xfrm>
            <a:off x="793790" y="627578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Evaluasi Model</a:t>
            </a:r>
            <a:endParaRPr lang="en-US" sz="1950" dirty="0"/>
          </a:p>
        </p:txBody>
      </p:sp>
      <p:sp>
        <p:nvSpPr>
          <p:cNvPr id="22" name="Text 20"/>
          <p:cNvSpPr/>
          <p:nvPr/>
        </p:nvSpPr>
        <p:spPr>
          <a:xfrm>
            <a:off x="793790" y="670500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Mengevaluasi performa model pada data testing, mengukur akurasi, precision, recall, F1-score, dll.</a:t>
            </a:r>
            <a:endParaRPr lang="en-US" sz="1550" dirty="0"/>
          </a:p>
        </p:txBody>
      </p:sp>
      <p:sp>
        <p:nvSpPr>
          <p:cNvPr id="23" name="Text 21"/>
          <p:cNvSpPr/>
          <p:nvPr/>
        </p:nvSpPr>
        <p:spPr>
          <a:xfrm>
            <a:off x="7414379" y="5816560"/>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Kanit Light" pitchFamily="34" charset="0"/>
                <a:ea typeface="Kanit Light" pitchFamily="34" charset="-122"/>
                <a:cs typeface="Kanit Light" pitchFamily="34" charset="-120"/>
              </a:rPr>
              <a:t>06</a:t>
            </a:r>
            <a:endParaRPr lang="en-US" sz="1550" dirty="0"/>
          </a:p>
        </p:txBody>
      </p:sp>
      <p:sp>
        <p:nvSpPr>
          <p:cNvPr id="24" name="Shape 22"/>
          <p:cNvSpPr/>
          <p:nvPr/>
        </p:nvSpPr>
        <p:spPr>
          <a:xfrm>
            <a:off x="7414379" y="6130885"/>
            <a:ext cx="6422231" cy="22860"/>
          </a:xfrm>
          <a:prstGeom prst="rect">
            <a:avLst/>
          </a:prstGeom>
          <a:solidFill>
            <a:srgbClr val="437066"/>
          </a:solidFill>
          <a:ln/>
        </p:spPr>
      </p:sp>
      <p:sp>
        <p:nvSpPr>
          <p:cNvPr id="25" name="Text 23"/>
          <p:cNvSpPr/>
          <p:nvPr/>
        </p:nvSpPr>
        <p:spPr>
          <a:xfrm>
            <a:off x="7414379" y="627578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Prediksi dan Inferensi</a:t>
            </a:r>
            <a:endParaRPr lang="en-US" sz="1950" dirty="0"/>
          </a:p>
        </p:txBody>
      </p:sp>
      <p:sp>
        <p:nvSpPr>
          <p:cNvPr id="26" name="Text 24"/>
          <p:cNvSpPr/>
          <p:nvPr/>
        </p:nvSpPr>
        <p:spPr>
          <a:xfrm>
            <a:off x="7414379" y="670500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Menggunakan model terlatih untuk melakukan prediksi pada data baru, visualisasi hasil, dan analisis kesalahan.</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15672" y="423267"/>
            <a:ext cx="4885373" cy="312658"/>
          </a:xfrm>
          <a:prstGeom prst="rect">
            <a:avLst/>
          </a:prstGeom>
          <a:noFill/>
          <a:ln/>
        </p:spPr>
        <p:txBody>
          <a:bodyPr wrap="none" lIns="0" tIns="0" rIns="0" bIns="0" rtlCol="0" anchor="t"/>
          <a:lstStyle/>
          <a:p>
            <a:pPr algn="l" indent="0" marL="0">
              <a:lnSpc>
                <a:spcPts val="2450"/>
              </a:lnSpc>
              <a:buNone/>
            </a:pPr>
            <a:r>
              <a:rPr lang="en-US" sz="1950" dirty="0">
                <a:solidFill>
                  <a:srgbClr val="272D45"/>
                </a:solidFill>
                <a:latin typeface="Kanit Light" pitchFamily="34" charset="0"/>
                <a:ea typeface="Kanit Light" pitchFamily="34" charset="-122"/>
                <a:cs typeface="Kanit Light" pitchFamily="34" charset="-120"/>
              </a:rPr>
              <a:t>Contoh Kode: Klasifikasi MNIST dengan Keras</a:t>
            </a:r>
            <a:endParaRPr lang="en-US" sz="1950" dirty="0"/>
          </a:p>
        </p:txBody>
      </p:sp>
      <p:sp>
        <p:nvSpPr>
          <p:cNvPr id="3" name="Shape 1"/>
          <p:cNvSpPr/>
          <p:nvPr/>
        </p:nvSpPr>
        <p:spPr>
          <a:xfrm>
            <a:off x="615672" y="935950"/>
            <a:ext cx="13399056" cy="6870859"/>
          </a:xfrm>
          <a:prstGeom prst="roundRect">
            <a:avLst>
              <a:gd name="adj" fmla="val 612"/>
            </a:avLst>
          </a:prstGeom>
          <a:solidFill>
            <a:srgbClr val="F2F2F2"/>
          </a:solidFill>
          <a:ln/>
        </p:spPr>
      </p:sp>
      <p:sp>
        <p:nvSpPr>
          <p:cNvPr id="4" name="Shape 2"/>
          <p:cNvSpPr/>
          <p:nvPr/>
        </p:nvSpPr>
        <p:spPr>
          <a:xfrm>
            <a:off x="610672" y="935950"/>
            <a:ext cx="13409057" cy="6870859"/>
          </a:xfrm>
          <a:prstGeom prst="roundRect">
            <a:avLst>
              <a:gd name="adj" fmla="val 218"/>
            </a:avLst>
          </a:prstGeom>
          <a:solidFill>
            <a:srgbClr val="F2F2F2"/>
          </a:solidFill>
          <a:ln/>
        </p:spPr>
      </p:sp>
      <p:sp>
        <p:nvSpPr>
          <p:cNvPr id="5" name="Text 3"/>
          <p:cNvSpPr/>
          <p:nvPr/>
        </p:nvSpPr>
        <p:spPr>
          <a:xfrm>
            <a:off x="710684" y="1010960"/>
            <a:ext cx="13209032" cy="6720840"/>
          </a:xfrm>
          <a:prstGeom prst="rect">
            <a:avLst/>
          </a:prstGeom>
          <a:noFill/>
          <a:ln/>
        </p:spPr>
        <p:txBody>
          <a:bodyPr wrap="square" lIns="0" tIns="0" rIns="0" bIns="0" rtlCol="0" anchor="t"/>
          <a:lstStyle/>
          <a:p>
            <a:pPr algn="l" indent="0" marL="0">
              <a:lnSpc>
                <a:spcPts val="1250"/>
              </a:lnSpc>
              <a:buNone/>
            </a:pPr>
            <a:r>
              <a:rPr lang="en-US" sz="750" dirty="0">
                <a:solidFill>
                  <a:srgbClr val="2C3249"/>
                </a:solidFill>
                <a:highlight>
                  <a:srgbClr val="F2F2F2"/>
                </a:highlight>
                <a:latin typeface="Consolas" pitchFamily="34" charset="0"/>
                <a:ea typeface="Consolas" pitchFamily="34" charset="-122"/>
                <a:cs typeface="Consolas" pitchFamily="34" charset="-120"/>
              </a:rPr>
              <a:t>import tensorflow as tffrom tensorflow.keras import models, layersfrom tensorflow.keras.datasets import mnist# 1. Persiapan Data(train_images, train_labels), (test_images, test_labels) = mnist.load_data()# Normalisasi data (0-255 -&gt; 0-1)train_images = train_images.reshape((60000, 28, 28, 1)).astype('float32') / 255test_images = test_images.reshape((10000, 28, 28, 1)).astype('float32') / 255# One-hot encoding untuk labeltrain_labels = tf.keras.utils.to_categorical(train_labels)test_labels = tf.keras.utils.to_categorical(test_labels)# 2. Definisi Model CNNmodel = models.Sequential([ layers.Conv2D(32, (3, 3), activation='relu', input_shape=(28, 28, 1)), layers.MaxPooling2D((2, 2)), layers.Conv2D(64, (3, 3), activation='relu'), layers.MaxPooling2D((2, 2)), layers.Flatten(), layers.Dense(64, activation='relu'), layers.Dropout(0.5), layers.Dense(10, activation='softmax')])# 3. Kompilasi Modelmodel.compile(optimizer='adam', loss='categorical_crossentropy', metrics=['accuracy'])# 4. Pelatihan Modelhistory = model.fit(train_images, train_labels,  epochs=5,  batch_size=64, validation_split=0.2)# 5. Evaluasi Modeltest_loss, test_acc = model.evaluate(test_images, test_labels)print(f'Akurasi pada test set: {test_acc:.4f}')</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753189"/>
            <a:ext cx="4697849" cy="465177"/>
          </a:xfrm>
          <a:prstGeom prst="rect">
            <a:avLst/>
          </a:prstGeom>
          <a:noFill/>
          <a:ln/>
        </p:spPr>
        <p:txBody>
          <a:bodyPr wrap="none" lIns="0" tIns="0" rIns="0" bIns="0" rtlCol="0" anchor="t"/>
          <a:lstStyle/>
          <a:p>
            <a:pPr algn="l" indent="0" marL="0">
              <a:lnSpc>
                <a:spcPts val="3650"/>
              </a:lnSpc>
              <a:buNone/>
            </a:pPr>
            <a:r>
              <a:rPr lang="en-US" sz="2900" dirty="0">
                <a:solidFill>
                  <a:srgbClr val="272D45"/>
                </a:solidFill>
                <a:latin typeface="Kanit Light" pitchFamily="34" charset="0"/>
                <a:ea typeface="Kanit Light" pitchFamily="34" charset="-122"/>
                <a:cs typeface="Kanit Light" pitchFamily="34" charset="-120"/>
              </a:rPr>
              <a:t>Visualisasi dan Analisis Hasil</a:t>
            </a:r>
            <a:endParaRPr lang="en-US" sz="2900" dirty="0"/>
          </a:p>
        </p:txBody>
      </p:sp>
      <p:sp>
        <p:nvSpPr>
          <p:cNvPr id="3" name="Shape 1"/>
          <p:cNvSpPr/>
          <p:nvPr/>
        </p:nvSpPr>
        <p:spPr>
          <a:xfrm>
            <a:off x="793790" y="1609011"/>
            <a:ext cx="6339840" cy="5699998"/>
          </a:xfrm>
          <a:prstGeom prst="roundRect">
            <a:avLst>
              <a:gd name="adj" fmla="val 1097"/>
            </a:avLst>
          </a:prstGeom>
          <a:solidFill>
            <a:srgbClr val="F2F2F2"/>
          </a:solidFill>
          <a:ln/>
        </p:spPr>
      </p:sp>
      <p:sp>
        <p:nvSpPr>
          <p:cNvPr id="4" name="Shape 2"/>
          <p:cNvSpPr/>
          <p:nvPr/>
        </p:nvSpPr>
        <p:spPr>
          <a:xfrm>
            <a:off x="786408" y="1609011"/>
            <a:ext cx="6354604" cy="5699998"/>
          </a:xfrm>
          <a:prstGeom prst="roundRect">
            <a:avLst>
              <a:gd name="adj" fmla="val 392"/>
            </a:avLst>
          </a:prstGeom>
          <a:solidFill>
            <a:srgbClr val="F2F2F2"/>
          </a:solidFill>
          <a:ln/>
        </p:spPr>
      </p:sp>
      <p:sp>
        <p:nvSpPr>
          <p:cNvPr id="5" name="Text 3"/>
          <p:cNvSpPr/>
          <p:nvPr/>
        </p:nvSpPr>
        <p:spPr>
          <a:xfrm>
            <a:off x="935236" y="1720572"/>
            <a:ext cx="6056948" cy="5476875"/>
          </a:xfrm>
          <a:prstGeom prst="rect">
            <a:avLst/>
          </a:prstGeom>
          <a:noFill/>
          <a:ln/>
        </p:spPr>
        <p:txBody>
          <a:bodyPr wrap="square" lIns="0" tIns="0" rIns="0" bIns="0" rtlCol="0" anchor="t"/>
          <a:lstStyle/>
          <a:p>
            <a:pPr algn="l" indent="0" marL="0">
              <a:lnSpc>
                <a:spcPts val="1850"/>
              </a:lnSpc>
              <a:buNone/>
            </a:pPr>
            <a:r>
              <a:rPr lang="en-US" sz="1150" dirty="0">
                <a:solidFill>
                  <a:srgbClr val="2C3249"/>
                </a:solidFill>
                <a:highlight>
                  <a:srgbClr val="F2F2F2"/>
                </a:highlight>
                <a:latin typeface="Consolas" pitchFamily="34" charset="0"/>
                <a:ea typeface="Consolas" pitchFamily="34" charset="-122"/>
                <a:cs typeface="Consolas" pitchFamily="34" charset="-120"/>
              </a:rPr>
              <a:t>import matplotlib.pyplot as plt# Plot lossplt.figure(figsize=(12, 4))plt.subplot(1, 2, 1)plt.plot(history.history['loss'], label='Training Loss')plt.plot(history.history['val_loss'], label='Validation Loss')plt.title('Loss selama Pelatihan')plt.xlabel('Epoch')plt.ylabel('Loss')plt.legend()# Plot akurasiplt.subplot(1, 2, 2)plt.plot(history.history['accuracy'], label='Training Accuracy')plt.plot(history.history['val_accuracy'], label='Validation Accuracy')plt.title('Akurasi selama Pelatihan')plt.xlabel('Epoch')plt.ylabel('Akurasi')plt.legend()plt.tight_layout()plt.show()</a:t>
            </a:r>
            <a:endParaRPr lang="en-US" sz="1150" dirty="0"/>
          </a:p>
        </p:txBody>
      </p:sp>
      <p:sp>
        <p:nvSpPr>
          <p:cNvPr id="6" name="Text 4"/>
          <p:cNvSpPr/>
          <p:nvPr/>
        </p:nvSpPr>
        <p:spPr>
          <a:xfrm>
            <a:off x="7504390" y="1575554"/>
            <a:ext cx="6339840" cy="238125"/>
          </a:xfrm>
          <a:prstGeom prst="rect">
            <a:avLst/>
          </a:prstGeom>
          <a:noFill/>
          <a:ln/>
        </p:spPr>
        <p:txBody>
          <a:bodyPr wrap="none" lIns="0" tIns="0" rIns="0" bIns="0" rtlCol="0" anchor="t"/>
          <a:lstStyle/>
          <a:p>
            <a:pPr algn="l" indent="0" marL="0">
              <a:lnSpc>
                <a:spcPts val="1850"/>
              </a:lnSpc>
              <a:buNone/>
            </a:pPr>
            <a:r>
              <a:rPr lang="en-US" sz="1150" dirty="0">
                <a:solidFill>
                  <a:srgbClr val="2C3249"/>
                </a:solidFill>
                <a:latin typeface="Martel Sans" pitchFamily="34" charset="0"/>
                <a:ea typeface="Martel Sans" pitchFamily="34" charset="-122"/>
                <a:cs typeface="Martel Sans" pitchFamily="34" charset="-120"/>
              </a:rPr>
              <a:t>Visualisasi hasil pelatihan penting untuk:</a:t>
            </a:r>
            <a:endParaRPr lang="en-US" sz="1150" dirty="0"/>
          </a:p>
        </p:txBody>
      </p:sp>
      <p:sp>
        <p:nvSpPr>
          <p:cNvPr id="7" name="Text 5"/>
          <p:cNvSpPr/>
          <p:nvPr/>
        </p:nvSpPr>
        <p:spPr>
          <a:xfrm>
            <a:off x="7504390" y="1947624"/>
            <a:ext cx="63398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2C3249"/>
                </a:solidFill>
                <a:latin typeface="Martel Sans" pitchFamily="34" charset="0"/>
                <a:ea typeface="Martel Sans" pitchFamily="34" charset="-122"/>
                <a:cs typeface="Martel Sans" pitchFamily="34" charset="-120"/>
              </a:rPr>
              <a:t>Memantau konvergensi model</a:t>
            </a:r>
            <a:endParaRPr lang="en-US" sz="1150" dirty="0"/>
          </a:p>
        </p:txBody>
      </p:sp>
      <p:sp>
        <p:nvSpPr>
          <p:cNvPr id="8" name="Text 6"/>
          <p:cNvSpPr/>
          <p:nvPr/>
        </p:nvSpPr>
        <p:spPr>
          <a:xfrm>
            <a:off x="7504390" y="2237780"/>
            <a:ext cx="63398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2C3249"/>
                </a:solidFill>
                <a:latin typeface="Martel Sans" pitchFamily="34" charset="0"/>
                <a:ea typeface="Martel Sans" pitchFamily="34" charset="-122"/>
                <a:cs typeface="Martel Sans" pitchFamily="34" charset="-120"/>
              </a:rPr>
              <a:t>Mendeteksi overfitting/underfitting</a:t>
            </a:r>
            <a:endParaRPr lang="en-US" sz="1150" dirty="0"/>
          </a:p>
        </p:txBody>
      </p:sp>
      <p:sp>
        <p:nvSpPr>
          <p:cNvPr id="9" name="Text 7"/>
          <p:cNvSpPr/>
          <p:nvPr/>
        </p:nvSpPr>
        <p:spPr>
          <a:xfrm>
            <a:off x="7504390" y="2527935"/>
            <a:ext cx="63398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2C3249"/>
                </a:solidFill>
                <a:latin typeface="Martel Sans" pitchFamily="34" charset="0"/>
                <a:ea typeface="Martel Sans" pitchFamily="34" charset="-122"/>
                <a:cs typeface="Martel Sans" pitchFamily="34" charset="-120"/>
              </a:rPr>
              <a:t>Menentukan jumlah epoch optimal</a:t>
            </a:r>
            <a:endParaRPr lang="en-US" sz="1150" dirty="0"/>
          </a:p>
        </p:txBody>
      </p:sp>
      <p:sp>
        <p:nvSpPr>
          <p:cNvPr id="10" name="Text 8"/>
          <p:cNvSpPr/>
          <p:nvPr/>
        </p:nvSpPr>
        <p:spPr>
          <a:xfrm>
            <a:off x="7504390" y="2818090"/>
            <a:ext cx="6339840" cy="238125"/>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2C3249"/>
                </a:solidFill>
                <a:latin typeface="Martel Sans" pitchFamily="34" charset="0"/>
                <a:ea typeface="Martel Sans" pitchFamily="34" charset="-122"/>
                <a:cs typeface="Martel Sans" pitchFamily="34" charset="-120"/>
              </a:rPr>
              <a:t>Membandingkan performa model berbeda</a:t>
            </a:r>
            <a:endParaRPr lang="en-US" sz="1150" dirty="0"/>
          </a:p>
        </p:txBody>
      </p:sp>
      <p:sp>
        <p:nvSpPr>
          <p:cNvPr id="11" name="Text 9"/>
          <p:cNvSpPr/>
          <p:nvPr/>
        </p:nvSpPr>
        <p:spPr>
          <a:xfrm>
            <a:off x="7504390" y="3190161"/>
            <a:ext cx="6339840" cy="476250"/>
          </a:xfrm>
          <a:prstGeom prst="rect">
            <a:avLst/>
          </a:prstGeom>
          <a:noFill/>
          <a:ln/>
        </p:spPr>
        <p:txBody>
          <a:bodyPr wrap="square" lIns="0" tIns="0" rIns="0" bIns="0" rtlCol="0" anchor="t"/>
          <a:lstStyle/>
          <a:p>
            <a:pPr algn="l" indent="0" marL="0">
              <a:lnSpc>
                <a:spcPts val="1850"/>
              </a:lnSpc>
              <a:buNone/>
            </a:pPr>
            <a:r>
              <a:rPr lang="en-US" sz="1150" dirty="0">
                <a:solidFill>
                  <a:srgbClr val="2C3249"/>
                </a:solidFill>
                <a:latin typeface="Martel Sans" pitchFamily="34" charset="0"/>
                <a:ea typeface="Martel Sans" pitchFamily="34" charset="-122"/>
                <a:cs typeface="Martel Sans" pitchFamily="34" charset="-120"/>
              </a:rPr>
              <a:t>Jika kurva val_loss mulai naik sementara training loss terus turun, ini menandakan overfitting dan bisa diatasi dengan teknik regularisasi atau early stopping.</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849035"/>
            <a:ext cx="9772888"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Analisis Performa Model pada Dataset MNIST</a:t>
            </a:r>
            <a:endParaRPr lang="en-US" sz="3900" dirty="0"/>
          </a:p>
        </p:txBody>
      </p:sp>
      <p:sp>
        <p:nvSpPr>
          <p:cNvPr id="3" name="Text 1"/>
          <p:cNvSpPr/>
          <p:nvPr/>
        </p:nvSpPr>
        <p:spPr>
          <a:xfrm>
            <a:off x="1664256" y="3155871"/>
            <a:ext cx="2441138" cy="496133"/>
          </a:xfrm>
          <a:prstGeom prst="rect">
            <a:avLst/>
          </a:prstGeom>
          <a:noFill/>
          <a:ln/>
        </p:spPr>
        <p:txBody>
          <a:bodyPr wrap="none" lIns="0" tIns="0" rIns="0" bIns="0" rtlCol="0" anchor="t"/>
          <a:lstStyle/>
          <a:p>
            <a:pPr algn="ctr" indent="0" marL="0">
              <a:lnSpc>
                <a:spcPts val="3900"/>
              </a:lnSpc>
              <a:buNone/>
            </a:pPr>
            <a:r>
              <a:rPr lang="en-US" sz="3900" dirty="0">
                <a:solidFill>
                  <a:srgbClr val="2C3249"/>
                </a:solidFill>
                <a:latin typeface="Kanit Light" pitchFamily="34" charset="0"/>
                <a:ea typeface="Kanit Light" pitchFamily="34" charset="-122"/>
                <a:cs typeface="Kanit Light" pitchFamily="34" charset="-120"/>
              </a:rPr>
              <a:t>99.2%</a:t>
            </a:r>
            <a:endParaRPr lang="en-US" sz="3900" dirty="0"/>
          </a:p>
        </p:txBody>
      </p:sp>
      <p:pic>
        <p:nvPicPr>
          <p:cNvPr id="4" name="Image 0" descr="preencoded.png">    </p:cNvPr>
          <p:cNvPicPr>
            <a:picLocks noChangeAspect="1"/>
          </p:cNvPicPr>
          <p:nvPr/>
        </p:nvPicPr>
        <p:blipFill>
          <a:blip r:embed="rId1"/>
          <a:stretch>
            <a:fillRect/>
          </a:stretch>
        </p:blipFill>
        <p:spPr>
          <a:xfrm>
            <a:off x="1396365" y="1915478"/>
            <a:ext cx="2977039" cy="2977039"/>
          </a:xfrm>
          <a:prstGeom prst="rect">
            <a:avLst/>
          </a:prstGeom>
        </p:spPr>
      </p:pic>
      <p:sp>
        <p:nvSpPr>
          <p:cNvPr id="5" name="Text 2"/>
          <p:cNvSpPr/>
          <p:nvPr/>
        </p:nvSpPr>
        <p:spPr>
          <a:xfrm>
            <a:off x="1644372" y="5140404"/>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Akurasi Model CNN</a:t>
            </a:r>
            <a:endParaRPr lang="en-US" sz="1950" dirty="0"/>
          </a:p>
        </p:txBody>
      </p:sp>
      <p:sp>
        <p:nvSpPr>
          <p:cNvPr id="6" name="Text 3"/>
          <p:cNvSpPr/>
          <p:nvPr/>
        </p:nvSpPr>
        <p:spPr>
          <a:xfrm>
            <a:off x="793790" y="5569625"/>
            <a:ext cx="4182189" cy="952619"/>
          </a:xfrm>
          <a:prstGeom prst="rect">
            <a:avLst/>
          </a:prstGeom>
          <a:noFill/>
          <a:ln/>
        </p:spPr>
        <p:txBody>
          <a:bodyPr wrap="square" lIns="0" tIns="0" rIns="0" bIns="0" rtlCol="0" anchor="t"/>
          <a:lstStyle/>
          <a:p>
            <a:pPr algn="ctr"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Model CNN sederhana dapat mencapai akurasi hingga 99.2% pada dataset MNIST dalam beberapa epoch pelatihan.</a:t>
            </a:r>
            <a:endParaRPr lang="en-US" sz="1550" dirty="0"/>
          </a:p>
        </p:txBody>
      </p:sp>
      <p:sp>
        <p:nvSpPr>
          <p:cNvPr id="7" name="Text 4"/>
          <p:cNvSpPr/>
          <p:nvPr/>
        </p:nvSpPr>
        <p:spPr>
          <a:xfrm>
            <a:off x="6094452" y="3155871"/>
            <a:ext cx="2441138" cy="496133"/>
          </a:xfrm>
          <a:prstGeom prst="rect">
            <a:avLst/>
          </a:prstGeom>
          <a:noFill/>
          <a:ln/>
        </p:spPr>
        <p:txBody>
          <a:bodyPr wrap="none" lIns="0" tIns="0" rIns="0" bIns="0" rtlCol="0" anchor="t"/>
          <a:lstStyle/>
          <a:p>
            <a:pPr algn="ctr" indent="0" marL="0">
              <a:lnSpc>
                <a:spcPts val="3900"/>
              </a:lnSpc>
              <a:buNone/>
            </a:pPr>
            <a:r>
              <a:rPr lang="en-US" sz="3900" dirty="0">
                <a:solidFill>
                  <a:srgbClr val="2C3249"/>
                </a:solidFill>
                <a:latin typeface="Kanit Light" pitchFamily="34" charset="0"/>
                <a:ea typeface="Kanit Light" pitchFamily="34" charset="-122"/>
                <a:cs typeface="Kanit Light" pitchFamily="34" charset="-120"/>
              </a:rPr>
              <a:t>97.5%</a:t>
            </a:r>
            <a:endParaRPr lang="en-US" sz="3900" dirty="0"/>
          </a:p>
        </p:txBody>
      </p:sp>
      <p:pic>
        <p:nvPicPr>
          <p:cNvPr id="8" name="Image 1" descr="preencoded.png">    </p:cNvPr>
          <p:cNvPicPr>
            <a:picLocks noChangeAspect="1"/>
          </p:cNvPicPr>
          <p:nvPr/>
        </p:nvPicPr>
        <p:blipFill>
          <a:blip r:embed="rId2"/>
          <a:stretch>
            <a:fillRect/>
          </a:stretch>
        </p:blipFill>
        <p:spPr>
          <a:xfrm>
            <a:off x="5826562" y="1915478"/>
            <a:ext cx="2977039" cy="2977039"/>
          </a:xfrm>
          <a:prstGeom prst="rect">
            <a:avLst/>
          </a:prstGeom>
        </p:spPr>
      </p:pic>
      <p:sp>
        <p:nvSpPr>
          <p:cNvPr id="9" name="Text 5"/>
          <p:cNvSpPr/>
          <p:nvPr/>
        </p:nvSpPr>
        <p:spPr>
          <a:xfrm>
            <a:off x="6074688" y="5140404"/>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Akurasi Model MLP</a:t>
            </a:r>
            <a:endParaRPr lang="en-US" sz="1950" dirty="0"/>
          </a:p>
        </p:txBody>
      </p:sp>
      <p:sp>
        <p:nvSpPr>
          <p:cNvPr id="10" name="Text 6"/>
          <p:cNvSpPr/>
          <p:nvPr/>
        </p:nvSpPr>
        <p:spPr>
          <a:xfrm>
            <a:off x="5223986" y="5569625"/>
            <a:ext cx="4182308" cy="952619"/>
          </a:xfrm>
          <a:prstGeom prst="rect">
            <a:avLst/>
          </a:prstGeom>
          <a:noFill/>
          <a:ln/>
        </p:spPr>
        <p:txBody>
          <a:bodyPr wrap="square" lIns="0" tIns="0" rIns="0" bIns="0" rtlCol="0" anchor="t"/>
          <a:lstStyle/>
          <a:p>
            <a:pPr algn="ctr"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Model MLP (tanpa konvolusi) biasanya mencapai akurasi sekitar 97-98% pada dataset yang sama.</a:t>
            </a:r>
            <a:endParaRPr lang="en-US" sz="1550" dirty="0"/>
          </a:p>
        </p:txBody>
      </p:sp>
      <p:sp>
        <p:nvSpPr>
          <p:cNvPr id="11" name="Text 7"/>
          <p:cNvSpPr/>
          <p:nvPr/>
        </p:nvSpPr>
        <p:spPr>
          <a:xfrm>
            <a:off x="10524768" y="3155871"/>
            <a:ext cx="2441138" cy="496133"/>
          </a:xfrm>
          <a:prstGeom prst="rect">
            <a:avLst/>
          </a:prstGeom>
          <a:noFill/>
          <a:ln/>
        </p:spPr>
        <p:txBody>
          <a:bodyPr wrap="none" lIns="0" tIns="0" rIns="0" bIns="0" rtlCol="0" anchor="t"/>
          <a:lstStyle/>
          <a:p>
            <a:pPr algn="ctr" indent="0" marL="0">
              <a:lnSpc>
                <a:spcPts val="3900"/>
              </a:lnSpc>
              <a:buNone/>
            </a:pPr>
            <a:r>
              <a:rPr lang="en-US" sz="3900" dirty="0">
                <a:solidFill>
                  <a:srgbClr val="2C3249"/>
                </a:solidFill>
                <a:latin typeface="Kanit Light" pitchFamily="34" charset="0"/>
                <a:ea typeface="Kanit Light" pitchFamily="34" charset="-122"/>
                <a:cs typeface="Kanit Light" pitchFamily="34" charset="-120"/>
              </a:rPr>
              <a:t>91.7%</a:t>
            </a:r>
            <a:endParaRPr lang="en-US" sz="3900" dirty="0"/>
          </a:p>
        </p:txBody>
      </p:sp>
      <p:pic>
        <p:nvPicPr>
          <p:cNvPr id="12" name="Image 2" descr="preencoded.png">    </p:cNvPr>
          <p:cNvPicPr>
            <a:picLocks noChangeAspect="1"/>
          </p:cNvPicPr>
          <p:nvPr/>
        </p:nvPicPr>
        <p:blipFill>
          <a:blip r:embed="rId3"/>
          <a:stretch>
            <a:fillRect/>
          </a:stretch>
        </p:blipFill>
        <p:spPr>
          <a:xfrm>
            <a:off x="10256877" y="1915478"/>
            <a:ext cx="2977039" cy="2977039"/>
          </a:xfrm>
          <a:prstGeom prst="rect">
            <a:avLst/>
          </a:prstGeom>
        </p:spPr>
      </p:pic>
      <p:sp>
        <p:nvSpPr>
          <p:cNvPr id="13" name="Text 8"/>
          <p:cNvSpPr/>
          <p:nvPr/>
        </p:nvSpPr>
        <p:spPr>
          <a:xfrm>
            <a:off x="10346531" y="5140404"/>
            <a:ext cx="2797850" cy="310158"/>
          </a:xfrm>
          <a:prstGeom prst="rect">
            <a:avLst/>
          </a:prstGeom>
          <a:noFill/>
          <a:ln/>
        </p:spPr>
        <p:txBody>
          <a:bodyPr wrap="none" lIns="0" tIns="0" rIns="0" bIns="0" rtlCol="0" anchor="t"/>
          <a:lstStyle/>
          <a:p>
            <a:pPr algn="ctr"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Akurasi Model Tradisional</a:t>
            </a:r>
            <a:endParaRPr lang="en-US" sz="1950" dirty="0"/>
          </a:p>
        </p:txBody>
      </p:sp>
      <p:sp>
        <p:nvSpPr>
          <p:cNvPr id="14" name="Text 9"/>
          <p:cNvSpPr/>
          <p:nvPr/>
        </p:nvSpPr>
        <p:spPr>
          <a:xfrm>
            <a:off x="9654302" y="5569625"/>
            <a:ext cx="4182308" cy="952619"/>
          </a:xfrm>
          <a:prstGeom prst="rect">
            <a:avLst/>
          </a:prstGeom>
          <a:noFill/>
          <a:ln/>
        </p:spPr>
        <p:txBody>
          <a:bodyPr wrap="square" lIns="0" tIns="0" rIns="0" bIns="0" rtlCol="0" anchor="t"/>
          <a:lstStyle/>
          <a:p>
            <a:pPr algn="ctr"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Metode tradisional seperti SVM dengan ekstraksi fitur manual biasanya mencapai akurasi 90-95%.</a:t>
            </a:r>
            <a:endParaRPr lang="en-US" sz="1550" dirty="0"/>
          </a:p>
        </p:txBody>
      </p:sp>
      <p:sp>
        <p:nvSpPr>
          <p:cNvPr id="15" name="Text 10"/>
          <p:cNvSpPr/>
          <p:nvPr/>
        </p:nvSpPr>
        <p:spPr>
          <a:xfrm>
            <a:off x="793790" y="674548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Dari analisis perbandingan di atas, terlihat bahwa CNN memberikan performa terbaik untuk tugas klasifikasi citra digit tulisan tangan. Hal ini menunjukkan keunggulan arsitektur JST khusus untuk computer vision dibanding pendekatan lainnya.</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1171337"/>
            <a:ext cx="8953738"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Studi Kasus: Perbandingan Arsitektur JST</a:t>
            </a:r>
            <a:endParaRPr lang="en-US" sz="3900" dirty="0"/>
          </a:p>
        </p:txBody>
      </p:sp>
      <p:sp>
        <p:nvSpPr>
          <p:cNvPr id="3" name="Shape 1"/>
          <p:cNvSpPr/>
          <p:nvPr/>
        </p:nvSpPr>
        <p:spPr>
          <a:xfrm>
            <a:off x="793790" y="2188250"/>
            <a:ext cx="13042821" cy="4011573"/>
          </a:xfrm>
          <a:prstGeom prst="roundRect">
            <a:avLst>
              <a:gd name="adj" fmla="val 2078"/>
            </a:avLst>
          </a:prstGeom>
          <a:noFill/>
          <a:ln w="7620">
            <a:solidFill>
              <a:srgbClr val="000000">
                <a:alpha val="8000"/>
              </a:srgbClr>
            </a:solidFill>
            <a:prstDash val="solid"/>
          </a:ln>
        </p:spPr>
      </p:sp>
      <p:sp>
        <p:nvSpPr>
          <p:cNvPr id="4" name="Shape 2"/>
          <p:cNvSpPr/>
          <p:nvPr/>
        </p:nvSpPr>
        <p:spPr>
          <a:xfrm>
            <a:off x="801410" y="2195870"/>
            <a:ext cx="13027581" cy="570905"/>
          </a:xfrm>
          <a:prstGeom prst="rect">
            <a:avLst/>
          </a:prstGeom>
          <a:solidFill>
            <a:srgbClr val="FFFFFF">
              <a:alpha val="4000"/>
            </a:srgbClr>
          </a:solidFill>
          <a:ln/>
        </p:spPr>
      </p:sp>
      <p:sp>
        <p:nvSpPr>
          <p:cNvPr id="5" name="Text 3"/>
          <p:cNvSpPr/>
          <p:nvPr/>
        </p:nvSpPr>
        <p:spPr>
          <a:xfrm>
            <a:off x="1000125" y="2322552"/>
            <a:ext cx="2204918"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Arsitektur</a:t>
            </a:r>
            <a:endParaRPr lang="en-US" sz="1550" dirty="0"/>
          </a:p>
        </p:txBody>
      </p:sp>
      <p:sp>
        <p:nvSpPr>
          <p:cNvPr id="6" name="Text 4"/>
          <p:cNvSpPr/>
          <p:nvPr/>
        </p:nvSpPr>
        <p:spPr>
          <a:xfrm>
            <a:off x="3609380" y="2322552"/>
            <a:ext cx="2201108"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Dataset</a:t>
            </a:r>
            <a:endParaRPr lang="en-US" sz="1550" dirty="0"/>
          </a:p>
        </p:txBody>
      </p:sp>
      <p:sp>
        <p:nvSpPr>
          <p:cNvPr id="7" name="Text 5"/>
          <p:cNvSpPr/>
          <p:nvPr/>
        </p:nvSpPr>
        <p:spPr>
          <a:xfrm>
            <a:off x="6214824" y="2322552"/>
            <a:ext cx="2201108"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Akurasi</a:t>
            </a:r>
            <a:endParaRPr lang="en-US" sz="1550" dirty="0"/>
          </a:p>
        </p:txBody>
      </p:sp>
      <p:sp>
        <p:nvSpPr>
          <p:cNvPr id="8" name="Text 6"/>
          <p:cNvSpPr/>
          <p:nvPr/>
        </p:nvSpPr>
        <p:spPr>
          <a:xfrm>
            <a:off x="8820269" y="2322552"/>
            <a:ext cx="2201108"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Waktu Pelatihan</a:t>
            </a:r>
            <a:endParaRPr lang="en-US" sz="1550" dirty="0"/>
          </a:p>
        </p:txBody>
      </p:sp>
      <p:sp>
        <p:nvSpPr>
          <p:cNvPr id="9" name="Text 7"/>
          <p:cNvSpPr/>
          <p:nvPr/>
        </p:nvSpPr>
        <p:spPr>
          <a:xfrm>
            <a:off x="11425714" y="2322552"/>
            <a:ext cx="2204918" cy="317540"/>
          </a:xfrm>
          <a:prstGeom prst="rect">
            <a:avLst/>
          </a:prstGeom>
          <a:noFill/>
          <a:ln/>
        </p:spPr>
        <p:txBody>
          <a:bodyPr wrap="non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Jumlah Parameter</a:t>
            </a:r>
            <a:endParaRPr lang="en-US" sz="1550" dirty="0"/>
          </a:p>
        </p:txBody>
      </p:sp>
      <p:sp>
        <p:nvSpPr>
          <p:cNvPr id="10" name="Shape 8"/>
          <p:cNvSpPr/>
          <p:nvPr/>
        </p:nvSpPr>
        <p:spPr>
          <a:xfrm>
            <a:off x="801410" y="2766774"/>
            <a:ext cx="13027581" cy="570905"/>
          </a:xfrm>
          <a:prstGeom prst="rect">
            <a:avLst/>
          </a:prstGeom>
          <a:solidFill>
            <a:srgbClr val="000000">
              <a:alpha val="4000"/>
            </a:srgbClr>
          </a:solidFill>
          <a:ln/>
        </p:spPr>
      </p:sp>
      <p:sp>
        <p:nvSpPr>
          <p:cNvPr id="11" name="Text 9"/>
          <p:cNvSpPr/>
          <p:nvPr/>
        </p:nvSpPr>
        <p:spPr>
          <a:xfrm>
            <a:off x="1000125" y="2893457"/>
            <a:ext cx="220491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MLP (2 hidden layers)</a:t>
            </a:r>
            <a:endParaRPr lang="en-US" sz="1550" dirty="0"/>
          </a:p>
        </p:txBody>
      </p:sp>
      <p:sp>
        <p:nvSpPr>
          <p:cNvPr id="12" name="Text 10"/>
          <p:cNvSpPr/>
          <p:nvPr/>
        </p:nvSpPr>
        <p:spPr>
          <a:xfrm>
            <a:off x="3609380" y="2893457"/>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MNIST</a:t>
            </a:r>
            <a:endParaRPr lang="en-US" sz="1550" dirty="0"/>
          </a:p>
        </p:txBody>
      </p:sp>
      <p:sp>
        <p:nvSpPr>
          <p:cNvPr id="13" name="Text 11"/>
          <p:cNvSpPr/>
          <p:nvPr/>
        </p:nvSpPr>
        <p:spPr>
          <a:xfrm>
            <a:off x="6214824" y="2893457"/>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97.8%</a:t>
            </a:r>
            <a:endParaRPr lang="en-US" sz="1550" dirty="0"/>
          </a:p>
        </p:txBody>
      </p:sp>
      <p:sp>
        <p:nvSpPr>
          <p:cNvPr id="14" name="Text 12"/>
          <p:cNvSpPr/>
          <p:nvPr/>
        </p:nvSpPr>
        <p:spPr>
          <a:xfrm>
            <a:off x="8820269" y="2893457"/>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~15 detik/epoch</a:t>
            </a:r>
            <a:endParaRPr lang="en-US" sz="1550" dirty="0"/>
          </a:p>
        </p:txBody>
      </p:sp>
      <p:sp>
        <p:nvSpPr>
          <p:cNvPr id="15" name="Text 13"/>
          <p:cNvSpPr/>
          <p:nvPr/>
        </p:nvSpPr>
        <p:spPr>
          <a:xfrm>
            <a:off x="11425714" y="2893457"/>
            <a:ext cx="220491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~500K</a:t>
            </a:r>
            <a:endParaRPr lang="en-US" sz="1550" dirty="0"/>
          </a:p>
        </p:txBody>
      </p:sp>
      <p:sp>
        <p:nvSpPr>
          <p:cNvPr id="16" name="Shape 14"/>
          <p:cNvSpPr/>
          <p:nvPr/>
        </p:nvSpPr>
        <p:spPr>
          <a:xfrm>
            <a:off x="801410" y="3337679"/>
            <a:ext cx="13027581" cy="570905"/>
          </a:xfrm>
          <a:prstGeom prst="rect">
            <a:avLst/>
          </a:prstGeom>
          <a:solidFill>
            <a:srgbClr val="FFFFFF">
              <a:alpha val="4000"/>
            </a:srgbClr>
          </a:solidFill>
          <a:ln/>
        </p:spPr>
      </p:sp>
      <p:sp>
        <p:nvSpPr>
          <p:cNvPr id="17" name="Text 15"/>
          <p:cNvSpPr/>
          <p:nvPr/>
        </p:nvSpPr>
        <p:spPr>
          <a:xfrm>
            <a:off x="1000125" y="3464362"/>
            <a:ext cx="220491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CNN Sederhana</a:t>
            </a:r>
            <a:endParaRPr lang="en-US" sz="1550" dirty="0"/>
          </a:p>
        </p:txBody>
      </p:sp>
      <p:sp>
        <p:nvSpPr>
          <p:cNvPr id="18" name="Text 16"/>
          <p:cNvSpPr/>
          <p:nvPr/>
        </p:nvSpPr>
        <p:spPr>
          <a:xfrm>
            <a:off x="3609380" y="3464362"/>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MNIST</a:t>
            </a:r>
            <a:endParaRPr lang="en-US" sz="1550" dirty="0"/>
          </a:p>
        </p:txBody>
      </p:sp>
      <p:sp>
        <p:nvSpPr>
          <p:cNvPr id="19" name="Text 17"/>
          <p:cNvSpPr/>
          <p:nvPr/>
        </p:nvSpPr>
        <p:spPr>
          <a:xfrm>
            <a:off x="6214824" y="3464362"/>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99.2%</a:t>
            </a:r>
            <a:endParaRPr lang="en-US" sz="1550" dirty="0"/>
          </a:p>
        </p:txBody>
      </p:sp>
      <p:sp>
        <p:nvSpPr>
          <p:cNvPr id="20" name="Text 18"/>
          <p:cNvSpPr/>
          <p:nvPr/>
        </p:nvSpPr>
        <p:spPr>
          <a:xfrm>
            <a:off x="8820269" y="3464362"/>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~25 detik/epoch</a:t>
            </a:r>
            <a:endParaRPr lang="en-US" sz="1550" dirty="0"/>
          </a:p>
        </p:txBody>
      </p:sp>
      <p:sp>
        <p:nvSpPr>
          <p:cNvPr id="21" name="Text 19"/>
          <p:cNvSpPr/>
          <p:nvPr/>
        </p:nvSpPr>
        <p:spPr>
          <a:xfrm>
            <a:off x="11425714" y="3464362"/>
            <a:ext cx="220491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~600K</a:t>
            </a:r>
            <a:endParaRPr lang="en-US" sz="1550" dirty="0"/>
          </a:p>
        </p:txBody>
      </p:sp>
      <p:sp>
        <p:nvSpPr>
          <p:cNvPr id="22" name="Shape 20"/>
          <p:cNvSpPr/>
          <p:nvPr/>
        </p:nvSpPr>
        <p:spPr>
          <a:xfrm>
            <a:off x="801410" y="3908584"/>
            <a:ext cx="13027581" cy="570905"/>
          </a:xfrm>
          <a:prstGeom prst="rect">
            <a:avLst/>
          </a:prstGeom>
          <a:solidFill>
            <a:srgbClr val="000000">
              <a:alpha val="4000"/>
            </a:srgbClr>
          </a:solidFill>
          <a:ln/>
        </p:spPr>
      </p:sp>
      <p:sp>
        <p:nvSpPr>
          <p:cNvPr id="23" name="Text 21"/>
          <p:cNvSpPr/>
          <p:nvPr/>
        </p:nvSpPr>
        <p:spPr>
          <a:xfrm>
            <a:off x="1000125" y="4035266"/>
            <a:ext cx="220491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LeNet-5</a:t>
            </a:r>
            <a:endParaRPr lang="en-US" sz="1550" dirty="0"/>
          </a:p>
        </p:txBody>
      </p:sp>
      <p:sp>
        <p:nvSpPr>
          <p:cNvPr id="24" name="Text 22"/>
          <p:cNvSpPr/>
          <p:nvPr/>
        </p:nvSpPr>
        <p:spPr>
          <a:xfrm>
            <a:off x="3609380" y="4035266"/>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MNIST</a:t>
            </a:r>
            <a:endParaRPr lang="en-US" sz="1550" dirty="0"/>
          </a:p>
        </p:txBody>
      </p:sp>
      <p:sp>
        <p:nvSpPr>
          <p:cNvPr id="25" name="Text 23"/>
          <p:cNvSpPr/>
          <p:nvPr/>
        </p:nvSpPr>
        <p:spPr>
          <a:xfrm>
            <a:off x="6214824" y="4035266"/>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99.5%</a:t>
            </a:r>
            <a:endParaRPr lang="en-US" sz="1550" dirty="0"/>
          </a:p>
        </p:txBody>
      </p:sp>
      <p:sp>
        <p:nvSpPr>
          <p:cNvPr id="26" name="Text 24"/>
          <p:cNvSpPr/>
          <p:nvPr/>
        </p:nvSpPr>
        <p:spPr>
          <a:xfrm>
            <a:off x="8820269" y="4035266"/>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~30 detik/epoch</a:t>
            </a:r>
            <a:endParaRPr lang="en-US" sz="1550" dirty="0"/>
          </a:p>
        </p:txBody>
      </p:sp>
      <p:sp>
        <p:nvSpPr>
          <p:cNvPr id="27" name="Text 25"/>
          <p:cNvSpPr/>
          <p:nvPr/>
        </p:nvSpPr>
        <p:spPr>
          <a:xfrm>
            <a:off x="11425714" y="4035266"/>
            <a:ext cx="220491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~60K</a:t>
            </a:r>
            <a:endParaRPr lang="en-US" sz="1550" dirty="0"/>
          </a:p>
        </p:txBody>
      </p:sp>
      <p:sp>
        <p:nvSpPr>
          <p:cNvPr id="28" name="Shape 26"/>
          <p:cNvSpPr/>
          <p:nvPr/>
        </p:nvSpPr>
        <p:spPr>
          <a:xfrm>
            <a:off x="801410" y="4479488"/>
            <a:ext cx="13027581" cy="570905"/>
          </a:xfrm>
          <a:prstGeom prst="rect">
            <a:avLst/>
          </a:prstGeom>
          <a:solidFill>
            <a:srgbClr val="FFFFFF">
              <a:alpha val="4000"/>
            </a:srgbClr>
          </a:solidFill>
          <a:ln/>
        </p:spPr>
      </p:sp>
      <p:sp>
        <p:nvSpPr>
          <p:cNvPr id="29" name="Text 27"/>
          <p:cNvSpPr/>
          <p:nvPr/>
        </p:nvSpPr>
        <p:spPr>
          <a:xfrm>
            <a:off x="1000125" y="4606171"/>
            <a:ext cx="220491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MLP (2 hidden layers)</a:t>
            </a:r>
            <a:endParaRPr lang="en-US" sz="1550" dirty="0"/>
          </a:p>
        </p:txBody>
      </p:sp>
      <p:sp>
        <p:nvSpPr>
          <p:cNvPr id="30" name="Text 28"/>
          <p:cNvSpPr/>
          <p:nvPr/>
        </p:nvSpPr>
        <p:spPr>
          <a:xfrm>
            <a:off x="3609380" y="4606171"/>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CIFAR-10</a:t>
            </a:r>
            <a:endParaRPr lang="en-US" sz="1550" dirty="0"/>
          </a:p>
        </p:txBody>
      </p:sp>
      <p:sp>
        <p:nvSpPr>
          <p:cNvPr id="31" name="Text 29"/>
          <p:cNvSpPr/>
          <p:nvPr/>
        </p:nvSpPr>
        <p:spPr>
          <a:xfrm>
            <a:off x="6214824" y="4606171"/>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56.2%</a:t>
            </a:r>
            <a:endParaRPr lang="en-US" sz="1550" dirty="0"/>
          </a:p>
        </p:txBody>
      </p:sp>
      <p:sp>
        <p:nvSpPr>
          <p:cNvPr id="32" name="Text 30"/>
          <p:cNvSpPr/>
          <p:nvPr/>
        </p:nvSpPr>
        <p:spPr>
          <a:xfrm>
            <a:off x="8820269" y="4606171"/>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~30 detik/epoch</a:t>
            </a:r>
            <a:endParaRPr lang="en-US" sz="1550" dirty="0"/>
          </a:p>
        </p:txBody>
      </p:sp>
      <p:sp>
        <p:nvSpPr>
          <p:cNvPr id="33" name="Text 31"/>
          <p:cNvSpPr/>
          <p:nvPr/>
        </p:nvSpPr>
        <p:spPr>
          <a:xfrm>
            <a:off x="11425714" y="4606171"/>
            <a:ext cx="220491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~2M</a:t>
            </a:r>
            <a:endParaRPr lang="en-US" sz="1550" dirty="0"/>
          </a:p>
        </p:txBody>
      </p:sp>
      <p:sp>
        <p:nvSpPr>
          <p:cNvPr id="34" name="Shape 32"/>
          <p:cNvSpPr/>
          <p:nvPr/>
        </p:nvSpPr>
        <p:spPr>
          <a:xfrm>
            <a:off x="801410" y="5050393"/>
            <a:ext cx="13027581" cy="570905"/>
          </a:xfrm>
          <a:prstGeom prst="rect">
            <a:avLst/>
          </a:prstGeom>
          <a:solidFill>
            <a:srgbClr val="000000">
              <a:alpha val="4000"/>
            </a:srgbClr>
          </a:solidFill>
          <a:ln/>
        </p:spPr>
      </p:sp>
      <p:sp>
        <p:nvSpPr>
          <p:cNvPr id="35" name="Text 33"/>
          <p:cNvSpPr/>
          <p:nvPr/>
        </p:nvSpPr>
        <p:spPr>
          <a:xfrm>
            <a:off x="1000125" y="5177076"/>
            <a:ext cx="220491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CNN Sederhana</a:t>
            </a:r>
            <a:endParaRPr lang="en-US" sz="1550" dirty="0"/>
          </a:p>
        </p:txBody>
      </p:sp>
      <p:sp>
        <p:nvSpPr>
          <p:cNvPr id="36" name="Text 34"/>
          <p:cNvSpPr/>
          <p:nvPr/>
        </p:nvSpPr>
        <p:spPr>
          <a:xfrm>
            <a:off x="3609380" y="5177076"/>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CIFAR-10</a:t>
            </a:r>
            <a:endParaRPr lang="en-US" sz="1550" dirty="0"/>
          </a:p>
        </p:txBody>
      </p:sp>
      <p:sp>
        <p:nvSpPr>
          <p:cNvPr id="37" name="Text 35"/>
          <p:cNvSpPr/>
          <p:nvPr/>
        </p:nvSpPr>
        <p:spPr>
          <a:xfrm>
            <a:off x="6214824" y="5177076"/>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75.6%</a:t>
            </a:r>
            <a:endParaRPr lang="en-US" sz="1550" dirty="0"/>
          </a:p>
        </p:txBody>
      </p:sp>
      <p:sp>
        <p:nvSpPr>
          <p:cNvPr id="38" name="Text 36"/>
          <p:cNvSpPr/>
          <p:nvPr/>
        </p:nvSpPr>
        <p:spPr>
          <a:xfrm>
            <a:off x="8820269" y="5177076"/>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~60 detik/epoch</a:t>
            </a:r>
            <a:endParaRPr lang="en-US" sz="1550" dirty="0"/>
          </a:p>
        </p:txBody>
      </p:sp>
      <p:sp>
        <p:nvSpPr>
          <p:cNvPr id="39" name="Text 37"/>
          <p:cNvSpPr/>
          <p:nvPr/>
        </p:nvSpPr>
        <p:spPr>
          <a:xfrm>
            <a:off x="11425714" y="5177076"/>
            <a:ext cx="220491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~1.2M</a:t>
            </a:r>
            <a:endParaRPr lang="en-US" sz="1550" dirty="0"/>
          </a:p>
        </p:txBody>
      </p:sp>
      <p:sp>
        <p:nvSpPr>
          <p:cNvPr id="40" name="Shape 38"/>
          <p:cNvSpPr/>
          <p:nvPr/>
        </p:nvSpPr>
        <p:spPr>
          <a:xfrm>
            <a:off x="801410" y="5621298"/>
            <a:ext cx="13027581" cy="570905"/>
          </a:xfrm>
          <a:prstGeom prst="rect">
            <a:avLst/>
          </a:prstGeom>
          <a:solidFill>
            <a:srgbClr val="FFFFFF">
              <a:alpha val="4000"/>
            </a:srgbClr>
          </a:solidFill>
          <a:ln/>
        </p:spPr>
      </p:sp>
      <p:sp>
        <p:nvSpPr>
          <p:cNvPr id="41" name="Text 39"/>
          <p:cNvSpPr/>
          <p:nvPr/>
        </p:nvSpPr>
        <p:spPr>
          <a:xfrm>
            <a:off x="1000125" y="5747980"/>
            <a:ext cx="220491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ResNet-18</a:t>
            </a:r>
            <a:endParaRPr lang="en-US" sz="1550" dirty="0"/>
          </a:p>
        </p:txBody>
      </p:sp>
      <p:sp>
        <p:nvSpPr>
          <p:cNvPr id="42" name="Text 40"/>
          <p:cNvSpPr/>
          <p:nvPr/>
        </p:nvSpPr>
        <p:spPr>
          <a:xfrm>
            <a:off x="3609380" y="5747980"/>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CIFAR-10</a:t>
            </a:r>
            <a:endParaRPr lang="en-US" sz="1550" dirty="0"/>
          </a:p>
        </p:txBody>
      </p:sp>
      <p:sp>
        <p:nvSpPr>
          <p:cNvPr id="43" name="Text 41"/>
          <p:cNvSpPr/>
          <p:nvPr/>
        </p:nvSpPr>
        <p:spPr>
          <a:xfrm>
            <a:off x="6214824" y="5747980"/>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93.8%</a:t>
            </a:r>
            <a:endParaRPr lang="en-US" sz="1550" dirty="0"/>
          </a:p>
        </p:txBody>
      </p:sp>
      <p:sp>
        <p:nvSpPr>
          <p:cNvPr id="44" name="Text 42"/>
          <p:cNvSpPr/>
          <p:nvPr/>
        </p:nvSpPr>
        <p:spPr>
          <a:xfrm>
            <a:off x="8820269" y="5747980"/>
            <a:ext cx="220110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~120 detik/epoch</a:t>
            </a:r>
            <a:endParaRPr lang="en-US" sz="1550" dirty="0"/>
          </a:p>
        </p:txBody>
      </p:sp>
      <p:sp>
        <p:nvSpPr>
          <p:cNvPr id="45" name="Text 43"/>
          <p:cNvSpPr/>
          <p:nvPr/>
        </p:nvSpPr>
        <p:spPr>
          <a:xfrm>
            <a:off x="11425714" y="5747980"/>
            <a:ext cx="2204918"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~11M</a:t>
            </a:r>
            <a:endParaRPr lang="en-US" sz="1550" dirty="0"/>
          </a:p>
        </p:txBody>
      </p:sp>
      <p:sp>
        <p:nvSpPr>
          <p:cNvPr id="46" name="Text 44"/>
          <p:cNvSpPr/>
          <p:nvPr/>
        </p:nvSpPr>
        <p:spPr>
          <a:xfrm>
            <a:off x="793790" y="642306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Tabel di atas menunjukkan bahwa untuk dataset yang lebih kompleks seperti CIFAR-10, perbedaan performa antara MLP dan CNN semakin besar. Arsitektur yang lebih canggih seperti ResNet dengan skip connections memberikan peningkatan performa yang signifikan.</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1047631"/>
            <a:ext cx="9512498"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Tantangan dan Solusi dalam Penerapan JST</a:t>
            </a:r>
            <a:endParaRPr lang="en-US" sz="3900" dirty="0"/>
          </a:p>
        </p:txBody>
      </p:sp>
      <p:sp>
        <p:nvSpPr>
          <p:cNvPr id="3" name="Shape 1"/>
          <p:cNvSpPr/>
          <p:nvPr/>
        </p:nvSpPr>
        <p:spPr>
          <a:xfrm>
            <a:off x="793790" y="2064544"/>
            <a:ext cx="6422231" cy="2459474"/>
          </a:xfrm>
          <a:prstGeom prst="roundRect">
            <a:avLst>
              <a:gd name="adj" fmla="val 3389"/>
            </a:avLst>
          </a:prstGeom>
          <a:solidFill>
            <a:srgbClr val="FFFFFF"/>
          </a:solidFill>
          <a:ln w="22860">
            <a:solidFill>
              <a:srgbClr val="C5D2CF"/>
            </a:solidFill>
            <a:prstDash val="solid"/>
          </a:ln>
        </p:spPr>
      </p:sp>
      <p:pic>
        <p:nvPicPr>
          <p:cNvPr id="4" name="Image 0" descr="preencoded.png">    </p:cNvPr>
          <p:cNvPicPr>
            <a:picLocks noChangeAspect="1"/>
          </p:cNvPicPr>
          <p:nvPr/>
        </p:nvPicPr>
        <p:blipFill>
          <a:blip r:embed="rId1"/>
          <a:stretch>
            <a:fillRect/>
          </a:stretch>
        </p:blipFill>
        <p:spPr>
          <a:xfrm>
            <a:off x="697587" y="1968341"/>
            <a:ext cx="238125" cy="238125"/>
          </a:xfrm>
          <a:prstGeom prst="rect">
            <a:avLst/>
          </a:prstGeom>
        </p:spPr>
      </p:pic>
      <p:pic>
        <p:nvPicPr>
          <p:cNvPr id="5" name="Image 1" descr="preencoded.png">    </p:cNvPr>
          <p:cNvPicPr>
            <a:picLocks noChangeAspect="1"/>
          </p:cNvPicPr>
          <p:nvPr/>
        </p:nvPicPr>
        <p:blipFill>
          <a:blip r:embed="rId2"/>
          <a:stretch>
            <a:fillRect/>
          </a:stretch>
        </p:blipFill>
        <p:spPr>
          <a:xfrm>
            <a:off x="7074098" y="4382095"/>
            <a:ext cx="238125" cy="238125"/>
          </a:xfrm>
          <a:prstGeom prst="rect">
            <a:avLst/>
          </a:prstGeom>
        </p:spPr>
      </p:pic>
      <p:sp>
        <p:nvSpPr>
          <p:cNvPr id="6" name="Text 2"/>
          <p:cNvSpPr/>
          <p:nvPr/>
        </p:nvSpPr>
        <p:spPr>
          <a:xfrm>
            <a:off x="1114306" y="238506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Overfitting</a:t>
            </a:r>
            <a:endParaRPr lang="en-US" sz="1950" dirty="0"/>
          </a:p>
        </p:txBody>
      </p:sp>
      <p:sp>
        <p:nvSpPr>
          <p:cNvPr id="7" name="Text 3"/>
          <p:cNvSpPr/>
          <p:nvPr/>
        </p:nvSpPr>
        <p:spPr>
          <a:xfrm>
            <a:off x="1114306" y="2814280"/>
            <a:ext cx="5781199" cy="635079"/>
          </a:xfrm>
          <a:prstGeom prst="rect">
            <a:avLst/>
          </a:prstGeom>
          <a:noFill/>
          <a:ln/>
        </p:spPr>
        <p:txBody>
          <a:bodyPr wrap="squar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Tantangan:</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Model terlalu menyesuaikan dengan data training dan gagal menggeneralisasi.</a:t>
            </a:r>
            <a:endParaRPr lang="en-US" sz="1550" dirty="0"/>
          </a:p>
        </p:txBody>
      </p:sp>
      <p:sp>
        <p:nvSpPr>
          <p:cNvPr id="8" name="Text 4"/>
          <p:cNvSpPr/>
          <p:nvPr/>
        </p:nvSpPr>
        <p:spPr>
          <a:xfrm>
            <a:off x="1114306" y="3568422"/>
            <a:ext cx="5781199" cy="635079"/>
          </a:xfrm>
          <a:prstGeom prst="rect">
            <a:avLst/>
          </a:prstGeom>
          <a:noFill/>
          <a:ln/>
        </p:spPr>
        <p:txBody>
          <a:bodyPr wrap="squar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Solusi: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Dropout, data augmentation, regularisasi L1/L2, early stopping, dan memperbanyak data training.</a:t>
            </a:r>
            <a:endParaRPr lang="en-US" sz="1550" dirty="0"/>
          </a:p>
        </p:txBody>
      </p:sp>
      <p:sp>
        <p:nvSpPr>
          <p:cNvPr id="9" name="Shape 5"/>
          <p:cNvSpPr/>
          <p:nvPr/>
        </p:nvSpPr>
        <p:spPr>
          <a:xfrm>
            <a:off x="7414379" y="2064544"/>
            <a:ext cx="6422231" cy="2459474"/>
          </a:xfrm>
          <a:prstGeom prst="roundRect">
            <a:avLst>
              <a:gd name="adj" fmla="val 3389"/>
            </a:avLst>
          </a:prstGeom>
          <a:solidFill>
            <a:srgbClr val="FFFFFF"/>
          </a:solidFill>
          <a:ln w="22860">
            <a:solidFill>
              <a:srgbClr val="C5D2CF"/>
            </a:solidFill>
            <a:prstDash val="solid"/>
          </a:ln>
        </p:spPr>
      </p:sp>
      <p:pic>
        <p:nvPicPr>
          <p:cNvPr id="10" name="Image 2" descr="preencoded.png">    </p:cNvPr>
          <p:cNvPicPr>
            <a:picLocks noChangeAspect="1"/>
          </p:cNvPicPr>
          <p:nvPr/>
        </p:nvPicPr>
        <p:blipFill>
          <a:blip r:embed="rId3"/>
          <a:stretch>
            <a:fillRect/>
          </a:stretch>
        </p:blipFill>
        <p:spPr>
          <a:xfrm>
            <a:off x="7318177" y="1968341"/>
            <a:ext cx="238125" cy="238125"/>
          </a:xfrm>
          <a:prstGeom prst="rect">
            <a:avLst/>
          </a:prstGeom>
        </p:spPr>
      </p:pic>
      <p:pic>
        <p:nvPicPr>
          <p:cNvPr id="11" name="Image 3" descr="preencoded.png">    </p:cNvPr>
          <p:cNvPicPr>
            <a:picLocks noChangeAspect="1"/>
          </p:cNvPicPr>
          <p:nvPr/>
        </p:nvPicPr>
        <p:blipFill>
          <a:blip r:embed="rId4"/>
          <a:stretch>
            <a:fillRect/>
          </a:stretch>
        </p:blipFill>
        <p:spPr>
          <a:xfrm>
            <a:off x="13694688" y="4382095"/>
            <a:ext cx="238125" cy="238125"/>
          </a:xfrm>
          <a:prstGeom prst="rect">
            <a:avLst/>
          </a:prstGeom>
        </p:spPr>
      </p:pic>
      <p:sp>
        <p:nvSpPr>
          <p:cNvPr id="12" name="Text 6"/>
          <p:cNvSpPr/>
          <p:nvPr/>
        </p:nvSpPr>
        <p:spPr>
          <a:xfrm>
            <a:off x="7734895" y="238506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Komputasi Tinggi</a:t>
            </a:r>
            <a:endParaRPr lang="en-US" sz="1950" dirty="0"/>
          </a:p>
        </p:txBody>
      </p:sp>
      <p:sp>
        <p:nvSpPr>
          <p:cNvPr id="13" name="Text 7"/>
          <p:cNvSpPr/>
          <p:nvPr/>
        </p:nvSpPr>
        <p:spPr>
          <a:xfrm>
            <a:off x="7734895" y="2814280"/>
            <a:ext cx="5781199" cy="635079"/>
          </a:xfrm>
          <a:prstGeom prst="rect">
            <a:avLst/>
          </a:prstGeom>
          <a:noFill/>
          <a:ln/>
        </p:spPr>
        <p:txBody>
          <a:bodyPr wrap="squar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Tantangan:</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JST kompleks membutuhkan daya komputasi dan waktu pelatihan yang besar.</a:t>
            </a:r>
            <a:endParaRPr lang="en-US" sz="1550" dirty="0"/>
          </a:p>
        </p:txBody>
      </p:sp>
      <p:sp>
        <p:nvSpPr>
          <p:cNvPr id="14" name="Text 8"/>
          <p:cNvSpPr/>
          <p:nvPr/>
        </p:nvSpPr>
        <p:spPr>
          <a:xfrm>
            <a:off x="7734895" y="3568422"/>
            <a:ext cx="5781199" cy="635079"/>
          </a:xfrm>
          <a:prstGeom prst="rect">
            <a:avLst/>
          </a:prstGeom>
          <a:noFill/>
          <a:ln/>
        </p:spPr>
        <p:txBody>
          <a:bodyPr wrap="squar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Solusi: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Menggunakan GPU/TPU, transfer learning, model compression, dan arsitektur efisien seperti MobileNet.</a:t>
            </a:r>
            <a:endParaRPr lang="en-US" sz="1550" dirty="0"/>
          </a:p>
        </p:txBody>
      </p:sp>
      <p:sp>
        <p:nvSpPr>
          <p:cNvPr id="15" name="Shape 9"/>
          <p:cNvSpPr/>
          <p:nvPr/>
        </p:nvSpPr>
        <p:spPr>
          <a:xfrm>
            <a:off x="793790" y="4722376"/>
            <a:ext cx="6422231" cy="2459474"/>
          </a:xfrm>
          <a:prstGeom prst="roundRect">
            <a:avLst>
              <a:gd name="adj" fmla="val 3389"/>
            </a:avLst>
          </a:prstGeom>
          <a:solidFill>
            <a:srgbClr val="FFFFFF"/>
          </a:solidFill>
          <a:ln w="22860">
            <a:solidFill>
              <a:srgbClr val="C5D2CF"/>
            </a:solidFill>
            <a:prstDash val="solid"/>
          </a:ln>
        </p:spPr>
      </p:sp>
      <p:pic>
        <p:nvPicPr>
          <p:cNvPr id="16" name="Image 4" descr="preencoded.png">    </p:cNvPr>
          <p:cNvPicPr>
            <a:picLocks noChangeAspect="1"/>
          </p:cNvPicPr>
          <p:nvPr/>
        </p:nvPicPr>
        <p:blipFill>
          <a:blip r:embed="rId5"/>
          <a:stretch>
            <a:fillRect/>
          </a:stretch>
        </p:blipFill>
        <p:spPr>
          <a:xfrm>
            <a:off x="697587" y="4626173"/>
            <a:ext cx="238125" cy="238125"/>
          </a:xfrm>
          <a:prstGeom prst="rect">
            <a:avLst/>
          </a:prstGeom>
        </p:spPr>
      </p:pic>
      <p:pic>
        <p:nvPicPr>
          <p:cNvPr id="17" name="Image 5" descr="preencoded.png">    </p:cNvPr>
          <p:cNvPicPr>
            <a:picLocks noChangeAspect="1"/>
          </p:cNvPicPr>
          <p:nvPr/>
        </p:nvPicPr>
        <p:blipFill>
          <a:blip r:embed="rId6"/>
          <a:stretch>
            <a:fillRect/>
          </a:stretch>
        </p:blipFill>
        <p:spPr>
          <a:xfrm>
            <a:off x="7074098" y="7039928"/>
            <a:ext cx="238125" cy="238125"/>
          </a:xfrm>
          <a:prstGeom prst="rect">
            <a:avLst/>
          </a:prstGeom>
        </p:spPr>
      </p:pic>
      <p:sp>
        <p:nvSpPr>
          <p:cNvPr id="18" name="Text 10"/>
          <p:cNvSpPr/>
          <p:nvPr/>
        </p:nvSpPr>
        <p:spPr>
          <a:xfrm>
            <a:off x="1114306" y="504289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Kebutuhan Data Besar</a:t>
            </a:r>
            <a:endParaRPr lang="en-US" sz="1950" dirty="0"/>
          </a:p>
        </p:txBody>
      </p:sp>
      <p:sp>
        <p:nvSpPr>
          <p:cNvPr id="19" name="Text 11"/>
          <p:cNvSpPr/>
          <p:nvPr/>
        </p:nvSpPr>
        <p:spPr>
          <a:xfrm>
            <a:off x="1114306" y="5472113"/>
            <a:ext cx="5781199" cy="635079"/>
          </a:xfrm>
          <a:prstGeom prst="rect">
            <a:avLst/>
          </a:prstGeom>
          <a:noFill/>
          <a:ln/>
        </p:spPr>
        <p:txBody>
          <a:bodyPr wrap="squar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Tantangan:</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JST membutuhkan banyak data berlabel untuk performa optimal.</a:t>
            </a:r>
            <a:endParaRPr lang="en-US" sz="1550" dirty="0"/>
          </a:p>
        </p:txBody>
      </p:sp>
      <p:sp>
        <p:nvSpPr>
          <p:cNvPr id="20" name="Text 12"/>
          <p:cNvSpPr/>
          <p:nvPr/>
        </p:nvSpPr>
        <p:spPr>
          <a:xfrm>
            <a:off x="1114306" y="6226254"/>
            <a:ext cx="5781199" cy="635079"/>
          </a:xfrm>
          <a:prstGeom prst="rect">
            <a:avLst/>
          </a:prstGeom>
          <a:noFill/>
          <a:ln/>
        </p:spPr>
        <p:txBody>
          <a:bodyPr wrap="squar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Solusi: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Transfer learning, data augmentation, few-shot learning, dan teknik semi-supervised learning.</a:t>
            </a:r>
            <a:endParaRPr lang="en-US" sz="1550" dirty="0"/>
          </a:p>
        </p:txBody>
      </p:sp>
      <p:sp>
        <p:nvSpPr>
          <p:cNvPr id="21" name="Shape 13"/>
          <p:cNvSpPr/>
          <p:nvPr/>
        </p:nvSpPr>
        <p:spPr>
          <a:xfrm>
            <a:off x="7414379" y="4722376"/>
            <a:ext cx="6422231" cy="2459474"/>
          </a:xfrm>
          <a:prstGeom prst="roundRect">
            <a:avLst>
              <a:gd name="adj" fmla="val 3389"/>
            </a:avLst>
          </a:prstGeom>
          <a:solidFill>
            <a:srgbClr val="FFFFFF"/>
          </a:solidFill>
          <a:ln w="22860">
            <a:solidFill>
              <a:srgbClr val="C5D2CF"/>
            </a:solidFill>
            <a:prstDash val="solid"/>
          </a:ln>
        </p:spPr>
      </p:sp>
      <p:pic>
        <p:nvPicPr>
          <p:cNvPr id="22" name="Image 6" descr="preencoded.png">    </p:cNvPr>
          <p:cNvPicPr>
            <a:picLocks noChangeAspect="1"/>
          </p:cNvPicPr>
          <p:nvPr/>
        </p:nvPicPr>
        <p:blipFill>
          <a:blip r:embed="rId7"/>
          <a:stretch>
            <a:fillRect/>
          </a:stretch>
        </p:blipFill>
        <p:spPr>
          <a:xfrm>
            <a:off x="7318177" y="4626173"/>
            <a:ext cx="238125" cy="238125"/>
          </a:xfrm>
          <a:prstGeom prst="rect">
            <a:avLst/>
          </a:prstGeom>
        </p:spPr>
      </p:pic>
      <p:pic>
        <p:nvPicPr>
          <p:cNvPr id="23" name="Image 7" descr="preencoded.png">    </p:cNvPr>
          <p:cNvPicPr>
            <a:picLocks noChangeAspect="1"/>
          </p:cNvPicPr>
          <p:nvPr/>
        </p:nvPicPr>
        <p:blipFill>
          <a:blip r:embed="rId8"/>
          <a:stretch>
            <a:fillRect/>
          </a:stretch>
        </p:blipFill>
        <p:spPr>
          <a:xfrm>
            <a:off x="13694688" y="7039928"/>
            <a:ext cx="238125" cy="238125"/>
          </a:xfrm>
          <a:prstGeom prst="rect">
            <a:avLst/>
          </a:prstGeom>
        </p:spPr>
      </p:pic>
      <p:sp>
        <p:nvSpPr>
          <p:cNvPr id="24" name="Text 14"/>
          <p:cNvSpPr/>
          <p:nvPr/>
        </p:nvSpPr>
        <p:spPr>
          <a:xfrm>
            <a:off x="7734895" y="504289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Interpretabilitas</a:t>
            </a:r>
            <a:endParaRPr lang="en-US" sz="1950" dirty="0"/>
          </a:p>
        </p:txBody>
      </p:sp>
      <p:sp>
        <p:nvSpPr>
          <p:cNvPr id="25" name="Text 15"/>
          <p:cNvSpPr/>
          <p:nvPr/>
        </p:nvSpPr>
        <p:spPr>
          <a:xfrm>
            <a:off x="7734895" y="5472113"/>
            <a:ext cx="5781199" cy="635079"/>
          </a:xfrm>
          <a:prstGeom prst="rect">
            <a:avLst/>
          </a:prstGeom>
          <a:noFill/>
          <a:ln/>
        </p:spPr>
        <p:txBody>
          <a:bodyPr wrap="squar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Tantangan:</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JST sering dianggap sebagai "black box" yang sulit dijelaskan.</a:t>
            </a:r>
            <a:endParaRPr lang="en-US" sz="1550" dirty="0"/>
          </a:p>
        </p:txBody>
      </p:sp>
      <p:sp>
        <p:nvSpPr>
          <p:cNvPr id="26" name="Text 16"/>
          <p:cNvSpPr/>
          <p:nvPr/>
        </p:nvSpPr>
        <p:spPr>
          <a:xfrm>
            <a:off x="7734895" y="6226254"/>
            <a:ext cx="5781199" cy="635079"/>
          </a:xfrm>
          <a:prstGeom prst="rect">
            <a:avLst/>
          </a:prstGeom>
          <a:noFill/>
          <a:ln/>
        </p:spPr>
        <p:txBody>
          <a:bodyPr wrap="square" lIns="0" tIns="0" rIns="0" bIns="0" rtlCol="0" anchor="t"/>
          <a:lstStyle/>
          <a:p>
            <a:pPr algn="l" indent="0" marL="0">
              <a:lnSpc>
                <a:spcPts val="2500"/>
              </a:lnSpc>
              <a:buNone/>
            </a:pPr>
            <a:r>
              <a:rPr lang="en-US" sz="1550" b="1" dirty="0">
                <a:solidFill>
                  <a:srgbClr val="2C3249"/>
                </a:solidFill>
                <a:latin typeface="Martel Sans" pitchFamily="34" charset="0"/>
                <a:ea typeface="Martel Sans" pitchFamily="34" charset="-122"/>
                <a:cs typeface="Martel Sans" pitchFamily="34" charset="-120"/>
              </a:rPr>
              <a:t>Solusi:</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Teknik visualisasi seperti Grad-CAM, LIME, dan SHAP untuk menjelaskan keputusan model.</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1146334"/>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Tugas dan Latihan</a:t>
            </a:r>
            <a:endParaRPr lang="en-US" sz="3900" dirty="0"/>
          </a:p>
        </p:txBody>
      </p:sp>
      <p:sp>
        <p:nvSpPr>
          <p:cNvPr id="3" name="Shape 1"/>
          <p:cNvSpPr/>
          <p:nvPr/>
        </p:nvSpPr>
        <p:spPr>
          <a:xfrm>
            <a:off x="793790" y="2163247"/>
            <a:ext cx="6422231" cy="4920020"/>
          </a:xfrm>
          <a:prstGeom prst="roundRect">
            <a:avLst>
              <a:gd name="adj" fmla="val 1694"/>
            </a:avLst>
          </a:prstGeom>
          <a:solidFill>
            <a:srgbClr val="FFFFFF"/>
          </a:solidFill>
          <a:ln w="22860">
            <a:solidFill>
              <a:srgbClr val="C5D2CF"/>
            </a:solidFill>
            <a:prstDash val="solid"/>
          </a:ln>
        </p:spPr>
      </p:sp>
      <p:sp>
        <p:nvSpPr>
          <p:cNvPr id="4" name="Shape 2"/>
          <p:cNvSpPr/>
          <p:nvPr/>
        </p:nvSpPr>
        <p:spPr>
          <a:xfrm>
            <a:off x="816650" y="2186107"/>
            <a:ext cx="6376511" cy="595313"/>
          </a:xfrm>
          <a:prstGeom prst="roundRect">
            <a:avLst>
              <a:gd name="adj" fmla="val 9395"/>
            </a:avLst>
          </a:prstGeom>
          <a:solidFill>
            <a:srgbClr val="DFECE9"/>
          </a:solidFill>
          <a:ln/>
        </p:spPr>
      </p:sp>
      <p:pic>
        <p:nvPicPr>
          <p:cNvPr id="5" name="Image 0" descr="preencoded.png">    </p:cNvPr>
          <p:cNvPicPr>
            <a:picLocks noChangeAspect="1"/>
          </p:cNvPicPr>
          <p:nvPr/>
        </p:nvPicPr>
        <p:blipFill>
          <a:blip r:embed="rId1"/>
          <a:stretch>
            <a:fillRect/>
          </a:stretch>
        </p:blipFill>
        <p:spPr>
          <a:xfrm>
            <a:off x="3856077" y="2293858"/>
            <a:ext cx="297656" cy="372070"/>
          </a:xfrm>
          <a:prstGeom prst="rect">
            <a:avLst/>
          </a:prstGeom>
        </p:spPr>
      </p:pic>
      <p:sp>
        <p:nvSpPr>
          <p:cNvPr id="6" name="Text 3"/>
          <p:cNvSpPr/>
          <p:nvPr/>
        </p:nvSpPr>
        <p:spPr>
          <a:xfrm>
            <a:off x="1015008" y="297977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Tugas Individu</a:t>
            </a:r>
            <a:endParaRPr lang="en-US" sz="1950" dirty="0"/>
          </a:p>
        </p:txBody>
      </p:sp>
      <p:sp>
        <p:nvSpPr>
          <p:cNvPr id="7" name="Text 4"/>
          <p:cNvSpPr/>
          <p:nvPr/>
        </p:nvSpPr>
        <p:spPr>
          <a:xfrm>
            <a:off x="1015008" y="3408998"/>
            <a:ext cx="5979795" cy="635079"/>
          </a:xfrm>
          <a:prstGeom prst="rect">
            <a:avLst/>
          </a:prstGeom>
          <a:noFill/>
          <a:ln/>
        </p:spPr>
        <p:txBody>
          <a:bodyPr wrap="square" lIns="0" tIns="0" rIns="0" bIns="0" rtlCol="0" anchor="t"/>
          <a:lstStyle/>
          <a:p>
            <a:pPr algn="l" marL="342900" indent="-342900">
              <a:lnSpc>
                <a:spcPts val="2500"/>
              </a:lnSpc>
              <a:buSzPct val="100000"/>
              <a:buFont typeface="+mj-lt"/>
              <a:buAutoNum type="arabicPeriod" startAt="1"/>
            </a:pPr>
            <a:r>
              <a:rPr lang="en-US" sz="1550" dirty="0">
                <a:solidFill>
                  <a:srgbClr val="2C3249"/>
                </a:solidFill>
                <a:latin typeface="Martel Sans" pitchFamily="34" charset="0"/>
                <a:ea typeface="Martel Sans" pitchFamily="34" charset="-122"/>
                <a:cs typeface="Martel Sans" pitchFamily="34" charset="-120"/>
              </a:rPr>
              <a:t>Implementasikan model JST sederhana menggunakan TensorFlow/Keras untuk klasifikasi dataset MNIST</a:t>
            </a:r>
            <a:endParaRPr lang="en-US" sz="1550" dirty="0"/>
          </a:p>
        </p:txBody>
      </p:sp>
      <p:sp>
        <p:nvSpPr>
          <p:cNvPr id="8" name="Text 5"/>
          <p:cNvSpPr/>
          <p:nvPr/>
        </p:nvSpPr>
        <p:spPr>
          <a:xfrm>
            <a:off x="1015008" y="4113490"/>
            <a:ext cx="5979795" cy="635079"/>
          </a:xfrm>
          <a:prstGeom prst="rect">
            <a:avLst/>
          </a:prstGeom>
          <a:noFill/>
          <a:ln/>
        </p:spPr>
        <p:txBody>
          <a:bodyPr wrap="square" lIns="0" tIns="0" rIns="0" bIns="0" rtlCol="0" anchor="t"/>
          <a:lstStyle/>
          <a:p>
            <a:pPr algn="l" marL="342900" indent="-342900">
              <a:lnSpc>
                <a:spcPts val="2500"/>
              </a:lnSpc>
              <a:buSzPct val="100000"/>
              <a:buFont typeface="+mj-lt"/>
              <a:buAutoNum type="arabicPeriod" startAt="2"/>
            </a:pPr>
            <a:r>
              <a:rPr lang="en-US" sz="1550" dirty="0">
                <a:solidFill>
                  <a:srgbClr val="2C3249"/>
                </a:solidFill>
                <a:latin typeface="Martel Sans" pitchFamily="34" charset="0"/>
                <a:ea typeface="Martel Sans" pitchFamily="34" charset="-122"/>
                <a:cs typeface="Martel Sans" pitchFamily="34" charset="-120"/>
              </a:rPr>
              <a:t>Eksperimen dengan minimal 3 arsitektur berbeda (MLP, CNN sederhana, dan arsitektur lain pilihan Anda)</a:t>
            </a:r>
            <a:endParaRPr lang="en-US" sz="1550" dirty="0"/>
          </a:p>
        </p:txBody>
      </p:sp>
      <p:sp>
        <p:nvSpPr>
          <p:cNvPr id="9" name="Text 6"/>
          <p:cNvSpPr/>
          <p:nvPr/>
        </p:nvSpPr>
        <p:spPr>
          <a:xfrm>
            <a:off x="1015008" y="4817983"/>
            <a:ext cx="5979795" cy="635079"/>
          </a:xfrm>
          <a:prstGeom prst="rect">
            <a:avLst/>
          </a:prstGeom>
          <a:noFill/>
          <a:ln/>
        </p:spPr>
        <p:txBody>
          <a:bodyPr wrap="square" lIns="0" tIns="0" rIns="0" bIns="0" rtlCol="0" anchor="t"/>
          <a:lstStyle/>
          <a:p>
            <a:pPr algn="l" marL="342900" indent="-342900">
              <a:lnSpc>
                <a:spcPts val="2500"/>
              </a:lnSpc>
              <a:buSzPct val="100000"/>
              <a:buFont typeface="+mj-lt"/>
              <a:buAutoNum type="arabicPeriod" startAt="3"/>
            </a:pPr>
            <a:r>
              <a:rPr lang="en-US" sz="1550" dirty="0">
                <a:solidFill>
                  <a:srgbClr val="2C3249"/>
                </a:solidFill>
                <a:latin typeface="Martel Sans" pitchFamily="34" charset="0"/>
                <a:ea typeface="Martel Sans" pitchFamily="34" charset="-122"/>
                <a:cs typeface="Martel Sans" pitchFamily="34" charset="-120"/>
              </a:rPr>
              <a:t>Bandingkan dan analisis performa ketiga model dari segi akurasi, waktu pelatihan, dan kompleksitas</a:t>
            </a:r>
            <a:endParaRPr lang="en-US" sz="1550" dirty="0"/>
          </a:p>
        </p:txBody>
      </p:sp>
      <p:sp>
        <p:nvSpPr>
          <p:cNvPr id="10" name="Text 7"/>
          <p:cNvSpPr/>
          <p:nvPr/>
        </p:nvSpPr>
        <p:spPr>
          <a:xfrm>
            <a:off x="1015008" y="5522476"/>
            <a:ext cx="5979795" cy="635079"/>
          </a:xfrm>
          <a:prstGeom prst="rect">
            <a:avLst/>
          </a:prstGeom>
          <a:noFill/>
          <a:ln/>
        </p:spPr>
        <p:txBody>
          <a:bodyPr wrap="square" lIns="0" tIns="0" rIns="0" bIns="0" rtlCol="0" anchor="t"/>
          <a:lstStyle/>
          <a:p>
            <a:pPr algn="l" marL="342900" indent="-342900">
              <a:lnSpc>
                <a:spcPts val="2500"/>
              </a:lnSpc>
              <a:buSzPct val="100000"/>
              <a:buFont typeface="+mj-lt"/>
              <a:buAutoNum type="arabicPeriod" startAt="4"/>
            </a:pPr>
            <a:r>
              <a:rPr lang="en-US" sz="1550" dirty="0">
                <a:solidFill>
                  <a:srgbClr val="2C3249"/>
                </a:solidFill>
                <a:latin typeface="Martel Sans" pitchFamily="34" charset="0"/>
                <a:ea typeface="Martel Sans" pitchFamily="34" charset="-122"/>
                <a:cs typeface="Martel Sans" pitchFamily="34" charset="-120"/>
              </a:rPr>
              <a:t>Visualisasikan hasil pelatihan (kurva loss dan akurasi) dan contoh prediksi benar/salah</a:t>
            </a:r>
            <a:endParaRPr lang="en-US" sz="1550" dirty="0"/>
          </a:p>
        </p:txBody>
      </p:sp>
      <p:sp>
        <p:nvSpPr>
          <p:cNvPr id="11" name="Text 8"/>
          <p:cNvSpPr/>
          <p:nvPr/>
        </p:nvSpPr>
        <p:spPr>
          <a:xfrm>
            <a:off x="1015008" y="6226969"/>
            <a:ext cx="5979795" cy="635079"/>
          </a:xfrm>
          <a:prstGeom prst="rect">
            <a:avLst/>
          </a:prstGeom>
          <a:noFill/>
          <a:ln/>
        </p:spPr>
        <p:txBody>
          <a:bodyPr wrap="square" lIns="0" tIns="0" rIns="0" bIns="0" rtlCol="0" anchor="t"/>
          <a:lstStyle/>
          <a:p>
            <a:pPr algn="l" marL="342900" indent="-342900">
              <a:lnSpc>
                <a:spcPts val="2500"/>
              </a:lnSpc>
              <a:buSzPct val="100000"/>
              <a:buFont typeface="+mj-lt"/>
              <a:buAutoNum type="arabicPeriod" startAt="5"/>
            </a:pPr>
            <a:r>
              <a:rPr lang="en-US" sz="1550" dirty="0">
                <a:solidFill>
                  <a:srgbClr val="2C3249"/>
                </a:solidFill>
                <a:latin typeface="Martel Sans" pitchFamily="34" charset="0"/>
                <a:ea typeface="Martel Sans" pitchFamily="34" charset="-122"/>
                <a:cs typeface="Martel Sans" pitchFamily="34" charset="-120"/>
              </a:rPr>
              <a:t>Dokumentasikan semua langkah dan temuan dalam bentuk laporan</a:t>
            </a:r>
            <a:endParaRPr lang="en-US" sz="1550" dirty="0"/>
          </a:p>
        </p:txBody>
      </p:sp>
      <p:sp>
        <p:nvSpPr>
          <p:cNvPr id="12" name="Shape 9"/>
          <p:cNvSpPr/>
          <p:nvPr/>
        </p:nvSpPr>
        <p:spPr>
          <a:xfrm>
            <a:off x="7414379" y="2163247"/>
            <a:ext cx="6422231" cy="4920020"/>
          </a:xfrm>
          <a:prstGeom prst="roundRect">
            <a:avLst>
              <a:gd name="adj" fmla="val 1694"/>
            </a:avLst>
          </a:prstGeom>
          <a:solidFill>
            <a:srgbClr val="FFFFFF"/>
          </a:solidFill>
          <a:ln w="22860">
            <a:solidFill>
              <a:srgbClr val="C5D2CF"/>
            </a:solidFill>
            <a:prstDash val="solid"/>
          </a:ln>
        </p:spPr>
      </p:sp>
      <p:sp>
        <p:nvSpPr>
          <p:cNvPr id="13" name="Shape 10"/>
          <p:cNvSpPr/>
          <p:nvPr/>
        </p:nvSpPr>
        <p:spPr>
          <a:xfrm>
            <a:off x="7437239" y="2186107"/>
            <a:ext cx="6376511" cy="595313"/>
          </a:xfrm>
          <a:prstGeom prst="roundRect">
            <a:avLst>
              <a:gd name="adj" fmla="val 9395"/>
            </a:avLst>
          </a:prstGeom>
          <a:solidFill>
            <a:srgbClr val="DFECE9"/>
          </a:solidFill>
          <a:ln/>
        </p:spPr>
      </p:sp>
      <p:pic>
        <p:nvPicPr>
          <p:cNvPr id="14" name="Image 1" descr="preencoded.png">    </p:cNvPr>
          <p:cNvPicPr>
            <a:picLocks noChangeAspect="1"/>
          </p:cNvPicPr>
          <p:nvPr/>
        </p:nvPicPr>
        <p:blipFill>
          <a:blip r:embed="rId2"/>
          <a:stretch>
            <a:fillRect/>
          </a:stretch>
        </p:blipFill>
        <p:spPr>
          <a:xfrm>
            <a:off x="10476667" y="2293858"/>
            <a:ext cx="297656" cy="372070"/>
          </a:xfrm>
          <a:prstGeom prst="rect">
            <a:avLst/>
          </a:prstGeom>
        </p:spPr>
      </p:pic>
      <p:sp>
        <p:nvSpPr>
          <p:cNvPr id="15" name="Text 11"/>
          <p:cNvSpPr/>
          <p:nvPr/>
        </p:nvSpPr>
        <p:spPr>
          <a:xfrm>
            <a:off x="7635597" y="297977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Pengumpulan</a:t>
            </a:r>
            <a:endParaRPr lang="en-US" sz="1950" dirty="0"/>
          </a:p>
        </p:txBody>
      </p:sp>
      <p:sp>
        <p:nvSpPr>
          <p:cNvPr id="16" name="Text 12"/>
          <p:cNvSpPr/>
          <p:nvPr/>
        </p:nvSpPr>
        <p:spPr>
          <a:xfrm>
            <a:off x="7635597" y="3408998"/>
            <a:ext cx="597979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Kode program dalam format Jupyter Notebook (.ipynb) atau Python script (.py)</a:t>
            </a:r>
            <a:endParaRPr lang="en-US" sz="1550" dirty="0"/>
          </a:p>
        </p:txBody>
      </p:sp>
      <p:sp>
        <p:nvSpPr>
          <p:cNvPr id="17" name="Text 13"/>
          <p:cNvSpPr/>
          <p:nvPr/>
        </p:nvSpPr>
        <p:spPr>
          <a:xfrm>
            <a:off x="7635597" y="4113490"/>
            <a:ext cx="597979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Laporan teknis berisi metodologi, hasil eksperimen, analisis, dan kesimpulan (3-5 halaman)</a:t>
            </a:r>
            <a:endParaRPr lang="en-US" sz="1550" dirty="0"/>
          </a:p>
        </p:txBody>
      </p:sp>
      <p:sp>
        <p:nvSpPr>
          <p:cNvPr id="18" name="Text 14"/>
          <p:cNvSpPr/>
          <p:nvPr/>
        </p:nvSpPr>
        <p:spPr>
          <a:xfrm>
            <a:off x="7635597" y="4817983"/>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Dikumpulkan maksimal 1 minggu setelah pertemuan</a:t>
            </a:r>
            <a:endParaRPr lang="en-US" sz="1550" dirty="0"/>
          </a:p>
        </p:txBody>
      </p:sp>
      <p:sp>
        <p:nvSpPr>
          <p:cNvPr id="19" name="Text 15"/>
          <p:cNvSpPr/>
          <p:nvPr/>
        </p:nvSpPr>
        <p:spPr>
          <a:xfrm>
            <a:off x="7635597" y="5204936"/>
            <a:ext cx="597979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Submit melalui e-learning dengan format: NIM_NAMA_JST_CV.zip</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843082"/>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Referensi</a:t>
            </a:r>
            <a:endParaRPr lang="en-US" sz="3900" dirty="0"/>
          </a:p>
        </p:txBody>
      </p:sp>
      <p:sp>
        <p:nvSpPr>
          <p:cNvPr id="3" name="Text 1"/>
          <p:cNvSpPr/>
          <p:nvPr/>
        </p:nvSpPr>
        <p:spPr>
          <a:xfrm>
            <a:off x="793790" y="1959173"/>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272D45"/>
                </a:solidFill>
                <a:latin typeface="Kanit Light" pitchFamily="34" charset="0"/>
                <a:ea typeface="Kanit Light" pitchFamily="34" charset="-122"/>
                <a:cs typeface="Kanit Light" pitchFamily="34" charset="-120"/>
              </a:rPr>
              <a:t>Buku</a:t>
            </a:r>
            <a:endParaRPr lang="en-US" sz="2300" dirty="0"/>
          </a:p>
        </p:txBody>
      </p:sp>
      <p:sp>
        <p:nvSpPr>
          <p:cNvPr id="4" name="Text 2"/>
          <p:cNvSpPr/>
          <p:nvPr/>
        </p:nvSpPr>
        <p:spPr>
          <a:xfrm>
            <a:off x="793790" y="2529602"/>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Goodfellow, I., Bengio, Y., &amp; Courville, A. (2016).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Deep Learning</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MIT Press.</a:t>
            </a:r>
            <a:endParaRPr lang="en-US" sz="1550" dirty="0"/>
          </a:p>
        </p:txBody>
      </p:sp>
      <p:sp>
        <p:nvSpPr>
          <p:cNvPr id="5" name="Text 3"/>
          <p:cNvSpPr/>
          <p:nvPr/>
        </p:nvSpPr>
        <p:spPr>
          <a:xfrm>
            <a:off x="793790" y="3234095"/>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Chollet, F. (2018).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Deep Learning with Python</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Manning Publications.</a:t>
            </a:r>
            <a:endParaRPr lang="en-US" sz="1550" dirty="0"/>
          </a:p>
        </p:txBody>
      </p:sp>
      <p:sp>
        <p:nvSpPr>
          <p:cNvPr id="6" name="Text 4"/>
          <p:cNvSpPr/>
          <p:nvPr/>
        </p:nvSpPr>
        <p:spPr>
          <a:xfrm>
            <a:off x="793790" y="3938588"/>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Szeliski, R. (2022).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Computer Vision: Algorithms and Applications</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(2nd ed.). Springer.</a:t>
            </a:r>
            <a:endParaRPr lang="en-US" sz="1550" dirty="0"/>
          </a:p>
        </p:txBody>
      </p:sp>
      <p:sp>
        <p:nvSpPr>
          <p:cNvPr id="7" name="Text 5"/>
          <p:cNvSpPr/>
          <p:nvPr/>
        </p:nvSpPr>
        <p:spPr>
          <a:xfrm>
            <a:off x="793790" y="4772025"/>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272D45"/>
                </a:solidFill>
                <a:latin typeface="Kanit Light" pitchFamily="34" charset="0"/>
                <a:ea typeface="Kanit Light" pitchFamily="34" charset="-122"/>
                <a:cs typeface="Kanit Light" pitchFamily="34" charset="-120"/>
              </a:rPr>
              <a:t>Jurnal dan Paper</a:t>
            </a:r>
            <a:endParaRPr lang="en-US" sz="2300" dirty="0"/>
          </a:p>
        </p:txBody>
      </p:sp>
      <p:sp>
        <p:nvSpPr>
          <p:cNvPr id="8" name="Text 6"/>
          <p:cNvSpPr/>
          <p:nvPr/>
        </p:nvSpPr>
        <p:spPr>
          <a:xfrm>
            <a:off x="793790" y="5342453"/>
            <a:ext cx="6279356" cy="95261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LeCun, Y., Bottou, L., Bengio, Y., &amp; Haffner, P. (1998). Gradient-based learning applied to document recognition.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Proceedings of the IEEE</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86(11), 2278-2324.</a:t>
            </a:r>
            <a:endParaRPr lang="en-US" sz="1550" dirty="0"/>
          </a:p>
        </p:txBody>
      </p:sp>
      <p:sp>
        <p:nvSpPr>
          <p:cNvPr id="9" name="Text 7"/>
          <p:cNvSpPr/>
          <p:nvPr/>
        </p:nvSpPr>
        <p:spPr>
          <a:xfrm>
            <a:off x="793790" y="6364486"/>
            <a:ext cx="6279356" cy="95261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Krizhevsky, A., Sutskever, I., &amp; Hinton, G. E. (2012). ImageNet classification with deep convolutional neural networks.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Advances in Neural Information Processing Systems</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25.</a:t>
            </a:r>
            <a:endParaRPr lang="en-US" sz="1550" dirty="0"/>
          </a:p>
        </p:txBody>
      </p:sp>
      <p:sp>
        <p:nvSpPr>
          <p:cNvPr id="10" name="Text 8"/>
          <p:cNvSpPr/>
          <p:nvPr/>
        </p:nvSpPr>
        <p:spPr>
          <a:xfrm>
            <a:off x="7564874" y="1959173"/>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272D45"/>
                </a:solidFill>
                <a:latin typeface="Kanit Light" pitchFamily="34" charset="0"/>
                <a:ea typeface="Kanit Light" pitchFamily="34" charset="-122"/>
                <a:cs typeface="Kanit Light" pitchFamily="34" charset="-120"/>
              </a:rPr>
              <a:t>Sumber Online</a:t>
            </a:r>
            <a:endParaRPr lang="en-US" sz="2300" dirty="0"/>
          </a:p>
        </p:txBody>
      </p:sp>
      <p:sp>
        <p:nvSpPr>
          <p:cNvPr id="11" name="Text 9"/>
          <p:cNvSpPr/>
          <p:nvPr/>
        </p:nvSpPr>
        <p:spPr>
          <a:xfrm>
            <a:off x="7564874" y="2529602"/>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TensorFlow Documentation: </a:t>
            </a:r>
            <a:pPr algn="l" indent="0" marL="0">
              <a:lnSpc>
                <a:spcPts val="2500"/>
              </a:lnSpc>
              <a:buNone/>
            </a:pPr>
            <a:r>
              <a:rPr lang="en-US" sz="1550" u="sng" dirty="0">
                <a:solidFill>
                  <a:srgbClr val="437066"/>
                </a:solidFill>
                <a:latin typeface="Martel Sans" pitchFamily="34" charset="0"/>
                <a:ea typeface="Martel Sans" pitchFamily="34" charset="-122"/>
                <a:cs typeface="Martel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tensorflow.org/docs</a:t>
            </a:r>
            <a:endParaRPr lang="en-US" sz="1550" dirty="0"/>
          </a:p>
        </p:txBody>
      </p:sp>
      <p:sp>
        <p:nvSpPr>
          <p:cNvPr id="12" name="Text 10"/>
          <p:cNvSpPr/>
          <p:nvPr/>
        </p:nvSpPr>
        <p:spPr>
          <a:xfrm>
            <a:off x="7564874" y="2916555"/>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Keras Documentation: </a:t>
            </a:r>
            <a:pPr algn="l" indent="0" marL="0">
              <a:lnSpc>
                <a:spcPts val="2500"/>
              </a:lnSpc>
              <a:buNone/>
            </a:pPr>
            <a:r>
              <a:rPr lang="en-US" sz="1550" u="sng" dirty="0">
                <a:solidFill>
                  <a:srgbClr val="437066"/>
                </a:solidFill>
                <a:latin typeface="Martel Sans" pitchFamily="34" charset="0"/>
                <a:ea typeface="Martel Sans" pitchFamily="34" charset="-122"/>
                <a:cs typeface="Martel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keras.io/documentation</a:t>
            </a:r>
            <a:endParaRPr lang="en-US" sz="1550" dirty="0"/>
          </a:p>
        </p:txBody>
      </p:sp>
      <p:sp>
        <p:nvSpPr>
          <p:cNvPr id="13" name="Text 11"/>
          <p:cNvSpPr/>
          <p:nvPr/>
        </p:nvSpPr>
        <p:spPr>
          <a:xfrm>
            <a:off x="7564874" y="3303508"/>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CS231n: Convolutional Neural Networks for Visual Recognition: </a:t>
            </a:r>
            <a:pPr algn="l" indent="0" marL="0">
              <a:lnSpc>
                <a:spcPts val="2500"/>
              </a:lnSpc>
              <a:buNone/>
            </a:pPr>
            <a:r>
              <a:rPr lang="en-US" sz="1550" u="sng" dirty="0">
                <a:solidFill>
                  <a:srgbClr val="437066"/>
                </a:solidFill>
                <a:latin typeface="Martel Sans" pitchFamily="34" charset="0"/>
                <a:ea typeface="Martel Sans" pitchFamily="34" charset="-122"/>
                <a:cs typeface="Martel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cs231n.github.io</a:t>
            </a:r>
            <a:endParaRPr lang="en-US" sz="1550" dirty="0"/>
          </a:p>
        </p:txBody>
      </p:sp>
      <p:sp>
        <p:nvSpPr>
          <p:cNvPr id="14" name="Text 12"/>
          <p:cNvSpPr/>
          <p:nvPr/>
        </p:nvSpPr>
        <p:spPr>
          <a:xfrm>
            <a:off x="7564874" y="4008001"/>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PyTorch Tutorials: </a:t>
            </a:r>
            <a:pPr algn="l" indent="0" marL="0">
              <a:lnSpc>
                <a:spcPts val="2500"/>
              </a:lnSpc>
              <a:buNone/>
            </a:pPr>
            <a:r>
              <a:rPr lang="en-US" sz="1550" u="sng" dirty="0">
                <a:solidFill>
                  <a:srgbClr val="437066"/>
                </a:solidFill>
                <a:latin typeface="Martel Sans" pitchFamily="34" charset="0"/>
                <a:ea typeface="Martel Sans" pitchFamily="34" charset="-122"/>
                <a:cs typeface="Martel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pytorch.org/tutorials</a:t>
            </a:r>
            <a:endParaRPr lang="en-US" sz="1550" dirty="0"/>
          </a:p>
        </p:txBody>
      </p:sp>
      <p:sp>
        <p:nvSpPr>
          <p:cNvPr id="15" name="Text 13"/>
          <p:cNvSpPr/>
          <p:nvPr/>
        </p:nvSpPr>
        <p:spPr>
          <a:xfrm>
            <a:off x="7564874" y="4394954"/>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Coursera - Deep Learning Specialization by Andrew Ng: </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coursera.org/specializations/deep-learning</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2025-08-13T07:01:52Z</dcterms:created>
  <dcterms:modified xsi:type="dcterms:W3CDTF">2025-08-13T07:01:52Z</dcterms:modified>
</cp:coreProperties>
</file>