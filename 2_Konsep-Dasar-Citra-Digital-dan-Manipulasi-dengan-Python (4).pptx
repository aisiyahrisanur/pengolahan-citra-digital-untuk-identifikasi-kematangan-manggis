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Kanit Light"/>
      <p:regular r:id="rId32"/>
    </p:embeddedFont>
    <p:embeddedFont>
      <p:font typeface="Kanit Light"/>
      <p:regular r:id="rId33"/>
    </p:embeddedFont>
    <p:embeddedFont>
      <p:font typeface="Kanit Light"/>
      <p:regular r:id="rId34"/>
    </p:embeddedFont>
    <p:embeddedFont>
      <p:font typeface="Kanit Light"/>
      <p:regular r:id="rId35"/>
    </p:embeddedFont>
    <p:embeddedFont>
      <p:font typeface="Martel Sans"/>
      <p:regular r:id="rId36"/>
    </p:embeddedFont>
    <p:embeddedFont>
      <p:font typeface="Martel Sans"/>
      <p:regular r:id="rId3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2F2F2"/>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2F2F2"/>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437066"/>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ocs.opencv.org/" TargetMode="External"/><Relationship Id="rId2" Type="http://schemas.openxmlformats.org/officeDocument/2006/relationships/hyperlink" Target="https://pillow.readthedocs.io/" TargetMode="External"/><Relationship Id="rId3" Type="http://schemas.openxmlformats.org/officeDocument/2006/relationships/hyperlink" Target="https://scikit-image.org/" TargetMode="External"/><Relationship Id="rId4" Type="http://schemas.openxmlformats.org/officeDocument/2006/relationships/slideLayout" Target="../slideLayouts/slideLayout2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906792"/>
            <a:ext cx="1249620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Konsep Dasar Citra Digital dan Manipulasi dengan Python</a:t>
            </a:r>
            <a:endParaRPr lang="en-US" sz="3900" dirty="0"/>
          </a:p>
        </p:txBody>
      </p:sp>
      <p:sp>
        <p:nvSpPr>
          <p:cNvPr id="3" name="Text 1"/>
          <p:cNvSpPr/>
          <p:nvPr/>
        </p:nvSpPr>
        <p:spPr>
          <a:xfrm>
            <a:off x="793790" y="392370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Program Studi Teknik Informatika S-2</a:t>
            </a:r>
            <a:endParaRPr lang="en-US" sz="1550" dirty="0"/>
          </a:p>
        </p:txBody>
      </p:sp>
      <p:sp>
        <p:nvSpPr>
          <p:cNvPr id="4" name="Text 2"/>
          <p:cNvSpPr/>
          <p:nvPr/>
        </p:nvSpPr>
        <p:spPr>
          <a:xfrm>
            <a:off x="793790" y="446448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Matakuliah: Advanced Computer Vision</a:t>
            </a:r>
            <a:endParaRPr lang="en-US" sz="1550" dirty="0"/>
          </a:p>
        </p:txBody>
      </p:sp>
      <p:sp>
        <p:nvSpPr>
          <p:cNvPr id="5" name="Text 3"/>
          <p:cNvSpPr/>
          <p:nvPr/>
        </p:nvSpPr>
        <p:spPr>
          <a:xfrm>
            <a:off x="793790" y="500526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Pertemuan 2</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6901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Agenda Pembelajaran</a:t>
            </a:r>
            <a:endParaRPr lang="en-US" sz="3900" dirty="0"/>
          </a:p>
        </p:txBody>
      </p:sp>
      <p:pic>
        <p:nvPicPr>
          <p:cNvPr id="3" name="Image 0" descr="preencoded.png">    </p:cNvPr>
          <p:cNvPicPr>
            <a:picLocks noChangeAspect="1"/>
          </p:cNvPicPr>
          <p:nvPr/>
        </p:nvPicPr>
        <p:blipFill>
          <a:blip r:embed="rId1"/>
          <a:stretch>
            <a:fillRect/>
          </a:stretch>
        </p:blipFill>
        <p:spPr>
          <a:xfrm>
            <a:off x="793790" y="2685931"/>
            <a:ext cx="6521410" cy="793790"/>
          </a:xfrm>
          <a:prstGeom prst="rect">
            <a:avLst/>
          </a:prstGeom>
        </p:spPr>
      </p:pic>
      <p:sp>
        <p:nvSpPr>
          <p:cNvPr id="4" name="Text 1"/>
          <p:cNvSpPr/>
          <p:nvPr/>
        </p:nvSpPr>
        <p:spPr>
          <a:xfrm>
            <a:off x="992148" y="3678079"/>
            <a:ext cx="2807970"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Konsep Dasar Citra Digital</a:t>
            </a:r>
            <a:endParaRPr lang="en-US" sz="1950" dirty="0"/>
          </a:p>
        </p:txBody>
      </p:sp>
      <p:sp>
        <p:nvSpPr>
          <p:cNvPr id="5" name="Text 2"/>
          <p:cNvSpPr/>
          <p:nvPr/>
        </p:nvSpPr>
        <p:spPr>
          <a:xfrm>
            <a:off x="992148" y="4107299"/>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Pengertian, karakteristik, dan representasi citra digital</a:t>
            </a:r>
            <a:endParaRPr lang="en-US" sz="1550" dirty="0"/>
          </a:p>
        </p:txBody>
      </p:sp>
      <p:pic>
        <p:nvPicPr>
          <p:cNvPr id="6" name="Image 1" descr="preencoded.png">    </p:cNvPr>
          <p:cNvPicPr>
            <a:picLocks noChangeAspect="1"/>
          </p:cNvPicPr>
          <p:nvPr/>
        </p:nvPicPr>
        <p:blipFill>
          <a:blip r:embed="rId2"/>
          <a:stretch>
            <a:fillRect/>
          </a:stretch>
        </p:blipFill>
        <p:spPr>
          <a:xfrm>
            <a:off x="7315200" y="2685931"/>
            <a:ext cx="6521410" cy="793790"/>
          </a:xfrm>
          <a:prstGeom prst="rect">
            <a:avLst/>
          </a:prstGeom>
        </p:spPr>
      </p:pic>
      <p:sp>
        <p:nvSpPr>
          <p:cNvPr id="7" name="Text 3"/>
          <p:cNvSpPr/>
          <p:nvPr/>
        </p:nvSpPr>
        <p:spPr>
          <a:xfrm>
            <a:off x="7513558" y="3678079"/>
            <a:ext cx="2696647"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Karakteristik Citra Digital</a:t>
            </a:r>
            <a:endParaRPr lang="en-US" sz="1950" dirty="0"/>
          </a:p>
        </p:txBody>
      </p:sp>
      <p:sp>
        <p:nvSpPr>
          <p:cNvPr id="8" name="Text 4"/>
          <p:cNvSpPr/>
          <p:nvPr/>
        </p:nvSpPr>
        <p:spPr>
          <a:xfrm>
            <a:off x="7513558" y="4107299"/>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Resolusi, intensitas, format file, dan warna</a:t>
            </a:r>
            <a:endParaRPr lang="en-US" sz="1550" dirty="0"/>
          </a:p>
        </p:txBody>
      </p:sp>
      <p:pic>
        <p:nvPicPr>
          <p:cNvPr id="9" name="Image 2" descr="preencoded.png">    </p:cNvPr>
          <p:cNvPicPr>
            <a:picLocks noChangeAspect="1"/>
          </p:cNvPicPr>
          <p:nvPr/>
        </p:nvPicPr>
        <p:blipFill>
          <a:blip r:embed="rId3"/>
          <a:stretch>
            <a:fillRect/>
          </a:stretch>
        </p:blipFill>
        <p:spPr>
          <a:xfrm>
            <a:off x="793790" y="4623197"/>
            <a:ext cx="6521410" cy="793790"/>
          </a:xfrm>
          <a:prstGeom prst="rect">
            <a:avLst/>
          </a:prstGeom>
        </p:spPr>
      </p:pic>
      <p:sp>
        <p:nvSpPr>
          <p:cNvPr id="10" name="Text 5"/>
          <p:cNvSpPr/>
          <p:nvPr/>
        </p:nvSpPr>
        <p:spPr>
          <a:xfrm>
            <a:off x="992148" y="5615345"/>
            <a:ext cx="3480792"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Manipulasi Citra dengan Python</a:t>
            </a:r>
            <a:endParaRPr lang="en-US" sz="1950" dirty="0"/>
          </a:p>
        </p:txBody>
      </p:sp>
      <p:sp>
        <p:nvSpPr>
          <p:cNvPr id="11" name="Text 6"/>
          <p:cNvSpPr/>
          <p:nvPr/>
        </p:nvSpPr>
        <p:spPr>
          <a:xfrm>
            <a:off x="992148" y="6044565"/>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Berinteraksi dengan citra menggunakan pustaka Python</a:t>
            </a:r>
            <a:endParaRPr lang="en-US" sz="1550" dirty="0"/>
          </a:p>
        </p:txBody>
      </p:sp>
      <p:pic>
        <p:nvPicPr>
          <p:cNvPr id="12" name="Image 3" descr="preencoded.png">    </p:cNvPr>
          <p:cNvPicPr>
            <a:picLocks noChangeAspect="1"/>
          </p:cNvPicPr>
          <p:nvPr/>
        </p:nvPicPr>
        <p:blipFill>
          <a:blip r:embed="rId4"/>
          <a:stretch>
            <a:fillRect/>
          </a:stretch>
        </p:blipFill>
        <p:spPr>
          <a:xfrm>
            <a:off x="7315200" y="4623197"/>
            <a:ext cx="6521410" cy="793790"/>
          </a:xfrm>
          <a:prstGeom prst="rect">
            <a:avLst/>
          </a:prstGeom>
        </p:spPr>
      </p:pic>
      <p:sp>
        <p:nvSpPr>
          <p:cNvPr id="13" name="Text 7"/>
          <p:cNvSpPr/>
          <p:nvPr/>
        </p:nvSpPr>
        <p:spPr>
          <a:xfrm>
            <a:off x="7513558" y="56153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Studi Kasus</a:t>
            </a:r>
            <a:endParaRPr lang="en-US" sz="1950" dirty="0"/>
          </a:p>
        </p:txBody>
      </p:sp>
      <p:sp>
        <p:nvSpPr>
          <p:cNvPr id="14" name="Text 8"/>
          <p:cNvSpPr/>
          <p:nvPr/>
        </p:nvSpPr>
        <p:spPr>
          <a:xfrm>
            <a:off x="7513558" y="6044565"/>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Analisis perbandingan resolusi dan transformasi dasar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55067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Capaian Pembelajaran</a:t>
            </a:r>
            <a:endParaRPr lang="en-US" sz="3900" dirty="0"/>
          </a:p>
        </p:txBody>
      </p:sp>
      <p:sp>
        <p:nvSpPr>
          <p:cNvPr id="3" name="Shape 1"/>
          <p:cNvSpPr/>
          <p:nvPr/>
        </p:nvSpPr>
        <p:spPr>
          <a:xfrm>
            <a:off x="793790" y="3567589"/>
            <a:ext cx="4215289" cy="2111335"/>
          </a:xfrm>
          <a:prstGeom prst="roundRect">
            <a:avLst>
              <a:gd name="adj" fmla="val 3948"/>
            </a:avLst>
          </a:prstGeom>
          <a:solidFill>
            <a:srgbClr val="DFECE9"/>
          </a:solidFill>
          <a:ln w="7620">
            <a:solidFill>
              <a:srgbClr val="C5D2CF"/>
            </a:solidFill>
            <a:prstDash val="solid"/>
          </a:ln>
        </p:spPr>
      </p:sp>
      <p:sp>
        <p:nvSpPr>
          <p:cNvPr id="4" name="Text 2"/>
          <p:cNvSpPr/>
          <p:nvPr/>
        </p:nvSpPr>
        <p:spPr>
          <a:xfrm>
            <a:off x="999768" y="3773567"/>
            <a:ext cx="265890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Pemahaman Konseptual</a:t>
            </a:r>
            <a:endParaRPr lang="en-US" sz="1950" dirty="0"/>
          </a:p>
        </p:txBody>
      </p:sp>
      <p:sp>
        <p:nvSpPr>
          <p:cNvPr id="5" name="Text 3"/>
          <p:cNvSpPr/>
          <p:nvPr/>
        </p:nvSpPr>
        <p:spPr>
          <a:xfrm>
            <a:off x="999768" y="4202787"/>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memahami konsep dasar citra digital dan karakteristiknya secara mendalam</a:t>
            </a:r>
            <a:endParaRPr lang="en-US" sz="1550" dirty="0"/>
          </a:p>
        </p:txBody>
      </p:sp>
      <p:sp>
        <p:nvSpPr>
          <p:cNvPr id="6" name="Shape 4"/>
          <p:cNvSpPr/>
          <p:nvPr/>
        </p:nvSpPr>
        <p:spPr>
          <a:xfrm>
            <a:off x="5207437" y="3567589"/>
            <a:ext cx="4215408" cy="2111335"/>
          </a:xfrm>
          <a:prstGeom prst="roundRect">
            <a:avLst>
              <a:gd name="adj" fmla="val 3948"/>
            </a:avLst>
          </a:prstGeom>
          <a:solidFill>
            <a:srgbClr val="DFECE9"/>
          </a:solidFill>
          <a:ln w="7620">
            <a:solidFill>
              <a:srgbClr val="C5D2CF"/>
            </a:solidFill>
            <a:prstDash val="solid"/>
          </a:ln>
        </p:spPr>
      </p:sp>
      <p:sp>
        <p:nvSpPr>
          <p:cNvPr id="7" name="Text 5"/>
          <p:cNvSpPr/>
          <p:nvPr/>
        </p:nvSpPr>
        <p:spPr>
          <a:xfrm>
            <a:off x="5413415" y="377356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Kemampuan Teknis</a:t>
            </a:r>
            <a:endParaRPr lang="en-US" sz="1950" dirty="0"/>
          </a:p>
        </p:txBody>
      </p:sp>
      <p:sp>
        <p:nvSpPr>
          <p:cNvPr id="8" name="Text 6"/>
          <p:cNvSpPr/>
          <p:nvPr/>
        </p:nvSpPr>
        <p:spPr>
          <a:xfrm>
            <a:off x="5413415" y="4202787"/>
            <a:ext cx="3803452"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membuat program Python sederhana untuk berinteraksi dengan citra digital</a:t>
            </a:r>
            <a:endParaRPr lang="en-US" sz="1550" dirty="0"/>
          </a:p>
        </p:txBody>
      </p:sp>
      <p:sp>
        <p:nvSpPr>
          <p:cNvPr id="9" name="Shape 7"/>
          <p:cNvSpPr/>
          <p:nvPr/>
        </p:nvSpPr>
        <p:spPr>
          <a:xfrm>
            <a:off x="9621203" y="3567589"/>
            <a:ext cx="4215289" cy="2111335"/>
          </a:xfrm>
          <a:prstGeom prst="roundRect">
            <a:avLst>
              <a:gd name="adj" fmla="val 3948"/>
            </a:avLst>
          </a:prstGeom>
          <a:solidFill>
            <a:srgbClr val="DFECE9"/>
          </a:solidFill>
          <a:ln w="7620">
            <a:solidFill>
              <a:srgbClr val="C5D2CF"/>
            </a:solidFill>
            <a:prstDash val="solid"/>
          </a:ln>
        </p:spPr>
      </p:sp>
      <p:sp>
        <p:nvSpPr>
          <p:cNvPr id="10" name="Text 8"/>
          <p:cNvSpPr/>
          <p:nvPr/>
        </p:nvSpPr>
        <p:spPr>
          <a:xfrm>
            <a:off x="9827181" y="377356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Analisis Kritis</a:t>
            </a:r>
            <a:endParaRPr lang="en-US" sz="1950" dirty="0"/>
          </a:p>
        </p:txBody>
      </p:sp>
      <p:sp>
        <p:nvSpPr>
          <p:cNvPr id="11" name="Text 9"/>
          <p:cNvSpPr/>
          <p:nvPr/>
        </p:nvSpPr>
        <p:spPr>
          <a:xfrm>
            <a:off x="9827181" y="4202787"/>
            <a:ext cx="380333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Mahasiswa dapat menganalisis perbandingan efek perubahan karakteristik citra untuk aplikasi tertentu</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34553"/>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Pengantar Citra Digital</a:t>
            </a:r>
            <a:endParaRPr lang="en-US" sz="3900" dirty="0"/>
          </a:p>
        </p:txBody>
      </p:sp>
      <p:sp>
        <p:nvSpPr>
          <p:cNvPr id="3" name="Text 1"/>
          <p:cNvSpPr/>
          <p:nvPr/>
        </p:nvSpPr>
        <p:spPr>
          <a:xfrm>
            <a:off x="793790" y="315146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digital merupakan representasi dua dimensi dari citra yang direpresentasikan secara numerik dalam bentuk diskrit. Citra digital dibentuk dari kumpulan titik-titik yang disebut piksel (picture element).</a:t>
            </a:r>
            <a:endParaRPr lang="en-US" sz="1550" dirty="0"/>
          </a:p>
        </p:txBody>
      </p:sp>
      <p:sp>
        <p:nvSpPr>
          <p:cNvPr id="4" name="Shape 2"/>
          <p:cNvSpPr/>
          <p:nvPr/>
        </p:nvSpPr>
        <p:spPr>
          <a:xfrm>
            <a:off x="793790" y="4009787"/>
            <a:ext cx="446484" cy="446484"/>
          </a:xfrm>
          <a:prstGeom prst="roundRect">
            <a:avLst>
              <a:gd name="adj" fmla="val 18670"/>
            </a:avLst>
          </a:prstGeom>
          <a:solidFill>
            <a:srgbClr val="DFECE9"/>
          </a:solidFill>
          <a:ln w="7620">
            <a:solidFill>
              <a:srgbClr val="C5D2CF"/>
            </a:solidFill>
            <a:prstDash val="solid"/>
          </a:ln>
        </p:spPr>
      </p:sp>
      <p:sp>
        <p:nvSpPr>
          <p:cNvPr id="5" name="Text 3"/>
          <p:cNvSpPr/>
          <p:nvPr/>
        </p:nvSpPr>
        <p:spPr>
          <a:xfrm>
            <a:off x="868204" y="4046994"/>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1</a:t>
            </a:r>
            <a:endParaRPr lang="en-US" sz="2300" dirty="0"/>
          </a:p>
        </p:txBody>
      </p:sp>
      <p:sp>
        <p:nvSpPr>
          <p:cNvPr id="6" name="Text 4"/>
          <p:cNvSpPr/>
          <p:nvPr/>
        </p:nvSpPr>
        <p:spPr>
          <a:xfrm>
            <a:off x="1438632" y="40780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Definisi Formal</a:t>
            </a:r>
            <a:endParaRPr lang="en-US" sz="1950" dirty="0"/>
          </a:p>
        </p:txBody>
      </p:sp>
      <p:sp>
        <p:nvSpPr>
          <p:cNvPr id="7" name="Text 5"/>
          <p:cNvSpPr/>
          <p:nvPr/>
        </p:nvSpPr>
        <p:spPr>
          <a:xfrm>
            <a:off x="1438632" y="4507230"/>
            <a:ext cx="3537347"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digital dapat didefinisikan sebagai fungsi f(x,y) dimana x dan y adalah koordinat spasial, dan f adalah intensitas atau tingkat keabuan pada koordinat tersebut.</a:t>
            </a:r>
            <a:endParaRPr lang="en-US" sz="1550" dirty="0"/>
          </a:p>
        </p:txBody>
      </p:sp>
      <p:sp>
        <p:nvSpPr>
          <p:cNvPr id="8" name="Shape 6"/>
          <p:cNvSpPr/>
          <p:nvPr/>
        </p:nvSpPr>
        <p:spPr>
          <a:xfrm>
            <a:off x="5223986" y="4009787"/>
            <a:ext cx="446484" cy="446484"/>
          </a:xfrm>
          <a:prstGeom prst="roundRect">
            <a:avLst>
              <a:gd name="adj" fmla="val 18670"/>
            </a:avLst>
          </a:prstGeom>
          <a:solidFill>
            <a:srgbClr val="DFECE9"/>
          </a:solidFill>
          <a:ln w="7620">
            <a:solidFill>
              <a:srgbClr val="C5D2CF"/>
            </a:solidFill>
            <a:prstDash val="solid"/>
          </a:ln>
        </p:spPr>
      </p:sp>
      <p:sp>
        <p:nvSpPr>
          <p:cNvPr id="9" name="Text 7"/>
          <p:cNvSpPr/>
          <p:nvPr/>
        </p:nvSpPr>
        <p:spPr>
          <a:xfrm>
            <a:off x="5298400" y="4046994"/>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2</a:t>
            </a:r>
            <a:endParaRPr lang="en-US" sz="2300" dirty="0"/>
          </a:p>
        </p:txBody>
      </p:sp>
      <p:sp>
        <p:nvSpPr>
          <p:cNvPr id="10" name="Text 8"/>
          <p:cNvSpPr/>
          <p:nvPr/>
        </p:nvSpPr>
        <p:spPr>
          <a:xfrm>
            <a:off x="5868829" y="40780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Interpretasi Matematis</a:t>
            </a:r>
            <a:endParaRPr lang="en-US" sz="1950" dirty="0"/>
          </a:p>
        </p:txBody>
      </p:sp>
      <p:sp>
        <p:nvSpPr>
          <p:cNvPr id="11" name="Text 9"/>
          <p:cNvSpPr/>
          <p:nvPr/>
        </p:nvSpPr>
        <p:spPr>
          <a:xfrm>
            <a:off x="5868829" y="4507230"/>
            <a:ext cx="3537466"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digital dapat direpresentasikan sebagai matriks MxN dimana M adalah jumlah baris dan N adalah jumlah kolom. Setiap elemen matriks merepresentasikan nilai intensitas.</a:t>
            </a:r>
            <a:endParaRPr lang="en-US" sz="1550" dirty="0"/>
          </a:p>
        </p:txBody>
      </p:sp>
      <p:sp>
        <p:nvSpPr>
          <p:cNvPr id="12" name="Shape 10"/>
          <p:cNvSpPr/>
          <p:nvPr/>
        </p:nvSpPr>
        <p:spPr>
          <a:xfrm>
            <a:off x="9654302" y="4009787"/>
            <a:ext cx="446484" cy="446484"/>
          </a:xfrm>
          <a:prstGeom prst="roundRect">
            <a:avLst>
              <a:gd name="adj" fmla="val 18670"/>
            </a:avLst>
          </a:prstGeom>
          <a:solidFill>
            <a:srgbClr val="DFECE9"/>
          </a:solidFill>
          <a:ln w="7620">
            <a:solidFill>
              <a:srgbClr val="C5D2CF"/>
            </a:solidFill>
            <a:prstDash val="solid"/>
          </a:ln>
        </p:spPr>
      </p:sp>
      <p:sp>
        <p:nvSpPr>
          <p:cNvPr id="13" name="Text 11"/>
          <p:cNvSpPr/>
          <p:nvPr/>
        </p:nvSpPr>
        <p:spPr>
          <a:xfrm>
            <a:off x="9728716" y="4046994"/>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2C3249"/>
                </a:solidFill>
                <a:latin typeface="Kanit Light" pitchFamily="34" charset="0"/>
                <a:ea typeface="Kanit Light" pitchFamily="34" charset="-122"/>
                <a:cs typeface="Kanit Light" pitchFamily="34" charset="-120"/>
              </a:rPr>
              <a:t>3</a:t>
            </a:r>
            <a:endParaRPr lang="en-US" sz="2300" dirty="0"/>
          </a:p>
        </p:txBody>
      </p:sp>
      <p:sp>
        <p:nvSpPr>
          <p:cNvPr id="14" name="Text 12"/>
          <p:cNvSpPr/>
          <p:nvPr/>
        </p:nvSpPr>
        <p:spPr>
          <a:xfrm>
            <a:off x="10299144" y="40780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Signifikansi</a:t>
            </a:r>
            <a:endParaRPr lang="en-US" sz="1950" dirty="0"/>
          </a:p>
        </p:txBody>
      </p:sp>
      <p:sp>
        <p:nvSpPr>
          <p:cNvPr id="15" name="Text 13"/>
          <p:cNvSpPr/>
          <p:nvPr/>
        </p:nvSpPr>
        <p:spPr>
          <a:xfrm>
            <a:off x="10299144" y="4507230"/>
            <a:ext cx="3537466"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Pemahaman mendalam tentang citra digital menjadi fondasi penting dalam pengembangan aplikasi computer vision tingkat lanjut.</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76281"/>
            <a:ext cx="548235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Representasi Citra Digital</a:t>
            </a:r>
            <a:endParaRPr lang="en-US" sz="3900" dirty="0"/>
          </a:p>
        </p:txBody>
      </p:sp>
      <p:sp>
        <p:nvSpPr>
          <p:cNvPr id="3" name="Text 1"/>
          <p:cNvSpPr/>
          <p:nvPr/>
        </p:nvSpPr>
        <p:spPr>
          <a:xfrm>
            <a:off x="793790" y="279237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Representasi Matriks</a:t>
            </a:r>
            <a:endParaRPr lang="en-US" sz="1950" dirty="0"/>
          </a:p>
        </p:txBody>
      </p:sp>
      <p:sp>
        <p:nvSpPr>
          <p:cNvPr id="4" name="Text 2"/>
          <p:cNvSpPr/>
          <p:nvPr/>
        </p:nvSpPr>
        <p:spPr>
          <a:xfrm>
            <a:off x="793790" y="3300889"/>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digital direpresentasikan sebagai matriks dengan ukuran MxN, dengan setiap elemen matriks mewakili nilai intensitas piksel.</a:t>
            </a:r>
            <a:endParaRPr lang="en-US" sz="1550" dirty="0"/>
          </a:p>
        </p:txBody>
      </p:sp>
      <p:sp>
        <p:nvSpPr>
          <p:cNvPr id="5" name="Text 3"/>
          <p:cNvSpPr/>
          <p:nvPr/>
        </p:nvSpPr>
        <p:spPr>
          <a:xfrm>
            <a:off x="793790" y="443210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Untuk citra grayscale, setiap piksel memiliki satu nilai intensitas, sedangkan untuk citra berwarna (RGB), setiap piksel memiliki tiga nilai intensitas yang mewakili komponen merah, hijau, dan biru.</a:t>
            </a:r>
            <a:endParaRPr lang="en-US" sz="1550" dirty="0"/>
          </a:p>
        </p:txBody>
      </p:sp>
      <p:sp>
        <p:nvSpPr>
          <p:cNvPr id="6" name="Text 4"/>
          <p:cNvSpPr/>
          <p:nvPr/>
        </p:nvSpPr>
        <p:spPr>
          <a:xfrm>
            <a:off x="7564874" y="2772608"/>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Contoh representasi matriks citra grayscale 4x4:</a:t>
            </a:r>
            <a:endParaRPr lang="en-US" sz="1550" dirty="0"/>
          </a:p>
        </p:txBody>
      </p:sp>
      <p:sp>
        <p:nvSpPr>
          <p:cNvPr id="7" name="Shape 5"/>
          <p:cNvSpPr/>
          <p:nvPr/>
        </p:nvSpPr>
        <p:spPr>
          <a:xfrm>
            <a:off x="7564874" y="3313390"/>
            <a:ext cx="6279356" cy="2202894"/>
          </a:xfrm>
          <a:prstGeom prst="roundRect">
            <a:avLst>
              <a:gd name="adj" fmla="val 3784"/>
            </a:avLst>
          </a:prstGeom>
          <a:solidFill>
            <a:srgbClr val="E5E5E5"/>
          </a:solidFill>
          <a:ln/>
        </p:spPr>
      </p:sp>
      <p:sp>
        <p:nvSpPr>
          <p:cNvPr id="8" name="Shape 6"/>
          <p:cNvSpPr/>
          <p:nvPr/>
        </p:nvSpPr>
        <p:spPr>
          <a:xfrm>
            <a:off x="7554992" y="3313390"/>
            <a:ext cx="6299121" cy="2202894"/>
          </a:xfrm>
          <a:prstGeom prst="roundRect">
            <a:avLst>
              <a:gd name="adj" fmla="val 1351"/>
            </a:avLst>
          </a:prstGeom>
          <a:solidFill>
            <a:srgbClr val="E5E5E5"/>
          </a:solidFill>
          <a:ln/>
        </p:spPr>
      </p:sp>
      <p:sp>
        <p:nvSpPr>
          <p:cNvPr id="9" name="Text 7"/>
          <p:cNvSpPr/>
          <p:nvPr/>
        </p:nvSpPr>
        <p:spPr>
          <a:xfrm>
            <a:off x="7753350" y="3462218"/>
            <a:ext cx="5902404" cy="190523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E5E5E5"/>
                </a:highlight>
                <a:latin typeface="Consolas" pitchFamily="34" charset="0"/>
                <a:ea typeface="Consolas" pitchFamily="34" charset="-122"/>
                <a:cs typeface="Consolas" pitchFamily="34" charset="-120"/>
              </a:rPr>
              <a:t>[  [120, 80,  50,  30],  [90,  70,  40,  20],  [60,  50,  30,  10],  [30,  20,  10,  0]]</a:t>
            </a:r>
            <a:endParaRPr lang="en-US" sz="1550" dirty="0"/>
          </a:p>
        </p:txBody>
      </p:sp>
      <p:sp>
        <p:nvSpPr>
          <p:cNvPr id="10" name="Text 8"/>
          <p:cNvSpPr/>
          <p:nvPr/>
        </p:nvSpPr>
        <p:spPr>
          <a:xfrm>
            <a:off x="7564874" y="5739527"/>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Nilai-nilai di atas merepresentasikan intensitas piksel (0-255) pada posisi (x,y) dalam citra.</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25379"/>
            <a:ext cx="740140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Karakteristik Citra Digital: Resolusi</a:t>
            </a:r>
            <a:endParaRPr lang="en-US" sz="3900" dirty="0"/>
          </a:p>
        </p:txBody>
      </p:sp>
      <p:sp>
        <p:nvSpPr>
          <p:cNvPr id="3" name="Text 1"/>
          <p:cNvSpPr/>
          <p:nvPr/>
        </p:nvSpPr>
        <p:spPr>
          <a:xfrm>
            <a:off x="793790" y="214229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Resolusi citra merupakan salah satu karakteristik penting yang menentukan kualitas dan detail citra digital.</a:t>
            </a:r>
            <a:endParaRPr lang="en-US" sz="1550" dirty="0"/>
          </a:p>
        </p:txBody>
      </p:sp>
      <p:sp>
        <p:nvSpPr>
          <p:cNvPr id="4" name="Shape 2"/>
          <p:cNvSpPr/>
          <p:nvPr/>
        </p:nvSpPr>
        <p:spPr>
          <a:xfrm>
            <a:off x="793790" y="2980730"/>
            <a:ext cx="4215289" cy="4123492"/>
          </a:xfrm>
          <a:prstGeom prst="roundRect">
            <a:avLst>
              <a:gd name="adj" fmla="val 2661"/>
            </a:avLst>
          </a:prstGeom>
          <a:solidFill>
            <a:srgbClr val="FFFFFF"/>
          </a:solidFill>
          <a:ln/>
        </p:spPr>
      </p:sp>
      <p:sp>
        <p:nvSpPr>
          <p:cNvPr id="5" name="Shape 3"/>
          <p:cNvSpPr/>
          <p:nvPr/>
        </p:nvSpPr>
        <p:spPr>
          <a:xfrm>
            <a:off x="793790" y="2957870"/>
            <a:ext cx="4215289" cy="91440"/>
          </a:xfrm>
          <a:prstGeom prst="roundRect">
            <a:avLst>
              <a:gd name="adj" fmla="val 91163"/>
            </a:avLst>
          </a:prstGeom>
          <a:solidFill>
            <a:srgbClr val="437066"/>
          </a:solidFill>
          <a:ln/>
        </p:spPr>
      </p:sp>
      <p:sp>
        <p:nvSpPr>
          <p:cNvPr id="6" name="Shape 4"/>
          <p:cNvSpPr/>
          <p:nvPr/>
        </p:nvSpPr>
        <p:spPr>
          <a:xfrm>
            <a:off x="2603778" y="2683073"/>
            <a:ext cx="595313" cy="595313"/>
          </a:xfrm>
          <a:prstGeom prst="roundRect">
            <a:avLst>
              <a:gd name="adj" fmla="val 153600"/>
            </a:avLst>
          </a:prstGeom>
          <a:solidFill>
            <a:srgbClr val="437066"/>
          </a:solidFill>
          <a:ln/>
        </p:spPr>
      </p:sp>
      <p:sp>
        <p:nvSpPr>
          <p:cNvPr id="7" name="Text 5"/>
          <p:cNvSpPr/>
          <p:nvPr/>
        </p:nvSpPr>
        <p:spPr>
          <a:xfrm>
            <a:off x="2782372" y="283190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1</a:t>
            </a:r>
            <a:endParaRPr lang="en-US" sz="1850" dirty="0"/>
          </a:p>
        </p:txBody>
      </p:sp>
      <p:sp>
        <p:nvSpPr>
          <p:cNvPr id="8" name="Text 6"/>
          <p:cNvSpPr/>
          <p:nvPr/>
        </p:nvSpPr>
        <p:spPr>
          <a:xfrm>
            <a:off x="1015008" y="347686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Resolusi Spasial</a:t>
            </a:r>
            <a:endParaRPr lang="en-US" sz="1950" dirty="0"/>
          </a:p>
        </p:txBody>
      </p:sp>
      <p:sp>
        <p:nvSpPr>
          <p:cNvPr id="9" name="Text 7"/>
          <p:cNvSpPr/>
          <p:nvPr/>
        </p:nvSpPr>
        <p:spPr>
          <a:xfrm>
            <a:off x="1015008" y="3906083"/>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Mengacu pada jumlah piksel per satuan panjang (ppi - pixel per inch). Semakin tinggi resolusi spasial, semakin detail citra yang dihasilkan.</a:t>
            </a:r>
            <a:endParaRPr lang="en-US" sz="1550" dirty="0"/>
          </a:p>
        </p:txBody>
      </p:sp>
      <p:sp>
        <p:nvSpPr>
          <p:cNvPr id="10" name="Text 8"/>
          <p:cNvSpPr/>
          <p:nvPr/>
        </p:nvSpPr>
        <p:spPr>
          <a:xfrm>
            <a:off x="1015008" y="5295305"/>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Resolusi 300 ppi biasanya dianggap sebagai standar minimum untuk pencetakan berkualitas tinggi.</a:t>
            </a:r>
            <a:endParaRPr lang="en-US" sz="1550" dirty="0"/>
          </a:p>
        </p:txBody>
      </p:sp>
      <p:sp>
        <p:nvSpPr>
          <p:cNvPr id="11" name="Shape 9"/>
          <p:cNvSpPr/>
          <p:nvPr/>
        </p:nvSpPr>
        <p:spPr>
          <a:xfrm>
            <a:off x="5207437" y="2980730"/>
            <a:ext cx="4215408" cy="4123492"/>
          </a:xfrm>
          <a:prstGeom prst="roundRect">
            <a:avLst>
              <a:gd name="adj" fmla="val 2661"/>
            </a:avLst>
          </a:prstGeom>
          <a:solidFill>
            <a:srgbClr val="FFFFFF"/>
          </a:solidFill>
          <a:ln/>
        </p:spPr>
      </p:sp>
      <p:sp>
        <p:nvSpPr>
          <p:cNvPr id="12" name="Shape 10"/>
          <p:cNvSpPr/>
          <p:nvPr/>
        </p:nvSpPr>
        <p:spPr>
          <a:xfrm>
            <a:off x="5207437" y="2957870"/>
            <a:ext cx="4215408" cy="91440"/>
          </a:xfrm>
          <a:prstGeom prst="roundRect">
            <a:avLst>
              <a:gd name="adj" fmla="val 91163"/>
            </a:avLst>
          </a:prstGeom>
          <a:solidFill>
            <a:srgbClr val="437066"/>
          </a:solidFill>
          <a:ln/>
        </p:spPr>
      </p:sp>
      <p:sp>
        <p:nvSpPr>
          <p:cNvPr id="13" name="Shape 11"/>
          <p:cNvSpPr/>
          <p:nvPr/>
        </p:nvSpPr>
        <p:spPr>
          <a:xfrm>
            <a:off x="7017425" y="2683073"/>
            <a:ext cx="595313" cy="595313"/>
          </a:xfrm>
          <a:prstGeom prst="roundRect">
            <a:avLst>
              <a:gd name="adj" fmla="val 153600"/>
            </a:avLst>
          </a:prstGeom>
          <a:solidFill>
            <a:srgbClr val="437066"/>
          </a:solidFill>
          <a:ln/>
        </p:spPr>
      </p:sp>
      <p:sp>
        <p:nvSpPr>
          <p:cNvPr id="14" name="Text 12"/>
          <p:cNvSpPr/>
          <p:nvPr/>
        </p:nvSpPr>
        <p:spPr>
          <a:xfrm>
            <a:off x="7196018" y="283190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2</a:t>
            </a:r>
            <a:endParaRPr lang="en-US" sz="1850" dirty="0"/>
          </a:p>
        </p:txBody>
      </p:sp>
      <p:sp>
        <p:nvSpPr>
          <p:cNvPr id="15" name="Text 13"/>
          <p:cNvSpPr/>
          <p:nvPr/>
        </p:nvSpPr>
        <p:spPr>
          <a:xfrm>
            <a:off x="5428655" y="347686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Resolusi Piksel</a:t>
            </a:r>
            <a:endParaRPr lang="en-US" sz="1950" dirty="0"/>
          </a:p>
        </p:txBody>
      </p:sp>
      <p:sp>
        <p:nvSpPr>
          <p:cNvPr id="16" name="Text 14"/>
          <p:cNvSpPr/>
          <p:nvPr/>
        </p:nvSpPr>
        <p:spPr>
          <a:xfrm>
            <a:off x="5428655" y="3906083"/>
            <a:ext cx="3772972"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Mengacu pada jumlah total piksel dalam citra, dinyatakan sebagai lebar × tinggi (misal: 1920×1080). Semakin banyak piksel, semakin besar ukuran file.</a:t>
            </a:r>
            <a:endParaRPr lang="en-US" sz="1550" dirty="0"/>
          </a:p>
        </p:txBody>
      </p:sp>
      <p:sp>
        <p:nvSpPr>
          <p:cNvPr id="17" name="Text 15"/>
          <p:cNvSpPr/>
          <p:nvPr/>
        </p:nvSpPr>
        <p:spPr>
          <a:xfrm>
            <a:off x="5428655" y="5612844"/>
            <a:ext cx="3772972"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beresolusi tinggi memerlukan ruang penyimpanan dan daya komputasi yang lebih besar untuk diproses.</a:t>
            </a:r>
            <a:endParaRPr lang="en-US" sz="1550" dirty="0"/>
          </a:p>
        </p:txBody>
      </p:sp>
      <p:sp>
        <p:nvSpPr>
          <p:cNvPr id="18" name="Shape 16"/>
          <p:cNvSpPr/>
          <p:nvPr/>
        </p:nvSpPr>
        <p:spPr>
          <a:xfrm>
            <a:off x="9621203" y="2980730"/>
            <a:ext cx="4215289" cy="4123492"/>
          </a:xfrm>
          <a:prstGeom prst="roundRect">
            <a:avLst>
              <a:gd name="adj" fmla="val 2661"/>
            </a:avLst>
          </a:prstGeom>
          <a:solidFill>
            <a:srgbClr val="FFFFFF"/>
          </a:solidFill>
          <a:ln/>
        </p:spPr>
      </p:sp>
      <p:sp>
        <p:nvSpPr>
          <p:cNvPr id="19" name="Shape 17"/>
          <p:cNvSpPr/>
          <p:nvPr/>
        </p:nvSpPr>
        <p:spPr>
          <a:xfrm>
            <a:off x="9621203" y="2957870"/>
            <a:ext cx="4215289" cy="91440"/>
          </a:xfrm>
          <a:prstGeom prst="roundRect">
            <a:avLst>
              <a:gd name="adj" fmla="val 91163"/>
            </a:avLst>
          </a:prstGeom>
          <a:solidFill>
            <a:srgbClr val="437066"/>
          </a:solidFill>
          <a:ln/>
        </p:spPr>
      </p:sp>
      <p:sp>
        <p:nvSpPr>
          <p:cNvPr id="20" name="Shape 18"/>
          <p:cNvSpPr/>
          <p:nvPr/>
        </p:nvSpPr>
        <p:spPr>
          <a:xfrm>
            <a:off x="11431191" y="2683073"/>
            <a:ext cx="595313" cy="595313"/>
          </a:xfrm>
          <a:prstGeom prst="roundRect">
            <a:avLst>
              <a:gd name="adj" fmla="val 153600"/>
            </a:avLst>
          </a:prstGeom>
          <a:solidFill>
            <a:srgbClr val="437066"/>
          </a:solidFill>
          <a:ln/>
        </p:spPr>
      </p:sp>
      <p:sp>
        <p:nvSpPr>
          <p:cNvPr id="21" name="Text 19"/>
          <p:cNvSpPr/>
          <p:nvPr/>
        </p:nvSpPr>
        <p:spPr>
          <a:xfrm>
            <a:off x="11609784" y="283190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Kanit Light" pitchFamily="34" charset="0"/>
                <a:ea typeface="Kanit Light" pitchFamily="34" charset="-122"/>
                <a:cs typeface="Kanit Light" pitchFamily="34" charset="-120"/>
              </a:rPr>
              <a:t>3</a:t>
            </a:r>
            <a:endParaRPr lang="en-US" sz="1850" dirty="0"/>
          </a:p>
        </p:txBody>
      </p:sp>
      <p:sp>
        <p:nvSpPr>
          <p:cNvPr id="22" name="Text 20"/>
          <p:cNvSpPr/>
          <p:nvPr/>
        </p:nvSpPr>
        <p:spPr>
          <a:xfrm>
            <a:off x="9842421" y="347686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Resolusi Radiometrik</a:t>
            </a:r>
            <a:endParaRPr lang="en-US" sz="1950" dirty="0"/>
          </a:p>
        </p:txBody>
      </p:sp>
      <p:sp>
        <p:nvSpPr>
          <p:cNvPr id="23" name="Text 21"/>
          <p:cNvSpPr/>
          <p:nvPr/>
        </p:nvSpPr>
        <p:spPr>
          <a:xfrm>
            <a:off x="9842421" y="3906083"/>
            <a:ext cx="3772853"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Mengacu pada jumlah bit yang digunakan untuk menyimpan informasi warna per piksel. Semakin banyak bit, semakin banyak tingkat keabuan atau warna yang dapat direpresentasikan.</a:t>
            </a:r>
            <a:endParaRPr lang="en-US" sz="1550" dirty="0"/>
          </a:p>
        </p:txBody>
      </p:sp>
      <p:sp>
        <p:nvSpPr>
          <p:cNvPr id="24" name="Text 22"/>
          <p:cNvSpPr/>
          <p:nvPr/>
        </p:nvSpPr>
        <p:spPr>
          <a:xfrm>
            <a:off x="9842421" y="5612844"/>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Citra 8-bit grayscale memiliki 256 tingkat keabuan, sementara citra 24-bit RGB memiliki 16,7 juta warna.</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052280"/>
            <a:ext cx="10164842"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Karakteristik Citra Digital: Intensitas dan Warna</a:t>
            </a:r>
            <a:endParaRPr lang="en-US" sz="3900" dirty="0"/>
          </a:p>
        </p:txBody>
      </p:sp>
      <p:sp>
        <p:nvSpPr>
          <p:cNvPr id="3" name="Text 1"/>
          <p:cNvSpPr/>
          <p:nvPr/>
        </p:nvSpPr>
        <p:spPr>
          <a:xfrm>
            <a:off x="793790" y="31683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Intensitas Piksel</a:t>
            </a:r>
            <a:endParaRPr lang="en-US" sz="1950" dirty="0"/>
          </a:p>
        </p:txBody>
      </p:sp>
      <p:sp>
        <p:nvSpPr>
          <p:cNvPr id="4" name="Text 2"/>
          <p:cNvSpPr/>
          <p:nvPr/>
        </p:nvSpPr>
        <p:spPr>
          <a:xfrm>
            <a:off x="793790" y="367688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Merepresentasikan tingkat kecerahan pada setiap piksel</a:t>
            </a:r>
            <a:endParaRPr lang="en-US" sz="1550" dirty="0"/>
          </a:p>
        </p:txBody>
      </p:sp>
      <p:sp>
        <p:nvSpPr>
          <p:cNvPr id="5" name="Text 3"/>
          <p:cNvSpPr/>
          <p:nvPr/>
        </p:nvSpPr>
        <p:spPr>
          <a:xfrm>
            <a:off x="793790" y="406384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Untuk citra grayscale, nilai intensitas berkisar antara 0 (hitam) hingga 255 (putih) pada citra 8-bit</a:t>
            </a:r>
            <a:endParaRPr lang="en-US" sz="1550" dirty="0"/>
          </a:p>
        </p:txBody>
      </p:sp>
      <p:sp>
        <p:nvSpPr>
          <p:cNvPr id="6" name="Text 4"/>
          <p:cNvSpPr/>
          <p:nvPr/>
        </p:nvSpPr>
        <p:spPr>
          <a:xfrm>
            <a:off x="793790" y="476833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Histogram intensitas menggambarkan distribusi tingkat keabuan dalam citra</a:t>
            </a:r>
            <a:endParaRPr lang="en-US" sz="1550" dirty="0"/>
          </a:p>
        </p:txBody>
      </p:sp>
      <p:sp>
        <p:nvSpPr>
          <p:cNvPr id="7" name="Text 5"/>
          <p:cNvSpPr/>
          <p:nvPr/>
        </p:nvSpPr>
        <p:spPr>
          <a:xfrm>
            <a:off x="7564874" y="316837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Model Warna</a:t>
            </a:r>
            <a:endParaRPr lang="en-US" sz="1950" dirty="0"/>
          </a:p>
        </p:txBody>
      </p:sp>
      <p:sp>
        <p:nvSpPr>
          <p:cNvPr id="8" name="Text 6"/>
          <p:cNvSpPr/>
          <p:nvPr/>
        </p:nvSpPr>
        <p:spPr>
          <a:xfrm>
            <a:off x="7564874" y="367688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RGB (Red-Green-Blue):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Model aditif yang umum digunakan pada layar digital</a:t>
            </a:r>
            <a:endParaRPr lang="en-US" sz="1550" dirty="0"/>
          </a:p>
        </p:txBody>
      </p:sp>
      <p:sp>
        <p:nvSpPr>
          <p:cNvPr id="9" name="Text 7"/>
          <p:cNvSpPr/>
          <p:nvPr/>
        </p:nvSpPr>
        <p:spPr>
          <a:xfrm>
            <a:off x="7564874" y="438138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CMYK (Cyan-Magenta-Yellow-Key):</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Model subtraktif untuk keperluan pencetakan</a:t>
            </a:r>
            <a:endParaRPr lang="en-US" sz="1550" dirty="0"/>
          </a:p>
        </p:txBody>
      </p:sp>
      <p:sp>
        <p:nvSpPr>
          <p:cNvPr id="10" name="Text 8"/>
          <p:cNvSpPr/>
          <p:nvPr/>
        </p:nvSpPr>
        <p:spPr>
          <a:xfrm>
            <a:off x="7564874" y="508587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HSV (Hue-Saturation-Value):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Model yang memisahkan informasi warna (hue) dari intensitas (value)</a:t>
            </a:r>
            <a:endParaRPr lang="en-US" sz="1550" dirty="0"/>
          </a:p>
        </p:txBody>
      </p:sp>
      <p:sp>
        <p:nvSpPr>
          <p:cNvPr id="11" name="Text 9"/>
          <p:cNvSpPr/>
          <p:nvPr/>
        </p:nvSpPr>
        <p:spPr>
          <a:xfrm>
            <a:off x="7564874" y="579036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Grayscale: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Representasi citra dengan satu kanal intensitas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95043"/>
            <a:ext cx="8037909"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Karakteristik Citra Digital: Format File</a:t>
            </a:r>
            <a:endParaRPr lang="en-US" sz="3900" dirty="0"/>
          </a:p>
        </p:txBody>
      </p:sp>
      <p:sp>
        <p:nvSpPr>
          <p:cNvPr id="3" name="Shape 1"/>
          <p:cNvSpPr/>
          <p:nvPr/>
        </p:nvSpPr>
        <p:spPr>
          <a:xfrm>
            <a:off x="793790" y="2311956"/>
            <a:ext cx="4215289" cy="4622483"/>
          </a:xfrm>
          <a:prstGeom prst="roundRect">
            <a:avLst>
              <a:gd name="adj" fmla="val 1978"/>
            </a:avLst>
          </a:prstGeom>
          <a:solidFill>
            <a:srgbClr val="FFFFFF"/>
          </a:solidFill>
          <a:ln w="22860">
            <a:solidFill>
              <a:srgbClr val="C5D2CF"/>
            </a:solidFill>
            <a:prstDash val="solid"/>
          </a:ln>
        </p:spPr>
      </p:sp>
      <p:sp>
        <p:nvSpPr>
          <p:cNvPr id="4" name="Text 2"/>
          <p:cNvSpPr/>
          <p:nvPr/>
        </p:nvSpPr>
        <p:spPr>
          <a:xfrm>
            <a:off x="1015008" y="25331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Format Lossless</a:t>
            </a:r>
            <a:endParaRPr lang="en-US" sz="1950" dirty="0"/>
          </a:p>
        </p:txBody>
      </p:sp>
      <p:sp>
        <p:nvSpPr>
          <p:cNvPr id="5" name="Text 3"/>
          <p:cNvSpPr/>
          <p:nvPr/>
        </p:nvSpPr>
        <p:spPr>
          <a:xfrm>
            <a:off x="1015008" y="2962394"/>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Format yang mempertahankan semua informasi asli tanpa kompresi yang mengurangi kualitas.</a:t>
            </a:r>
            <a:endParaRPr lang="en-US" sz="1550" dirty="0"/>
          </a:p>
        </p:txBody>
      </p:sp>
      <p:sp>
        <p:nvSpPr>
          <p:cNvPr id="6" name="Text 4"/>
          <p:cNvSpPr/>
          <p:nvPr/>
        </p:nvSpPr>
        <p:spPr>
          <a:xfrm>
            <a:off x="1015008" y="4034076"/>
            <a:ext cx="377285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PNG (Portable Network Graphics):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Mendukung transparansi, ideal untuk grafik web</a:t>
            </a:r>
            <a:endParaRPr lang="en-US" sz="1550" dirty="0"/>
          </a:p>
        </p:txBody>
      </p:sp>
      <p:sp>
        <p:nvSpPr>
          <p:cNvPr id="7" name="Text 5"/>
          <p:cNvSpPr/>
          <p:nvPr/>
        </p:nvSpPr>
        <p:spPr>
          <a:xfrm>
            <a:off x="1015008" y="5056108"/>
            <a:ext cx="377285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TIFF (Tagged Image File Format):</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fleksibel dengan kualitas tinggi untuk pengarsipan</a:t>
            </a:r>
            <a:endParaRPr lang="en-US" sz="1550" dirty="0"/>
          </a:p>
        </p:txBody>
      </p:sp>
      <p:sp>
        <p:nvSpPr>
          <p:cNvPr id="8" name="Text 6"/>
          <p:cNvSpPr/>
          <p:nvPr/>
        </p:nvSpPr>
        <p:spPr>
          <a:xfrm>
            <a:off x="1015008" y="6078141"/>
            <a:ext cx="377285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BMP (Bitmap):</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tanpa kompresi dengan ukuran file besar</a:t>
            </a:r>
            <a:endParaRPr lang="en-US" sz="1550" dirty="0"/>
          </a:p>
        </p:txBody>
      </p:sp>
      <p:sp>
        <p:nvSpPr>
          <p:cNvPr id="9" name="Shape 7"/>
          <p:cNvSpPr/>
          <p:nvPr/>
        </p:nvSpPr>
        <p:spPr>
          <a:xfrm>
            <a:off x="5207437" y="2311956"/>
            <a:ext cx="4215408" cy="4622483"/>
          </a:xfrm>
          <a:prstGeom prst="roundRect">
            <a:avLst>
              <a:gd name="adj" fmla="val 1977"/>
            </a:avLst>
          </a:prstGeom>
          <a:solidFill>
            <a:srgbClr val="FFFFFF"/>
          </a:solidFill>
          <a:ln w="22860">
            <a:solidFill>
              <a:srgbClr val="C5D2CF"/>
            </a:solidFill>
            <a:prstDash val="solid"/>
          </a:ln>
        </p:spPr>
      </p:sp>
      <p:sp>
        <p:nvSpPr>
          <p:cNvPr id="10" name="Text 8"/>
          <p:cNvSpPr/>
          <p:nvPr/>
        </p:nvSpPr>
        <p:spPr>
          <a:xfrm>
            <a:off x="5428655" y="25331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Format Lossy</a:t>
            </a:r>
            <a:endParaRPr lang="en-US" sz="1950" dirty="0"/>
          </a:p>
        </p:txBody>
      </p:sp>
      <p:sp>
        <p:nvSpPr>
          <p:cNvPr id="11" name="Text 9"/>
          <p:cNvSpPr/>
          <p:nvPr/>
        </p:nvSpPr>
        <p:spPr>
          <a:xfrm>
            <a:off x="5428655" y="2962394"/>
            <a:ext cx="3772972"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Format yang menggunakan kompresi dengan mengorbankan beberapa detail untuk mengurangi ukuran file.</a:t>
            </a:r>
            <a:endParaRPr lang="en-US" sz="1550" dirty="0"/>
          </a:p>
        </p:txBody>
      </p:sp>
      <p:sp>
        <p:nvSpPr>
          <p:cNvPr id="12" name="Text 10"/>
          <p:cNvSpPr/>
          <p:nvPr/>
        </p:nvSpPr>
        <p:spPr>
          <a:xfrm>
            <a:off x="5428655" y="4034076"/>
            <a:ext cx="3772972"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JPEG (Joint Photographic Experts Group):</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Kompresi tinggi, ideal untuk foto</a:t>
            </a:r>
            <a:endParaRPr lang="en-US" sz="1550" dirty="0"/>
          </a:p>
        </p:txBody>
      </p:sp>
      <p:sp>
        <p:nvSpPr>
          <p:cNvPr id="13" name="Text 11"/>
          <p:cNvSpPr/>
          <p:nvPr/>
        </p:nvSpPr>
        <p:spPr>
          <a:xfrm>
            <a:off x="5428655" y="5056108"/>
            <a:ext cx="3772972"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WebP:</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modern dengan kompresi lebih baik dari JPEG</a:t>
            </a:r>
            <a:endParaRPr lang="en-US" sz="1550" dirty="0"/>
          </a:p>
        </p:txBody>
      </p:sp>
      <p:sp>
        <p:nvSpPr>
          <p:cNvPr id="14" name="Text 12"/>
          <p:cNvSpPr/>
          <p:nvPr/>
        </p:nvSpPr>
        <p:spPr>
          <a:xfrm>
            <a:off x="5428655" y="5760601"/>
            <a:ext cx="3772972"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JPEG 2000:</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Penyempurnaan JPEG dengan performa kompresi lebih baik</a:t>
            </a:r>
            <a:endParaRPr lang="en-US" sz="1550" dirty="0"/>
          </a:p>
        </p:txBody>
      </p:sp>
      <p:sp>
        <p:nvSpPr>
          <p:cNvPr id="15" name="Shape 13"/>
          <p:cNvSpPr/>
          <p:nvPr/>
        </p:nvSpPr>
        <p:spPr>
          <a:xfrm>
            <a:off x="9621203" y="2311956"/>
            <a:ext cx="4215289" cy="4622483"/>
          </a:xfrm>
          <a:prstGeom prst="roundRect">
            <a:avLst>
              <a:gd name="adj" fmla="val 1978"/>
            </a:avLst>
          </a:prstGeom>
          <a:solidFill>
            <a:srgbClr val="FFFFFF"/>
          </a:solidFill>
          <a:ln w="22860">
            <a:solidFill>
              <a:srgbClr val="C5D2CF"/>
            </a:solidFill>
            <a:prstDash val="solid"/>
          </a:ln>
        </p:spPr>
      </p:sp>
      <p:sp>
        <p:nvSpPr>
          <p:cNvPr id="16" name="Text 14"/>
          <p:cNvSpPr/>
          <p:nvPr/>
        </p:nvSpPr>
        <p:spPr>
          <a:xfrm>
            <a:off x="9842421" y="2533174"/>
            <a:ext cx="3524488"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Format Khusus Computer Vision</a:t>
            </a:r>
            <a:endParaRPr lang="en-US" sz="1950" dirty="0"/>
          </a:p>
        </p:txBody>
      </p:sp>
      <p:sp>
        <p:nvSpPr>
          <p:cNvPr id="17" name="Text 15"/>
          <p:cNvSpPr/>
          <p:nvPr/>
        </p:nvSpPr>
        <p:spPr>
          <a:xfrm>
            <a:off x="9842421" y="2962394"/>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Format yang sering digunakan dalam aplikasi pemrosesan citra dan computer vision.</a:t>
            </a:r>
            <a:endParaRPr lang="en-US" sz="1550" dirty="0"/>
          </a:p>
        </p:txBody>
      </p:sp>
      <p:sp>
        <p:nvSpPr>
          <p:cNvPr id="18" name="Text 16"/>
          <p:cNvSpPr/>
          <p:nvPr/>
        </p:nvSpPr>
        <p:spPr>
          <a:xfrm>
            <a:off x="9842421" y="4034076"/>
            <a:ext cx="377285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OpenEXR:</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dengan dynamic range tinggi untuk aplikasi VFX</a:t>
            </a:r>
            <a:endParaRPr lang="en-US" sz="1550" dirty="0"/>
          </a:p>
        </p:txBody>
      </p:sp>
      <p:sp>
        <p:nvSpPr>
          <p:cNvPr id="19" name="Text 17"/>
          <p:cNvSpPr/>
          <p:nvPr/>
        </p:nvSpPr>
        <p:spPr>
          <a:xfrm>
            <a:off x="9842421" y="4738568"/>
            <a:ext cx="3772853" cy="95261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Raw:</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mentah dari sensor kamera, menyimpan semua informasi sensor</a:t>
            </a:r>
            <a:endParaRPr lang="en-US" sz="1550" dirty="0"/>
          </a:p>
        </p:txBody>
      </p:sp>
      <p:sp>
        <p:nvSpPr>
          <p:cNvPr id="20" name="Text 18"/>
          <p:cNvSpPr/>
          <p:nvPr/>
        </p:nvSpPr>
        <p:spPr>
          <a:xfrm>
            <a:off x="9842421" y="5760601"/>
            <a:ext cx="3772853" cy="635079"/>
          </a:xfrm>
          <a:prstGeom prst="rect">
            <a:avLst/>
          </a:prstGeom>
          <a:noFill/>
          <a:ln/>
        </p:spPr>
        <p:txBody>
          <a:bodyPr wrap="squar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HDF5:</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Format hierarkis untuk menyimpan data citra multidimensi</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779270"/>
            <a:ext cx="10987445"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Penggunaan Python untuk Manipulasi Citra Digital</a:t>
            </a:r>
            <a:endParaRPr lang="en-US" sz="3900" dirty="0"/>
          </a:p>
        </p:txBody>
      </p:sp>
      <p:sp>
        <p:nvSpPr>
          <p:cNvPr id="3" name="Text 1"/>
          <p:cNvSpPr/>
          <p:nvPr/>
        </p:nvSpPr>
        <p:spPr>
          <a:xfrm>
            <a:off x="793790" y="279618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Python menjadi bahasa pemrograman pilihan untuk manipulasi citra karena kemudahan penggunaan dan ketersediaan pustaka yang kaya.</a:t>
            </a:r>
            <a:endParaRPr lang="en-US" sz="1550" dirty="0"/>
          </a:p>
        </p:txBody>
      </p:sp>
      <p:sp>
        <p:nvSpPr>
          <p:cNvPr id="4" name="Shape 2"/>
          <p:cNvSpPr/>
          <p:nvPr/>
        </p:nvSpPr>
        <p:spPr>
          <a:xfrm>
            <a:off x="793790" y="3336965"/>
            <a:ext cx="6422231" cy="3113246"/>
          </a:xfrm>
          <a:prstGeom prst="roundRect">
            <a:avLst>
              <a:gd name="adj" fmla="val 2678"/>
            </a:avLst>
          </a:prstGeom>
          <a:solidFill>
            <a:srgbClr val="DFECE9"/>
          </a:solidFill>
          <a:ln w="7620">
            <a:solidFill>
              <a:srgbClr val="C5D2CF"/>
            </a:solidFill>
            <a:prstDash val="solid"/>
          </a:ln>
        </p:spPr>
      </p:sp>
      <p:sp>
        <p:nvSpPr>
          <p:cNvPr id="5" name="Shape 3"/>
          <p:cNvSpPr/>
          <p:nvPr/>
        </p:nvSpPr>
        <p:spPr>
          <a:xfrm>
            <a:off x="999768" y="3542943"/>
            <a:ext cx="595313" cy="595313"/>
          </a:xfrm>
          <a:prstGeom prst="roundRect">
            <a:avLst>
              <a:gd name="adj" fmla="val 15358451"/>
            </a:avLst>
          </a:prstGeom>
          <a:solidFill>
            <a:srgbClr val="437066"/>
          </a:solidFill>
          <a:ln/>
        </p:spPr>
      </p:sp>
      <p:pic>
        <p:nvPicPr>
          <p:cNvPr id="6" name="Image 0" descr="preencoded.png">    </p:cNvPr>
          <p:cNvPicPr>
            <a:picLocks noChangeAspect="1"/>
          </p:cNvPicPr>
          <p:nvPr/>
        </p:nvPicPr>
        <p:blipFill>
          <a:blip r:embed="rId1"/>
          <a:stretch>
            <a:fillRect/>
          </a:stretch>
        </p:blipFill>
        <p:spPr>
          <a:xfrm>
            <a:off x="1163479" y="3673078"/>
            <a:ext cx="267891" cy="334923"/>
          </a:xfrm>
          <a:prstGeom prst="rect">
            <a:avLst/>
          </a:prstGeom>
        </p:spPr>
      </p:pic>
      <p:sp>
        <p:nvSpPr>
          <p:cNvPr id="7" name="Text 4"/>
          <p:cNvSpPr/>
          <p:nvPr/>
        </p:nvSpPr>
        <p:spPr>
          <a:xfrm>
            <a:off x="999768" y="433661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Pustaka Utama</a:t>
            </a:r>
            <a:endParaRPr lang="en-US" sz="1950" dirty="0"/>
          </a:p>
        </p:txBody>
      </p:sp>
      <p:sp>
        <p:nvSpPr>
          <p:cNvPr id="8" name="Text 5"/>
          <p:cNvSpPr/>
          <p:nvPr/>
        </p:nvSpPr>
        <p:spPr>
          <a:xfrm>
            <a:off x="999768" y="4765834"/>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OpenCV:</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Pustaka komprehensif untuk computer vision</a:t>
            </a:r>
            <a:endParaRPr lang="en-US" sz="1550" dirty="0"/>
          </a:p>
        </p:txBody>
      </p:sp>
      <p:sp>
        <p:nvSpPr>
          <p:cNvPr id="9" name="Text 6"/>
          <p:cNvSpPr/>
          <p:nvPr/>
        </p:nvSpPr>
        <p:spPr>
          <a:xfrm>
            <a:off x="999768" y="5152787"/>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Pillow (PIL):</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Pustaka untuk manipulasi citra dasar</a:t>
            </a:r>
            <a:endParaRPr lang="en-US" sz="1550" dirty="0"/>
          </a:p>
        </p:txBody>
      </p:sp>
      <p:sp>
        <p:nvSpPr>
          <p:cNvPr id="10" name="Text 7"/>
          <p:cNvSpPr/>
          <p:nvPr/>
        </p:nvSpPr>
        <p:spPr>
          <a:xfrm>
            <a:off x="999768" y="5539740"/>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scikit-image:</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Algoritma pengolahan citra berbasis SciPy</a:t>
            </a:r>
            <a:endParaRPr lang="en-US" sz="1550" dirty="0"/>
          </a:p>
        </p:txBody>
      </p:sp>
      <p:sp>
        <p:nvSpPr>
          <p:cNvPr id="11" name="Text 8"/>
          <p:cNvSpPr/>
          <p:nvPr/>
        </p:nvSpPr>
        <p:spPr>
          <a:xfrm>
            <a:off x="999768" y="5926693"/>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2C3249"/>
                </a:solidFill>
                <a:latin typeface="Martel Sans" pitchFamily="34" charset="0"/>
                <a:ea typeface="Martel Sans" pitchFamily="34" charset="-122"/>
                <a:cs typeface="Martel Sans" pitchFamily="34" charset="-120"/>
              </a:rPr>
              <a:t>NumPy:</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Dasar untuk operasi matriks dan array</a:t>
            </a:r>
            <a:endParaRPr lang="en-US" sz="1550" dirty="0"/>
          </a:p>
        </p:txBody>
      </p:sp>
      <p:sp>
        <p:nvSpPr>
          <p:cNvPr id="12" name="Shape 9"/>
          <p:cNvSpPr/>
          <p:nvPr/>
        </p:nvSpPr>
        <p:spPr>
          <a:xfrm>
            <a:off x="7414379" y="3336965"/>
            <a:ext cx="6422231" cy="3113246"/>
          </a:xfrm>
          <a:prstGeom prst="roundRect">
            <a:avLst>
              <a:gd name="adj" fmla="val 2678"/>
            </a:avLst>
          </a:prstGeom>
          <a:solidFill>
            <a:srgbClr val="DFECE9"/>
          </a:solidFill>
          <a:ln w="7620">
            <a:solidFill>
              <a:srgbClr val="C5D2CF"/>
            </a:solidFill>
            <a:prstDash val="solid"/>
          </a:ln>
        </p:spPr>
      </p:sp>
      <p:sp>
        <p:nvSpPr>
          <p:cNvPr id="13" name="Shape 10"/>
          <p:cNvSpPr/>
          <p:nvPr/>
        </p:nvSpPr>
        <p:spPr>
          <a:xfrm>
            <a:off x="7620357" y="3542943"/>
            <a:ext cx="595313" cy="595313"/>
          </a:xfrm>
          <a:prstGeom prst="roundRect">
            <a:avLst>
              <a:gd name="adj" fmla="val 15358451"/>
            </a:avLst>
          </a:prstGeom>
          <a:solidFill>
            <a:srgbClr val="437066"/>
          </a:solidFill>
          <a:ln/>
        </p:spPr>
      </p:sp>
      <p:pic>
        <p:nvPicPr>
          <p:cNvPr id="14" name="Image 1" descr="preencoded.png">    </p:cNvPr>
          <p:cNvPicPr>
            <a:picLocks noChangeAspect="1"/>
          </p:cNvPicPr>
          <p:nvPr/>
        </p:nvPicPr>
        <p:blipFill>
          <a:blip r:embed="rId2"/>
          <a:stretch>
            <a:fillRect/>
          </a:stretch>
        </p:blipFill>
        <p:spPr>
          <a:xfrm>
            <a:off x="7784068" y="3673078"/>
            <a:ext cx="267891" cy="334923"/>
          </a:xfrm>
          <a:prstGeom prst="rect">
            <a:avLst/>
          </a:prstGeom>
        </p:spPr>
      </p:pic>
      <p:sp>
        <p:nvSpPr>
          <p:cNvPr id="15" name="Text 11"/>
          <p:cNvSpPr/>
          <p:nvPr/>
        </p:nvSpPr>
        <p:spPr>
          <a:xfrm>
            <a:off x="7620357" y="433661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Keunggulan Python</a:t>
            </a:r>
            <a:endParaRPr lang="en-US" sz="1950" dirty="0"/>
          </a:p>
        </p:txBody>
      </p:sp>
      <p:sp>
        <p:nvSpPr>
          <p:cNvPr id="16" name="Text 12"/>
          <p:cNvSpPr/>
          <p:nvPr/>
        </p:nvSpPr>
        <p:spPr>
          <a:xfrm>
            <a:off x="7620357" y="4765834"/>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Sintaks yang mudah dipahami dan dipelajari</a:t>
            </a:r>
            <a:endParaRPr lang="en-US" sz="1550" dirty="0"/>
          </a:p>
        </p:txBody>
      </p:sp>
      <p:sp>
        <p:nvSpPr>
          <p:cNvPr id="17" name="Text 13"/>
          <p:cNvSpPr/>
          <p:nvPr/>
        </p:nvSpPr>
        <p:spPr>
          <a:xfrm>
            <a:off x="7620357" y="5152787"/>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Ekosistem data science yang kuat</a:t>
            </a:r>
            <a:endParaRPr lang="en-US" sz="1550" dirty="0"/>
          </a:p>
        </p:txBody>
      </p:sp>
      <p:sp>
        <p:nvSpPr>
          <p:cNvPr id="18" name="Text 14"/>
          <p:cNvSpPr/>
          <p:nvPr/>
        </p:nvSpPr>
        <p:spPr>
          <a:xfrm>
            <a:off x="7620357" y="5539740"/>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Integrasi dengan teknologi machine learning</a:t>
            </a:r>
            <a:endParaRPr lang="en-US" sz="1550" dirty="0"/>
          </a:p>
        </p:txBody>
      </p:sp>
      <p:sp>
        <p:nvSpPr>
          <p:cNvPr id="19" name="Text 15"/>
          <p:cNvSpPr/>
          <p:nvPr/>
        </p:nvSpPr>
        <p:spPr>
          <a:xfrm>
            <a:off x="7620357" y="5926693"/>
            <a:ext cx="601027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Komunitas yang aktif dan dokumentasi lengkap</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24307"/>
            <a:ext cx="940927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Instalasi dan Persiapan Lingkungan Python</a:t>
            </a:r>
            <a:endParaRPr lang="en-US" sz="3900" dirty="0"/>
          </a:p>
        </p:txBody>
      </p:sp>
      <p:sp>
        <p:nvSpPr>
          <p:cNvPr id="3" name="Text 1"/>
          <p:cNvSpPr/>
          <p:nvPr/>
        </p:nvSpPr>
        <p:spPr>
          <a:xfrm>
            <a:off x="793790" y="224039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Instalasi Pustaka</a:t>
            </a:r>
            <a:endParaRPr lang="en-US" sz="1950" dirty="0"/>
          </a:p>
        </p:txBody>
      </p:sp>
      <p:sp>
        <p:nvSpPr>
          <p:cNvPr id="4" name="Shape 2"/>
          <p:cNvSpPr/>
          <p:nvPr/>
        </p:nvSpPr>
        <p:spPr>
          <a:xfrm>
            <a:off x="793790" y="2773799"/>
            <a:ext cx="6279356" cy="3473053"/>
          </a:xfrm>
          <a:prstGeom prst="roundRect">
            <a:avLst>
              <a:gd name="adj" fmla="val 2400"/>
            </a:avLst>
          </a:prstGeom>
          <a:solidFill>
            <a:srgbClr val="F2F2F2"/>
          </a:solidFill>
          <a:ln/>
        </p:spPr>
      </p:sp>
      <p:sp>
        <p:nvSpPr>
          <p:cNvPr id="5" name="Shape 3"/>
          <p:cNvSpPr/>
          <p:nvPr/>
        </p:nvSpPr>
        <p:spPr>
          <a:xfrm>
            <a:off x="783908" y="2773799"/>
            <a:ext cx="6299121" cy="3473053"/>
          </a:xfrm>
          <a:prstGeom prst="roundRect">
            <a:avLst>
              <a:gd name="adj" fmla="val 857"/>
            </a:avLst>
          </a:prstGeom>
          <a:solidFill>
            <a:srgbClr val="F2F2F2"/>
          </a:solidFill>
          <a:ln/>
        </p:spPr>
      </p:sp>
      <p:sp>
        <p:nvSpPr>
          <p:cNvPr id="6" name="Text 4"/>
          <p:cNvSpPr/>
          <p:nvPr/>
        </p:nvSpPr>
        <p:spPr>
          <a:xfrm>
            <a:off x="982266" y="2922627"/>
            <a:ext cx="5902404" cy="3175397"/>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F2F2F2"/>
                </a:highlight>
                <a:latin typeface="Consolas" pitchFamily="34" charset="0"/>
                <a:ea typeface="Consolas" pitchFamily="34" charset="-122"/>
                <a:cs typeface="Consolas" pitchFamily="34" charset="-120"/>
              </a:rPr>
              <a:t># Menggunakan pippip install numpypip install opencv-pythonpip install pillowpip install scikit-imagepip install matplotlib# Menggunakan condaconda install numpy opencv pillow scikit-image matplotlib</a:t>
            </a:r>
            <a:endParaRPr lang="en-US" sz="1550" dirty="0"/>
          </a:p>
        </p:txBody>
      </p:sp>
      <p:sp>
        <p:nvSpPr>
          <p:cNvPr id="7" name="Text 5"/>
          <p:cNvSpPr/>
          <p:nvPr/>
        </p:nvSpPr>
        <p:spPr>
          <a:xfrm>
            <a:off x="7564874" y="224039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Mengimpor Pustaka</a:t>
            </a:r>
            <a:endParaRPr lang="en-US" sz="1950" dirty="0"/>
          </a:p>
        </p:txBody>
      </p:sp>
      <p:sp>
        <p:nvSpPr>
          <p:cNvPr id="8" name="Shape 6"/>
          <p:cNvSpPr/>
          <p:nvPr/>
        </p:nvSpPr>
        <p:spPr>
          <a:xfrm>
            <a:off x="7564874" y="2773799"/>
            <a:ext cx="6279356" cy="4108133"/>
          </a:xfrm>
          <a:prstGeom prst="roundRect">
            <a:avLst>
              <a:gd name="adj" fmla="val 2029"/>
            </a:avLst>
          </a:prstGeom>
          <a:solidFill>
            <a:srgbClr val="F2F2F2"/>
          </a:solidFill>
          <a:ln/>
        </p:spPr>
      </p:sp>
      <p:sp>
        <p:nvSpPr>
          <p:cNvPr id="9" name="Shape 7"/>
          <p:cNvSpPr/>
          <p:nvPr/>
        </p:nvSpPr>
        <p:spPr>
          <a:xfrm>
            <a:off x="7554992" y="2773799"/>
            <a:ext cx="6299121" cy="4108133"/>
          </a:xfrm>
          <a:prstGeom prst="roundRect">
            <a:avLst>
              <a:gd name="adj" fmla="val 725"/>
            </a:avLst>
          </a:prstGeom>
          <a:solidFill>
            <a:srgbClr val="F2F2F2"/>
          </a:solidFill>
          <a:ln/>
        </p:spPr>
      </p:sp>
      <p:sp>
        <p:nvSpPr>
          <p:cNvPr id="10" name="Text 8"/>
          <p:cNvSpPr/>
          <p:nvPr/>
        </p:nvSpPr>
        <p:spPr>
          <a:xfrm>
            <a:off x="7753350" y="2922627"/>
            <a:ext cx="5902404" cy="3810476"/>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highlight>
                  <a:srgbClr val="F2F2F2"/>
                </a:highlight>
                <a:latin typeface="Consolas" pitchFamily="34" charset="0"/>
                <a:ea typeface="Consolas" pitchFamily="34" charset="-122"/>
                <a:cs typeface="Consolas" pitchFamily="34" charset="-120"/>
              </a:rPr>
              <a:t># Mengimpor pustaka yang diperlukanimport numpy as npimport cv2from PIL import Image, ImageFilterimport skimagefrom matplotlib import pyplot as plt# Verifikasi versiprint(f"OpenCV version: {cv2.__version__}")print(f"PIL version: {Image.__version__}")print(f"scikit-image version: {skimage.__version__}")</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60690" y="525066"/>
            <a:ext cx="9741098" cy="564594"/>
          </a:xfrm>
          <a:prstGeom prst="rect">
            <a:avLst/>
          </a:prstGeom>
          <a:noFill/>
          <a:ln/>
        </p:spPr>
        <p:txBody>
          <a:bodyPr wrap="none" lIns="0" tIns="0" rIns="0" bIns="0" rtlCol="0" anchor="t"/>
          <a:lstStyle/>
          <a:p>
            <a:pPr algn="l" indent="0" marL="0">
              <a:lnSpc>
                <a:spcPts val="4400"/>
              </a:lnSpc>
              <a:buNone/>
            </a:pPr>
            <a:r>
              <a:rPr lang="en-US" sz="3550" dirty="0">
                <a:solidFill>
                  <a:srgbClr val="272D45"/>
                </a:solidFill>
                <a:latin typeface="Kanit Light" pitchFamily="34" charset="0"/>
                <a:ea typeface="Kanit Light" pitchFamily="34" charset="-122"/>
                <a:cs typeface="Kanit Light" pitchFamily="34" charset="-120"/>
              </a:rPr>
              <a:t>Membaca dan Menampilkan Citra dengan Python</a:t>
            </a:r>
            <a:endParaRPr lang="en-US" sz="3550" dirty="0"/>
          </a:p>
        </p:txBody>
      </p:sp>
      <p:sp>
        <p:nvSpPr>
          <p:cNvPr id="3" name="Text 1"/>
          <p:cNvSpPr/>
          <p:nvPr/>
        </p:nvSpPr>
        <p:spPr>
          <a:xfrm>
            <a:off x="760690" y="1541264"/>
            <a:ext cx="2262664" cy="282297"/>
          </a:xfrm>
          <a:prstGeom prst="rect">
            <a:avLst/>
          </a:prstGeom>
          <a:noFill/>
          <a:ln/>
        </p:spPr>
        <p:txBody>
          <a:bodyPr wrap="none" lIns="0" tIns="0" rIns="0" bIns="0" rtlCol="0" anchor="t"/>
          <a:lstStyle/>
          <a:p>
            <a:pPr algn="l" indent="0" marL="0">
              <a:lnSpc>
                <a:spcPts val="2200"/>
              </a:lnSpc>
              <a:buNone/>
            </a:pPr>
            <a:r>
              <a:rPr lang="en-US" sz="1750" dirty="0">
                <a:solidFill>
                  <a:srgbClr val="272D45"/>
                </a:solidFill>
                <a:latin typeface="Kanit Light" pitchFamily="34" charset="0"/>
                <a:ea typeface="Kanit Light" pitchFamily="34" charset="-122"/>
                <a:cs typeface="Kanit Light" pitchFamily="34" charset="-120"/>
              </a:rPr>
              <a:t>Menggunakan OpenCV</a:t>
            </a:r>
            <a:endParaRPr lang="en-US" sz="1750" dirty="0"/>
          </a:p>
        </p:txBody>
      </p:sp>
      <p:sp>
        <p:nvSpPr>
          <p:cNvPr id="4" name="Shape 2"/>
          <p:cNvSpPr/>
          <p:nvPr/>
        </p:nvSpPr>
        <p:spPr>
          <a:xfrm>
            <a:off x="760690" y="2026801"/>
            <a:ext cx="6334125" cy="5185410"/>
          </a:xfrm>
          <a:prstGeom prst="roundRect">
            <a:avLst>
              <a:gd name="adj" fmla="val 1464"/>
            </a:avLst>
          </a:prstGeom>
          <a:solidFill>
            <a:srgbClr val="F2F2F2"/>
          </a:solidFill>
          <a:ln/>
        </p:spPr>
      </p:sp>
      <p:sp>
        <p:nvSpPr>
          <p:cNvPr id="5" name="Shape 3"/>
          <p:cNvSpPr/>
          <p:nvPr/>
        </p:nvSpPr>
        <p:spPr>
          <a:xfrm>
            <a:off x="751761" y="2026801"/>
            <a:ext cx="6351984" cy="5185410"/>
          </a:xfrm>
          <a:prstGeom prst="roundRect">
            <a:avLst>
              <a:gd name="adj" fmla="val 523"/>
            </a:avLst>
          </a:prstGeom>
          <a:solidFill>
            <a:srgbClr val="F2F2F2"/>
          </a:solidFill>
          <a:ln/>
        </p:spPr>
      </p:sp>
      <p:sp>
        <p:nvSpPr>
          <p:cNvPr id="6" name="Text 4"/>
          <p:cNvSpPr/>
          <p:nvPr/>
        </p:nvSpPr>
        <p:spPr>
          <a:xfrm>
            <a:off x="932378" y="2162294"/>
            <a:ext cx="5990749" cy="4914424"/>
          </a:xfrm>
          <a:prstGeom prst="rect">
            <a:avLst/>
          </a:prstGeom>
          <a:noFill/>
          <a:ln/>
        </p:spPr>
        <p:txBody>
          <a:bodyPr wrap="square" lIns="0" tIns="0" rIns="0" bIns="0" rtlCol="0" anchor="t"/>
          <a:lstStyle/>
          <a:p>
            <a:pPr algn="l" indent="0" marL="0">
              <a:lnSpc>
                <a:spcPts val="2250"/>
              </a:lnSpc>
              <a:buNone/>
            </a:pPr>
            <a:r>
              <a:rPr lang="en-US" sz="1400" dirty="0">
                <a:solidFill>
                  <a:srgbClr val="2C3249"/>
                </a:solidFill>
                <a:highlight>
                  <a:srgbClr val="F2F2F2"/>
                </a:highlight>
                <a:latin typeface="Consolas" pitchFamily="34" charset="0"/>
                <a:ea typeface="Consolas" pitchFamily="34" charset="-122"/>
                <a:cs typeface="Consolas" pitchFamily="34" charset="-120"/>
              </a:rPr>
              <a:t>import cv2import matplotlib.pyplot as plt# Membaca citraimg = cv2.imread('gambar.jpg')# OpenCV membaca dalam format BGR# Konversi ke RGB untuk ditampilkan dengan matplotlibimg_rgb = cv2.cvtColor(img, cv2.COLOR_BGR2RGB)# Menampilkan citraplt.figure(figsize=(8, 6))plt.imshow(img_rgb)plt.title('Citra yang Dibaca')plt.axis('off')plt.show()</a:t>
            </a:r>
            <a:endParaRPr lang="en-US" sz="1400" dirty="0"/>
          </a:p>
        </p:txBody>
      </p:sp>
      <p:sp>
        <p:nvSpPr>
          <p:cNvPr id="7" name="Text 5"/>
          <p:cNvSpPr/>
          <p:nvPr/>
        </p:nvSpPr>
        <p:spPr>
          <a:xfrm>
            <a:off x="7543205" y="1541264"/>
            <a:ext cx="2530435" cy="282297"/>
          </a:xfrm>
          <a:prstGeom prst="rect">
            <a:avLst/>
          </a:prstGeom>
          <a:noFill/>
          <a:ln/>
        </p:spPr>
        <p:txBody>
          <a:bodyPr wrap="none" lIns="0" tIns="0" rIns="0" bIns="0" rtlCol="0" anchor="t"/>
          <a:lstStyle/>
          <a:p>
            <a:pPr algn="l" indent="0" marL="0">
              <a:lnSpc>
                <a:spcPts val="2200"/>
              </a:lnSpc>
              <a:buNone/>
            </a:pPr>
            <a:r>
              <a:rPr lang="en-US" sz="1750" dirty="0">
                <a:solidFill>
                  <a:srgbClr val="272D45"/>
                </a:solidFill>
                <a:latin typeface="Kanit Light" pitchFamily="34" charset="0"/>
                <a:ea typeface="Kanit Light" pitchFamily="34" charset="-122"/>
                <a:cs typeface="Kanit Light" pitchFamily="34" charset="-120"/>
              </a:rPr>
              <a:t>Menggunakan Pillow (PIL)</a:t>
            </a:r>
            <a:endParaRPr lang="en-US" sz="1750" dirty="0"/>
          </a:p>
        </p:txBody>
      </p:sp>
      <p:sp>
        <p:nvSpPr>
          <p:cNvPr id="8" name="Shape 6"/>
          <p:cNvSpPr/>
          <p:nvPr/>
        </p:nvSpPr>
        <p:spPr>
          <a:xfrm>
            <a:off x="7543205" y="2026801"/>
            <a:ext cx="6334125" cy="5474494"/>
          </a:xfrm>
          <a:prstGeom prst="roundRect">
            <a:avLst>
              <a:gd name="adj" fmla="val 1386"/>
            </a:avLst>
          </a:prstGeom>
          <a:solidFill>
            <a:srgbClr val="F2F2F2"/>
          </a:solidFill>
          <a:ln/>
        </p:spPr>
      </p:sp>
      <p:sp>
        <p:nvSpPr>
          <p:cNvPr id="9" name="Shape 7"/>
          <p:cNvSpPr/>
          <p:nvPr/>
        </p:nvSpPr>
        <p:spPr>
          <a:xfrm>
            <a:off x="7534275" y="2026801"/>
            <a:ext cx="6351984" cy="5474494"/>
          </a:xfrm>
          <a:prstGeom prst="roundRect">
            <a:avLst>
              <a:gd name="adj" fmla="val 495"/>
            </a:avLst>
          </a:prstGeom>
          <a:solidFill>
            <a:srgbClr val="F2F2F2"/>
          </a:solidFill>
          <a:ln/>
        </p:spPr>
      </p:sp>
      <p:sp>
        <p:nvSpPr>
          <p:cNvPr id="10" name="Text 8"/>
          <p:cNvSpPr/>
          <p:nvPr/>
        </p:nvSpPr>
        <p:spPr>
          <a:xfrm>
            <a:off x="7714893" y="2162294"/>
            <a:ext cx="5990749" cy="5203508"/>
          </a:xfrm>
          <a:prstGeom prst="rect">
            <a:avLst/>
          </a:prstGeom>
          <a:noFill/>
          <a:ln/>
        </p:spPr>
        <p:txBody>
          <a:bodyPr wrap="square" lIns="0" tIns="0" rIns="0" bIns="0" rtlCol="0" anchor="t"/>
          <a:lstStyle/>
          <a:p>
            <a:pPr algn="l" indent="0" marL="0">
              <a:lnSpc>
                <a:spcPts val="2250"/>
              </a:lnSpc>
              <a:buNone/>
            </a:pPr>
            <a:r>
              <a:rPr lang="en-US" sz="1400" dirty="0">
                <a:solidFill>
                  <a:srgbClr val="2C3249"/>
                </a:solidFill>
                <a:highlight>
                  <a:srgbClr val="F2F2F2"/>
                </a:highlight>
                <a:latin typeface="Consolas" pitchFamily="34" charset="0"/>
                <a:ea typeface="Consolas" pitchFamily="34" charset="-122"/>
                <a:cs typeface="Consolas" pitchFamily="34" charset="-120"/>
              </a:rPr>
              <a:t>from PIL import Imageimport matplotlib.pyplot as plt# Membaca citraimg = Image.open('gambar.jpg')# Menampilkan citraplt.figure(figsize=(8, 6))plt.imshow(img)plt.title('Citra yang Dibaca dengan PIL')plt.axis('off')plt.show()# Informasi citraprint(f"Format: {img.format}")print(f"Mode: {img.mode}")print(f"Ukuran: {img.size}")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561499"/>
            <a:ext cx="4571643"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Mengekstrak Metadata Citra</a:t>
            </a:r>
            <a:endParaRPr lang="en-US" sz="2900" dirty="0"/>
          </a:p>
        </p:txBody>
      </p:sp>
      <p:sp>
        <p:nvSpPr>
          <p:cNvPr id="3" name="Text 1"/>
          <p:cNvSpPr/>
          <p:nvPr/>
        </p:nvSpPr>
        <p:spPr>
          <a:xfrm>
            <a:off x="793790" y="1324332"/>
            <a:ext cx="13042821" cy="238125"/>
          </a:xfrm>
          <a:prstGeom prst="rect">
            <a:avLst/>
          </a:prstGeom>
          <a:noFill/>
          <a:ln/>
        </p:spPr>
        <p:txBody>
          <a:bodyPr wrap="non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Metadata citra memberikan informasi tambahan tentang citra seperti waktu pengambilan, pengaturan kamera, dan lokasi geografis.</a:t>
            </a:r>
            <a:endParaRPr lang="en-US" sz="1150" dirty="0"/>
          </a:p>
        </p:txBody>
      </p:sp>
      <p:sp>
        <p:nvSpPr>
          <p:cNvPr id="4" name="Shape 2"/>
          <p:cNvSpPr/>
          <p:nvPr/>
        </p:nvSpPr>
        <p:spPr>
          <a:xfrm>
            <a:off x="793790" y="1729859"/>
            <a:ext cx="13042821" cy="5938123"/>
          </a:xfrm>
          <a:prstGeom prst="roundRect">
            <a:avLst>
              <a:gd name="adj" fmla="val 1053"/>
            </a:avLst>
          </a:prstGeom>
          <a:solidFill>
            <a:srgbClr val="F2F2F2"/>
          </a:solidFill>
          <a:ln/>
        </p:spPr>
      </p:sp>
      <p:sp>
        <p:nvSpPr>
          <p:cNvPr id="5" name="Shape 3"/>
          <p:cNvSpPr/>
          <p:nvPr/>
        </p:nvSpPr>
        <p:spPr>
          <a:xfrm>
            <a:off x="786408" y="1729859"/>
            <a:ext cx="13057584" cy="5938123"/>
          </a:xfrm>
          <a:prstGeom prst="roundRect">
            <a:avLst>
              <a:gd name="adj" fmla="val 376"/>
            </a:avLst>
          </a:prstGeom>
          <a:solidFill>
            <a:srgbClr val="F2F2F2"/>
          </a:solidFill>
          <a:ln/>
        </p:spPr>
      </p:sp>
      <p:sp>
        <p:nvSpPr>
          <p:cNvPr id="6" name="Text 4"/>
          <p:cNvSpPr/>
          <p:nvPr/>
        </p:nvSpPr>
        <p:spPr>
          <a:xfrm>
            <a:off x="935236" y="1841421"/>
            <a:ext cx="12759928" cy="571500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highlight>
                  <a:srgbClr val="F2F2F2"/>
                </a:highlight>
                <a:latin typeface="Consolas" pitchFamily="34" charset="0"/>
                <a:ea typeface="Consolas" pitchFamily="34" charset="-122"/>
                <a:cs typeface="Consolas" pitchFamily="34" charset="-120"/>
              </a:rPr>
              <a:t>from PIL import Imagefrom PIL.ExifTags import TAGSdef extract_exif(image_path): img = Image.open(image_path) exif_data = {}  if hasattr(img, '_getexif'): exif_info = img._getexif() if exif_info: for tag, value in exif_info.items(): decoded = TAGS.get(tag, tag) exif_data[decoded] = value  return exif_data# Mengekstrak metadatametadata = extract_exif('foto.jpg')# Menampilkan metadata pentingfor key, value in metadata.items(): if key in ['DateTimeOriginal', 'Make', 'Model', 'ExposureTime', 'FNumber', 'ISOSpeedRatings']: print(f"{key}: {value}")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69620" y="530781"/>
            <a:ext cx="5663208" cy="390763"/>
          </a:xfrm>
          <a:prstGeom prst="rect">
            <a:avLst/>
          </a:prstGeom>
          <a:noFill/>
          <a:ln/>
        </p:spPr>
        <p:txBody>
          <a:bodyPr wrap="none" lIns="0" tIns="0" rIns="0" bIns="0" rtlCol="0" anchor="t"/>
          <a:lstStyle/>
          <a:p>
            <a:pPr algn="l" indent="0" marL="0">
              <a:lnSpc>
                <a:spcPts val="3050"/>
              </a:lnSpc>
              <a:buNone/>
            </a:pPr>
            <a:r>
              <a:rPr lang="en-US" sz="2450" dirty="0">
                <a:solidFill>
                  <a:srgbClr val="272D45"/>
                </a:solidFill>
                <a:latin typeface="Kanit Light" pitchFamily="34" charset="0"/>
                <a:ea typeface="Kanit Light" pitchFamily="34" charset="-122"/>
                <a:cs typeface="Kanit Light" pitchFamily="34" charset="-120"/>
              </a:rPr>
              <a:t>Mengakses dan Memanipulasi Nilai Piksel</a:t>
            </a:r>
            <a:endParaRPr lang="en-US" sz="2450" dirty="0"/>
          </a:p>
        </p:txBody>
      </p:sp>
      <p:sp>
        <p:nvSpPr>
          <p:cNvPr id="3" name="Text 1"/>
          <p:cNvSpPr/>
          <p:nvPr/>
        </p:nvSpPr>
        <p:spPr>
          <a:xfrm>
            <a:off x="769620" y="1234083"/>
            <a:ext cx="2659261" cy="195382"/>
          </a:xfrm>
          <a:prstGeom prst="rect">
            <a:avLst/>
          </a:prstGeom>
          <a:noFill/>
          <a:ln/>
        </p:spPr>
        <p:txBody>
          <a:bodyPr wrap="none" lIns="0" tIns="0" rIns="0" bIns="0" rtlCol="0" anchor="t"/>
          <a:lstStyle/>
          <a:p>
            <a:pPr algn="l" indent="0" marL="0">
              <a:lnSpc>
                <a:spcPts val="1500"/>
              </a:lnSpc>
              <a:buNone/>
            </a:pPr>
            <a:r>
              <a:rPr lang="en-US" sz="1200" dirty="0">
                <a:solidFill>
                  <a:srgbClr val="272D45"/>
                </a:solidFill>
                <a:latin typeface="Kanit Light" pitchFamily="34" charset="0"/>
                <a:ea typeface="Kanit Light" pitchFamily="34" charset="-122"/>
                <a:cs typeface="Kanit Light" pitchFamily="34" charset="-120"/>
              </a:rPr>
              <a:t>Menggunakan NumPy dengan OpenCV</a:t>
            </a:r>
            <a:endParaRPr lang="en-US" sz="1200" dirty="0"/>
          </a:p>
        </p:txBody>
      </p:sp>
      <p:sp>
        <p:nvSpPr>
          <p:cNvPr id="4" name="Shape 2"/>
          <p:cNvSpPr/>
          <p:nvPr/>
        </p:nvSpPr>
        <p:spPr>
          <a:xfrm>
            <a:off x="769620" y="1570077"/>
            <a:ext cx="6393061" cy="5588079"/>
          </a:xfrm>
          <a:prstGeom prst="roundRect">
            <a:avLst>
              <a:gd name="adj" fmla="val 940"/>
            </a:avLst>
          </a:prstGeom>
          <a:solidFill>
            <a:srgbClr val="F2F2F2"/>
          </a:solidFill>
          <a:ln/>
        </p:spPr>
      </p:sp>
      <p:sp>
        <p:nvSpPr>
          <p:cNvPr id="5" name="Shape 3"/>
          <p:cNvSpPr/>
          <p:nvPr/>
        </p:nvSpPr>
        <p:spPr>
          <a:xfrm>
            <a:off x="763429" y="1570077"/>
            <a:ext cx="6405443" cy="5588079"/>
          </a:xfrm>
          <a:prstGeom prst="roundRect">
            <a:avLst>
              <a:gd name="adj" fmla="val 336"/>
            </a:avLst>
          </a:prstGeom>
          <a:solidFill>
            <a:srgbClr val="F2F2F2"/>
          </a:solidFill>
          <a:ln/>
        </p:spPr>
      </p:sp>
      <p:sp>
        <p:nvSpPr>
          <p:cNvPr id="6" name="Text 4"/>
          <p:cNvSpPr/>
          <p:nvPr/>
        </p:nvSpPr>
        <p:spPr>
          <a:xfrm>
            <a:off x="888444" y="1663779"/>
            <a:ext cx="6155412" cy="5400675"/>
          </a:xfrm>
          <a:prstGeom prst="rect">
            <a:avLst/>
          </a:prstGeom>
          <a:noFill/>
          <a:ln/>
        </p:spPr>
        <p:txBody>
          <a:bodyPr wrap="square" lIns="0" tIns="0" rIns="0" bIns="0" rtlCol="0" anchor="t"/>
          <a:lstStyle/>
          <a:p>
            <a:pPr algn="l" indent="0" marL="0">
              <a:lnSpc>
                <a:spcPts val="1550"/>
              </a:lnSpc>
              <a:buNone/>
            </a:pPr>
            <a:r>
              <a:rPr lang="en-US" sz="950" dirty="0">
                <a:solidFill>
                  <a:srgbClr val="2C3249"/>
                </a:solidFill>
                <a:highlight>
                  <a:srgbClr val="F2F2F2"/>
                </a:highlight>
                <a:latin typeface="Consolas" pitchFamily="34" charset="0"/>
                <a:ea typeface="Consolas" pitchFamily="34" charset="-122"/>
                <a:cs typeface="Consolas" pitchFamily="34" charset="-120"/>
              </a:rPr>
              <a:t>import cv2import numpy as np# Membaca citra grayscaleimg = cv2.imread('gambar.jpg', cv2.IMREAD_GRAYSCALE)# Mendapatkan nilai piksel pada koordinat tertentux, y = 100, 150pixel_value = img[y, x]print(f"Nilai piksel pada ({x},{y}): {pixel_value}")# Mengubah nilai pikselimg[y, x] = 255  # mengubah menjadi putih# Mengakses dan mengubah area pikselroi = img[50:100, 50:100]  # Region of Interestimg[50:100, 50:100] = 0  # mengubah area menjadi hitam# Statistik nilai pikselmin_val = np.min(img)max_val = np.max(img)mean_val = np.mean(img)std_val = np.std(img)print(f"Min: {min_val}, Max: {max_val}")print(f"Mean: {mean_val:.2f}, Std: {std_val:.2f}")</a:t>
            </a:r>
            <a:endParaRPr lang="en-US" sz="950" dirty="0"/>
          </a:p>
        </p:txBody>
      </p:sp>
      <p:sp>
        <p:nvSpPr>
          <p:cNvPr id="7" name="Text 5"/>
          <p:cNvSpPr/>
          <p:nvPr/>
        </p:nvSpPr>
        <p:spPr>
          <a:xfrm>
            <a:off x="7475339" y="1234083"/>
            <a:ext cx="1563291" cy="195382"/>
          </a:xfrm>
          <a:prstGeom prst="rect">
            <a:avLst/>
          </a:prstGeom>
          <a:noFill/>
          <a:ln/>
        </p:spPr>
        <p:txBody>
          <a:bodyPr wrap="none" lIns="0" tIns="0" rIns="0" bIns="0" rtlCol="0" anchor="t"/>
          <a:lstStyle/>
          <a:p>
            <a:pPr algn="l" indent="0" marL="0">
              <a:lnSpc>
                <a:spcPts val="1500"/>
              </a:lnSpc>
              <a:buNone/>
            </a:pPr>
            <a:r>
              <a:rPr lang="en-US" sz="1200" dirty="0">
                <a:solidFill>
                  <a:srgbClr val="272D45"/>
                </a:solidFill>
                <a:latin typeface="Kanit Light" pitchFamily="34" charset="0"/>
                <a:ea typeface="Kanit Light" pitchFamily="34" charset="-122"/>
                <a:cs typeface="Kanit Light" pitchFamily="34" charset="-120"/>
              </a:rPr>
              <a:t>Menggunakan Pillow</a:t>
            </a:r>
            <a:endParaRPr lang="en-US" sz="1200" dirty="0"/>
          </a:p>
        </p:txBody>
      </p:sp>
      <p:sp>
        <p:nvSpPr>
          <p:cNvPr id="8" name="Shape 6"/>
          <p:cNvSpPr/>
          <p:nvPr/>
        </p:nvSpPr>
        <p:spPr>
          <a:xfrm>
            <a:off x="7475339" y="1570077"/>
            <a:ext cx="6393061" cy="5988129"/>
          </a:xfrm>
          <a:prstGeom prst="roundRect">
            <a:avLst>
              <a:gd name="adj" fmla="val 877"/>
            </a:avLst>
          </a:prstGeom>
          <a:solidFill>
            <a:srgbClr val="F2F2F2"/>
          </a:solidFill>
          <a:ln/>
        </p:spPr>
      </p:sp>
      <p:sp>
        <p:nvSpPr>
          <p:cNvPr id="9" name="Shape 7"/>
          <p:cNvSpPr/>
          <p:nvPr/>
        </p:nvSpPr>
        <p:spPr>
          <a:xfrm>
            <a:off x="7469148" y="1570077"/>
            <a:ext cx="6405443" cy="5988129"/>
          </a:xfrm>
          <a:prstGeom prst="roundRect">
            <a:avLst>
              <a:gd name="adj" fmla="val 313"/>
            </a:avLst>
          </a:prstGeom>
          <a:solidFill>
            <a:srgbClr val="F2F2F2"/>
          </a:solidFill>
          <a:ln/>
        </p:spPr>
      </p:sp>
      <p:sp>
        <p:nvSpPr>
          <p:cNvPr id="10" name="Text 8"/>
          <p:cNvSpPr/>
          <p:nvPr/>
        </p:nvSpPr>
        <p:spPr>
          <a:xfrm>
            <a:off x="7594163" y="1663779"/>
            <a:ext cx="6155412" cy="5800725"/>
          </a:xfrm>
          <a:prstGeom prst="rect">
            <a:avLst/>
          </a:prstGeom>
          <a:noFill/>
          <a:ln/>
        </p:spPr>
        <p:txBody>
          <a:bodyPr wrap="square" lIns="0" tIns="0" rIns="0" bIns="0" rtlCol="0" anchor="t"/>
          <a:lstStyle/>
          <a:p>
            <a:pPr algn="l" indent="0" marL="0">
              <a:lnSpc>
                <a:spcPts val="1550"/>
              </a:lnSpc>
              <a:buNone/>
            </a:pPr>
            <a:r>
              <a:rPr lang="en-US" sz="950" dirty="0">
                <a:solidFill>
                  <a:srgbClr val="2C3249"/>
                </a:solidFill>
                <a:highlight>
                  <a:srgbClr val="F2F2F2"/>
                </a:highlight>
                <a:latin typeface="Consolas" pitchFamily="34" charset="0"/>
                <a:ea typeface="Consolas" pitchFamily="34" charset="-122"/>
                <a:cs typeface="Consolas" pitchFamily="34" charset="-120"/>
              </a:rPr>
              <a:t>from PIL import Imageimport numpy as np# Membaca citraimg = Image.open('gambar.jpg')# Konversi ke array NumPyimg_array = np.array(img)# Mengakses piksel RGB (untuk citra berwarna)r, g, b = img_array[100, 150]print(f"RGB pada (150,100): R={r}, G={g}, B={b}")# Mengubah nilai pikselimg_array[100, 150] = [255, 0, 0] # Merah# Konversi kembali ke objek Imagemodified_img = Image.fromarray(img_array)# Operasi pada seluruh kanalred_channel = img_array[:, :, 0]green_channel = img_array[:, :, 1]blue_channel = img_array[:, :, 2]# Statistik per kanalprint(f"Red channel mean: {np.mean(red_channel):.2f}")print(f"Green channel mean: {np.mean(green_channel):.2f}")print(f"Blue channel mean: {np.mean(blue_channel):.2f}")</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33425" y="507802"/>
            <a:ext cx="6646069" cy="372428"/>
          </a:xfrm>
          <a:prstGeom prst="rect">
            <a:avLst/>
          </a:prstGeom>
          <a:noFill/>
          <a:ln/>
        </p:spPr>
        <p:txBody>
          <a:bodyPr wrap="none" lIns="0" tIns="0" rIns="0" bIns="0" rtlCol="0" anchor="t"/>
          <a:lstStyle/>
          <a:p>
            <a:pPr algn="l" indent="0" marL="0">
              <a:lnSpc>
                <a:spcPts val="2900"/>
              </a:lnSpc>
              <a:buNone/>
            </a:pPr>
            <a:r>
              <a:rPr lang="en-US" sz="2300" dirty="0">
                <a:solidFill>
                  <a:srgbClr val="272D45"/>
                </a:solidFill>
                <a:latin typeface="Kanit Light" pitchFamily="34" charset="0"/>
                <a:ea typeface="Kanit Light" pitchFamily="34" charset="-122"/>
                <a:cs typeface="Kanit Light" pitchFamily="34" charset="-120"/>
              </a:rPr>
              <a:t>Transformasi Dasar: Resizing (Pengubahan Ukuran)</a:t>
            </a:r>
            <a:endParaRPr lang="en-US" sz="2300" dirty="0"/>
          </a:p>
        </p:txBody>
      </p:sp>
      <p:sp>
        <p:nvSpPr>
          <p:cNvPr id="3" name="Text 1"/>
          <p:cNvSpPr/>
          <p:nvPr/>
        </p:nvSpPr>
        <p:spPr>
          <a:xfrm>
            <a:off x="733425" y="1118592"/>
            <a:ext cx="13163550" cy="190619"/>
          </a:xfrm>
          <a:prstGeom prst="rect">
            <a:avLst/>
          </a:prstGeom>
          <a:noFill/>
          <a:ln/>
        </p:spPr>
        <p:txBody>
          <a:bodyPr wrap="none" lIns="0" tIns="0" rIns="0" bIns="0" rtlCol="0" anchor="t"/>
          <a:lstStyle/>
          <a:p>
            <a:pPr algn="l" indent="0" marL="0">
              <a:lnSpc>
                <a:spcPts val="1500"/>
              </a:lnSpc>
              <a:buNone/>
            </a:pPr>
            <a:r>
              <a:rPr lang="en-US" sz="900" dirty="0">
                <a:solidFill>
                  <a:srgbClr val="2C3249"/>
                </a:solidFill>
                <a:latin typeface="Martel Sans" pitchFamily="34" charset="0"/>
                <a:ea typeface="Martel Sans" pitchFamily="34" charset="-122"/>
                <a:cs typeface="Martel Sans" pitchFamily="34" charset="-120"/>
              </a:rPr>
              <a:t>Resizing merupakan operasi dasar yang mengubah dimensi citra. Penting untuk memahami berbagai metode interpolasi yang dapat digunakan.</a:t>
            </a:r>
            <a:endParaRPr lang="en-US" sz="900" dirty="0"/>
          </a:p>
        </p:txBody>
      </p:sp>
      <p:sp>
        <p:nvSpPr>
          <p:cNvPr id="4" name="Shape 2"/>
          <p:cNvSpPr/>
          <p:nvPr/>
        </p:nvSpPr>
        <p:spPr>
          <a:xfrm>
            <a:off x="733425" y="1443276"/>
            <a:ext cx="13163550" cy="6278404"/>
          </a:xfrm>
          <a:prstGeom prst="roundRect">
            <a:avLst>
              <a:gd name="adj" fmla="val 797"/>
            </a:avLst>
          </a:prstGeom>
          <a:solidFill>
            <a:srgbClr val="F2F2F2"/>
          </a:solidFill>
          <a:ln/>
        </p:spPr>
      </p:sp>
      <p:sp>
        <p:nvSpPr>
          <p:cNvPr id="5" name="Shape 3"/>
          <p:cNvSpPr/>
          <p:nvPr/>
        </p:nvSpPr>
        <p:spPr>
          <a:xfrm>
            <a:off x="727472" y="1443276"/>
            <a:ext cx="13175456" cy="6278404"/>
          </a:xfrm>
          <a:prstGeom prst="roundRect">
            <a:avLst>
              <a:gd name="adj" fmla="val 285"/>
            </a:avLst>
          </a:prstGeom>
          <a:solidFill>
            <a:srgbClr val="F2F2F2"/>
          </a:solidFill>
          <a:ln/>
        </p:spPr>
      </p:sp>
      <p:sp>
        <p:nvSpPr>
          <p:cNvPr id="6" name="Text 4"/>
          <p:cNvSpPr/>
          <p:nvPr/>
        </p:nvSpPr>
        <p:spPr>
          <a:xfrm>
            <a:off x="846653" y="1532573"/>
            <a:ext cx="12937093" cy="6099810"/>
          </a:xfrm>
          <a:prstGeom prst="rect">
            <a:avLst/>
          </a:prstGeom>
          <a:noFill/>
          <a:ln/>
        </p:spPr>
        <p:txBody>
          <a:bodyPr wrap="square" lIns="0" tIns="0" rIns="0" bIns="0" rtlCol="0" anchor="t"/>
          <a:lstStyle/>
          <a:p>
            <a:pPr algn="l" indent="0" marL="0">
              <a:lnSpc>
                <a:spcPts val="1500"/>
              </a:lnSpc>
              <a:buNone/>
            </a:pPr>
            <a:r>
              <a:rPr lang="en-US" sz="90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 Membaca citraimg = cv2.imread('gambar.jpg')img_rgb = cv2.cvtColor(img, cv2.COLOR_BGR2RGB)# Metode resizing dengan berbagai interpolasimethods = [ ('Nearest Neighbor', cv2.INTER_NEAREST), ('Bilinear', cv2.INTER_LINEAR), ('Bicubic', cv2.INTER_CUBIC), ('Lanczos', cv2.INTER_LANCZOS4)]# Membuat subplotfig, axs = plt.subplots(2, 2, figsize=(10, 8))axs = axs.flatten()for i, (name, method) in enumerate(methods): # Mengurangi ukuran lalu memperbesar lagi untuk menunjukkan efek interpolasi small = cv2.resize(img_rgb, (img_rgb.shape[1]//4, img_rgb.shape[0]//4), interpolation=method) resized = cv2.resize(small, (img_rgb.shape[1], img_rgb.shape[0]), interpolation=method)  axs[i].imshow(resized) axs[i].set_title(f'Interpolasi {name}') axs[i].axis('off')plt.tight_layout()plt.show()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22459"/>
            <a:ext cx="6225302" cy="403146"/>
          </a:xfrm>
          <a:prstGeom prst="rect">
            <a:avLst/>
          </a:prstGeom>
          <a:noFill/>
          <a:ln/>
        </p:spPr>
        <p:txBody>
          <a:bodyPr wrap="none" lIns="0" tIns="0" rIns="0" bIns="0" rtlCol="0" anchor="t"/>
          <a:lstStyle/>
          <a:p>
            <a:pPr algn="l" indent="0" marL="0">
              <a:lnSpc>
                <a:spcPts val="3150"/>
              </a:lnSpc>
              <a:buNone/>
            </a:pPr>
            <a:r>
              <a:rPr lang="en-US" sz="2500" dirty="0">
                <a:solidFill>
                  <a:srgbClr val="272D45"/>
                </a:solidFill>
                <a:latin typeface="Kanit Light" pitchFamily="34" charset="0"/>
                <a:ea typeface="Kanit Light" pitchFamily="34" charset="-122"/>
                <a:cs typeface="Kanit Light" pitchFamily="34" charset="-120"/>
              </a:rPr>
              <a:t>Transformasi Dasar: Cropping (Pemotongan)</a:t>
            </a:r>
            <a:endParaRPr lang="en-US" sz="2500" dirty="0"/>
          </a:p>
        </p:txBody>
      </p:sp>
      <p:sp>
        <p:nvSpPr>
          <p:cNvPr id="3" name="Text 1"/>
          <p:cNvSpPr/>
          <p:nvPr/>
        </p:nvSpPr>
        <p:spPr>
          <a:xfrm>
            <a:off x="793790" y="1348026"/>
            <a:ext cx="1615916" cy="201454"/>
          </a:xfrm>
          <a:prstGeom prst="rect">
            <a:avLst/>
          </a:prstGeom>
          <a:noFill/>
          <a:ln/>
        </p:spPr>
        <p:txBody>
          <a:bodyPr wrap="none" lIns="0" tIns="0" rIns="0" bIns="0" rtlCol="0" anchor="t"/>
          <a:lstStyle/>
          <a:p>
            <a:pPr algn="l" indent="0" marL="0">
              <a:lnSpc>
                <a:spcPts val="1550"/>
              </a:lnSpc>
              <a:buNone/>
            </a:pPr>
            <a:r>
              <a:rPr lang="en-US" sz="1250" dirty="0">
                <a:solidFill>
                  <a:srgbClr val="272D45"/>
                </a:solidFill>
                <a:latin typeface="Kanit Light" pitchFamily="34" charset="0"/>
                <a:ea typeface="Kanit Light" pitchFamily="34" charset="-122"/>
                <a:cs typeface="Kanit Light" pitchFamily="34" charset="-120"/>
              </a:rPr>
              <a:t>Menggunakan OpenCV</a:t>
            </a:r>
            <a:endParaRPr lang="en-US" sz="1250" dirty="0"/>
          </a:p>
        </p:txBody>
      </p:sp>
      <p:sp>
        <p:nvSpPr>
          <p:cNvPr id="4" name="Shape 2"/>
          <p:cNvSpPr/>
          <p:nvPr/>
        </p:nvSpPr>
        <p:spPr>
          <a:xfrm>
            <a:off x="793790" y="1694498"/>
            <a:ext cx="6364129" cy="5767626"/>
          </a:xfrm>
          <a:prstGeom prst="roundRect">
            <a:avLst>
              <a:gd name="adj" fmla="val 939"/>
            </a:avLst>
          </a:prstGeom>
          <a:solidFill>
            <a:srgbClr val="F2F2F2"/>
          </a:solidFill>
          <a:ln/>
        </p:spPr>
      </p:sp>
      <p:sp>
        <p:nvSpPr>
          <p:cNvPr id="5" name="Shape 3"/>
          <p:cNvSpPr/>
          <p:nvPr/>
        </p:nvSpPr>
        <p:spPr>
          <a:xfrm>
            <a:off x="787360" y="1694498"/>
            <a:ext cx="6376988" cy="5767626"/>
          </a:xfrm>
          <a:prstGeom prst="roundRect">
            <a:avLst>
              <a:gd name="adj" fmla="val 336"/>
            </a:avLst>
          </a:prstGeom>
          <a:solidFill>
            <a:srgbClr val="F2F2F2"/>
          </a:solidFill>
          <a:ln/>
        </p:spPr>
      </p:sp>
      <p:sp>
        <p:nvSpPr>
          <p:cNvPr id="6" name="Text 4"/>
          <p:cNvSpPr/>
          <p:nvPr/>
        </p:nvSpPr>
        <p:spPr>
          <a:xfrm>
            <a:off x="916305" y="1791176"/>
            <a:ext cx="6119098" cy="5574268"/>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highlight>
                  <a:srgbClr val="F2F2F2"/>
                </a:highlight>
                <a:latin typeface="Consolas" pitchFamily="34" charset="0"/>
                <a:ea typeface="Consolas" pitchFamily="34" charset="-122"/>
                <a:cs typeface="Consolas" pitchFamily="34" charset="-120"/>
              </a:rPr>
              <a:t>import cv2import matplotlib.pyplot as plt# Membaca citraimg = cv2.imread('gambar.jpg')img_rgb = cv2.cvtColor(img, cv2.COLOR_BGR2RGB)# Mendefinisikan area yang akan dipotong# Format: [y_start:y_end, x_start:x_end]x_start, y_start = 100, 50width, height = 300, 200cropped = img_rgb[y_start:y_start+height,                  x_start:x_start+width]# Menampilkan citra asli dan hasil croppingfig, (ax1, ax2) = plt.subplots(1, 2, figsize=(12, 6))ax1.imshow(img_rgb)ax1.set_title('Citra Asli')ax1.axis('off')ax2.imshow(cropped)ax2.set_title('Hasil Cropping')ax2.axis('off')plt.tight_layout()plt.show()</a:t>
            </a:r>
            <a:endParaRPr lang="en-US" sz="1000" dirty="0"/>
          </a:p>
        </p:txBody>
      </p:sp>
      <p:sp>
        <p:nvSpPr>
          <p:cNvPr id="7" name="Text 5"/>
          <p:cNvSpPr/>
          <p:nvPr/>
        </p:nvSpPr>
        <p:spPr>
          <a:xfrm>
            <a:off x="7480102" y="1348026"/>
            <a:ext cx="1612583" cy="201454"/>
          </a:xfrm>
          <a:prstGeom prst="rect">
            <a:avLst/>
          </a:prstGeom>
          <a:noFill/>
          <a:ln/>
        </p:spPr>
        <p:txBody>
          <a:bodyPr wrap="none" lIns="0" tIns="0" rIns="0" bIns="0" rtlCol="0" anchor="t"/>
          <a:lstStyle/>
          <a:p>
            <a:pPr algn="l" indent="0" marL="0">
              <a:lnSpc>
                <a:spcPts val="1550"/>
              </a:lnSpc>
              <a:buNone/>
            </a:pPr>
            <a:r>
              <a:rPr lang="en-US" sz="1250" dirty="0">
                <a:solidFill>
                  <a:srgbClr val="272D45"/>
                </a:solidFill>
                <a:latin typeface="Kanit Light" pitchFamily="34" charset="0"/>
                <a:ea typeface="Kanit Light" pitchFamily="34" charset="-122"/>
                <a:cs typeface="Kanit Light" pitchFamily="34" charset="-120"/>
              </a:rPr>
              <a:t>Menggunakan Pillow</a:t>
            </a:r>
            <a:endParaRPr lang="en-US" sz="1250" dirty="0"/>
          </a:p>
        </p:txBody>
      </p:sp>
      <p:sp>
        <p:nvSpPr>
          <p:cNvPr id="8" name="Shape 6"/>
          <p:cNvSpPr/>
          <p:nvPr/>
        </p:nvSpPr>
        <p:spPr>
          <a:xfrm>
            <a:off x="7480102" y="1694498"/>
            <a:ext cx="6364129" cy="5561171"/>
          </a:xfrm>
          <a:prstGeom prst="roundRect">
            <a:avLst>
              <a:gd name="adj" fmla="val 974"/>
            </a:avLst>
          </a:prstGeom>
          <a:solidFill>
            <a:srgbClr val="F2F2F2"/>
          </a:solidFill>
          <a:ln/>
        </p:spPr>
      </p:sp>
      <p:sp>
        <p:nvSpPr>
          <p:cNvPr id="9" name="Shape 7"/>
          <p:cNvSpPr/>
          <p:nvPr/>
        </p:nvSpPr>
        <p:spPr>
          <a:xfrm>
            <a:off x="7473672" y="1694498"/>
            <a:ext cx="6376988" cy="5561171"/>
          </a:xfrm>
          <a:prstGeom prst="roundRect">
            <a:avLst>
              <a:gd name="adj" fmla="val 348"/>
            </a:avLst>
          </a:prstGeom>
          <a:solidFill>
            <a:srgbClr val="F2F2F2"/>
          </a:solidFill>
          <a:ln/>
        </p:spPr>
      </p:sp>
      <p:sp>
        <p:nvSpPr>
          <p:cNvPr id="10" name="Text 8"/>
          <p:cNvSpPr/>
          <p:nvPr/>
        </p:nvSpPr>
        <p:spPr>
          <a:xfrm>
            <a:off x="7602617" y="1791176"/>
            <a:ext cx="6119098" cy="5367814"/>
          </a:xfrm>
          <a:prstGeom prst="rect">
            <a:avLst/>
          </a:prstGeom>
          <a:noFill/>
          <a:ln/>
        </p:spPr>
        <p:txBody>
          <a:bodyPr wrap="square" lIns="0" tIns="0" rIns="0" bIns="0" rtlCol="0" anchor="t"/>
          <a:lstStyle/>
          <a:p>
            <a:pPr algn="l" indent="0" marL="0">
              <a:lnSpc>
                <a:spcPts val="1600"/>
              </a:lnSpc>
              <a:buNone/>
            </a:pPr>
            <a:r>
              <a:rPr lang="en-US" sz="1000" dirty="0">
                <a:solidFill>
                  <a:srgbClr val="2C3249"/>
                </a:solidFill>
                <a:highlight>
                  <a:srgbClr val="F2F2F2"/>
                </a:highlight>
                <a:latin typeface="Consolas" pitchFamily="34" charset="0"/>
                <a:ea typeface="Consolas" pitchFamily="34" charset="-122"/>
                <a:cs typeface="Consolas" pitchFamily="34" charset="-120"/>
              </a:rPr>
              <a:t>from PIL import Imageimport matplotlib.pyplot as plt# Membaca citraimg = Image.open('gambar.jpg')# Mendefinisikan area yang akan dipotong# Format: (x_start, y_start, x_end, y_end)x_start, y_start = 100, 50width, height = 300, 200cropped = img.crop((x_start, y_start,  x_start+width, y_start+height))# Menampilkan citra asli dan hasil croppingfig, (ax1, ax2) = plt.subplots(1, 2, figsize=(12, 6))ax1.imshow(img)ax1.set_title('Citra Asli')ax1.axis('off')ax2.imshow(cropped)ax2.set_title('Hasil Cropping')ax2.axis('off')plt.tight_layout()plt.show()</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16875" y="497919"/>
            <a:ext cx="3365183" cy="363974"/>
          </a:xfrm>
          <a:prstGeom prst="rect">
            <a:avLst/>
          </a:prstGeom>
          <a:noFill/>
          <a:ln/>
        </p:spPr>
        <p:txBody>
          <a:bodyPr wrap="none" lIns="0" tIns="0" rIns="0" bIns="0" rtlCol="0" anchor="t"/>
          <a:lstStyle/>
          <a:p>
            <a:pPr algn="l" indent="0" marL="0">
              <a:lnSpc>
                <a:spcPts val="2850"/>
              </a:lnSpc>
              <a:buNone/>
            </a:pPr>
            <a:r>
              <a:rPr lang="en-US" sz="2250" dirty="0">
                <a:solidFill>
                  <a:srgbClr val="272D45"/>
                </a:solidFill>
                <a:latin typeface="Kanit Light" pitchFamily="34" charset="0"/>
                <a:ea typeface="Kanit Light" pitchFamily="34" charset="-122"/>
                <a:cs typeface="Kanit Light" pitchFamily="34" charset="-120"/>
              </a:rPr>
              <a:t>Transformasi Dasar: Rotasi</a:t>
            </a:r>
            <a:endParaRPr lang="en-US" sz="2250" dirty="0"/>
          </a:p>
        </p:txBody>
      </p:sp>
      <p:sp>
        <p:nvSpPr>
          <p:cNvPr id="3" name="Text 1"/>
          <p:cNvSpPr/>
          <p:nvPr/>
        </p:nvSpPr>
        <p:spPr>
          <a:xfrm>
            <a:off x="716875" y="1094780"/>
            <a:ext cx="13196649" cy="186214"/>
          </a:xfrm>
          <a:prstGeom prst="rect">
            <a:avLst/>
          </a:prstGeom>
          <a:noFill/>
          <a:ln/>
        </p:spPr>
        <p:txBody>
          <a:bodyPr wrap="none" lIns="0" tIns="0" rIns="0" bIns="0" rtlCol="0" anchor="t"/>
          <a:lstStyle/>
          <a:p>
            <a:pPr algn="l" indent="0" marL="0">
              <a:lnSpc>
                <a:spcPts val="1450"/>
              </a:lnSpc>
              <a:buNone/>
            </a:pPr>
            <a:r>
              <a:rPr lang="en-US" sz="900" dirty="0">
                <a:solidFill>
                  <a:srgbClr val="2C3249"/>
                </a:solidFill>
                <a:latin typeface="Martel Sans" pitchFamily="34" charset="0"/>
                <a:ea typeface="Martel Sans" pitchFamily="34" charset="-122"/>
                <a:cs typeface="Martel Sans" pitchFamily="34" charset="-120"/>
              </a:rPr>
              <a:t>Rotasi adalah proses memutar citra dengan sudut tertentu. Perlu dipertimbangkan juga penanganan area kosong yang muncul setelah rotasi.</a:t>
            </a:r>
            <a:endParaRPr lang="en-US" sz="900" dirty="0"/>
          </a:p>
        </p:txBody>
      </p:sp>
      <p:sp>
        <p:nvSpPr>
          <p:cNvPr id="4" name="Shape 2"/>
          <p:cNvSpPr/>
          <p:nvPr/>
        </p:nvSpPr>
        <p:spPr>
          <a:xfrm>
            <a:off x="716875" y="1411962"/>
            <a:ext cx="13196649" cy="6319599"/>
          </a:xfrm>
          <a:prstGeom prst="roundRect">
            <a:avLst>
              <a:gd name="adj" fmla="val 774"/>
            </a:avLst>
          </a:prstGeom>
          <a:solidFill>
            <a:srgbClr val="F2F2F2"/>
          </a:solidFill>
          <a:ln/>
        </p:spPr>
      </p:sp>
      <p:sp>
        <p:nvSpPr>
          <p:cNvPr id="5" name="Shape 3"/>
          <p:cNvSpPr/>
          <p:nvPr/>
        </p:nvSpPr>
        <p:spPr>
          <a:xfrm>
            <a:off x="711160" y="1411962"/>
            <a:ext cx="13208079" cy="6319599"/>
          </a:xfrm>
          <a:prstGeom prst="roundRect">
            <a:avLst>
              <a:gd name="adj" fmla="val 277"/>
            </a:avLst>
          </a:prstGeom>
          <a:solidFill>
            <a:srgbClr val="F2F2F2"/>
          </a:solidFill>
          <a:ln/>
        </p:spPr>
      </p:sp>
      <p:sp>
        <p:nvSpPr>
          <p:cNvPr id="6" name="Text 4"/>
          <p:cNvSpPr/>
          <p:nvPr/>
        </p:nvSpPr>
        <p:spPr>
          <a:xfrm>
            <a:off x="827603" y="1499235"/>
            <a:ext cx="12975193" cy="6145054"/>
          </a:xfrm>
          <a:prstGeom prst="rect">
            <a:avLst/>
          </a:prstGeom>
          <a:noFill/>
          <a:ln/>
        </p:spPr>
        <p:txBody>
          <a:bodyPr wrap="square" lIns="0" tIns="0" rIns="0" bIns="0" rtlCol="0" anchor="t"/>
          <a:lstStyle/>
          <a:p>
            <a:pPr algn="l" indent="0" marL="0">
              <a:lnSpc>
                <a:spcPts val="1450"/>
              </a:lnSpc>
              <a:buNone/>
            </a:pPr>
            <a:r>
              <a:rPr lang="en-US" sz="90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 Membaca citraimg = cv2.imread('gambar.jpg')img_rgb = cv2.cvtColor(img, cv2.COLOR_BGR2RGB)# Mendapatkan dimensi citraheight, width = img.shape[:2]center = (width // 2, height // 2)# Membuat matriks rotasiangles = [0, 45, 90, 180]fig, axs = plt.subplots(2, 2, figsize=(10, 10))axs = axs.flatten()for i, angle in enumerate(angles): # Membuat matriks rotasi rotation_matrix = cv2.getRotationMatrix2D(center, angle, 1.0)  # Menerapkan rotasi rotated = cv2.warpAffine(img_rgb, rotation_matrix, (width, height), flags=cv2.INTER_LINEAR, borderMode=cv2.BORDER_CONSTANT, borderValue=(255, 255, 255))  axs[i].imshow(rotated) axs[i].set_title(f'Rotasi {angle}°') axs[i].axis('off')plt.tight_layout()plt.show()</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27817" y="431602"/>
            <a:ext cx="6061353" cy="318730"/>
          </a:xfrm>
          <a:prstGeom prst="rect">
            <a:avLst/>
          </a:prstGeom>
          <a:noFill/>
          <a:ln/>
        </p:spPr>
        <p:txBody>
          <a:bodyPr wrap="none" lIns="0" tIns="0" rIns="0" bIns="0" rtlCol="0" anchor="t"/>
          <a:lstStyle/>
          <a:p>
            <a:pPr algn="l" indent="0" marL="0">
              <a:lnSpc>
                <a:spcPts val="2500"/>
              </a:lnSpc>
              <a:buNone/>
            </a:pPr>
            <a:r>
              <a:rPr lang="en-US" sz="2000" dirty="0">
                <a:solidFill>
                  <a:srgbClr val="272D45"/>
                </a:solidFill>
                <a:latin typeface="Kanit Light" pitchFamily="34" charset="0"/>
                <a:ea typeface="Kanit Light" pitchFamily="34" charset="-122"/>
                <a:cs typeface="Kanit Light" pitchFamily="34" charset="-120"/>
              </a:rPr>
              <a:t>Transformasi Dasar: Mengubah Kontras dan Kecerahan</a:t>
            </a:r>
            <a:endParaRPr lang="en-US" sz="2000" dirty="0"/>
          </a:p>
        </p:txBody>
      </p:sp>
      <p:sp>
        <p:nvSpPr>
          <p:cNvPr id="3" name="Shape 1"/>
          <p:cNvSpPr/>
          <p:nvPr/>
        </p:nvSpPr>
        <p:spPr>
          <a:xfrm>
            <a:off x="627817" y="954286"/>
            <a:ext cx="13374767" cy="6845498"/>
          </a:xfrm>
          <a:prstGeom prst="roundRect">
            <a:avLst>
              <a:gd name="adj" fmla="val 626"/>
            </a:avLst>
          </a:prstGeom>
          <a:solidFill>
            <a:srgbClr val="F2F2F2"/>
          </a:solidFill>
          <a:ln/>
        </p:spPr>
      </p:sp>
      <p:sp>
        <p:nvSpPr>
          <p:cNvPr id="4" name="Shape 2"/>
          <p:cNvSpPr/>
          <p:nvPr/>
        </p:nvSpPr>
        <p:spPr>
          <a:xfrm>
            <a:off x="622816" y="954286"/>
            <a:ext cx="13384768" cy="6845498"/>
          </a:xfrm>
          <a:prstGeom prst="roundRect">
            <a:avLst>
              <a:gd name="adj" fmla="val 224"/>
            </a:avLst>
          </a:prstGeom>
          <a:solidFill>
            <a:srgbClr val="F2F2F2"/>
          </a:solidFill>
          <a:ln/>
        </p:spPr>
      </p:sp>
      <p:sp>
        <p:nvSpPr>
          <p:cNvPr id="5" name="Text 3"/>
          <p:cNvSpPr/>
          <p:nvPr/>
        </p:nvSpPr>
        <p:spPr>
          <a:xfrm>
            <a:off x="724733" y="1030724"/>
            <a:ext cx="13180933" cy="6692622"/>
          </a:xfrm>
          <a:prstGeom prst="rect">
            <a:avLst/>
          </a:prstGeom>
          <a:noFill/>
          <a:ln/>
        </p:spPr>
        <p:txBody>
          <a:bodyPr wrap="square" lIns="0" tIns="0" rIns="0" bIns="0" rtlCol="0" anchor="t"/>
          <a:lstStyle/>
          <a:p>
            <a:pPr algn="l" indent="0" marL="0">
              <a:lnSpc>
                <a:spcPts val="1250"/>
              </a:lnSpc>
              <a:buNone/>
            </a:pPr>
            <a:r>
              <a:rPr lang="en-US" sz="80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 Membaca citraimg = cv2.imread('gambar.jpg')img_rgb = cv2.cvtColor(img, cv2.COLOR_BGR2RGB)# Fungsi untuk mengatur kontras dan kecerahandef adjust_contrast_brightness(image, contrast=1.0, brightness=0): """ Mengubah kontras dan kecerahan citra contrast: faktor pengali (1.0 = tidak berubah) brightness: nilai yang ditambahkan (-255 sampai 255) """ adjusted = np.clip(image * contrast + brightness, 0, 255).astype(np.uint8) return adjusted# Membuat kombinasi kontras dan kecerahansettings = [ (1.0, 0, "Original"), (1.0, 50, "Brightness +50"), (1.0, -50, "Brightness -50"), (1.5, 0, "Contrast +50%"), (0.5, 0, "Contrast -50%"), (1.5, 30, "Contrast +50%, Brightness +30")]# Menampilkan hasilfig, axs = plt.subplots(2, 3, figsize=(15, 10))axs = axs.flatten()for i, (contrast, brightness, title) in enumerate(settings): adjusted = adjust_contrast_brightness(img_rgb, contrast, brightness) axs[i].imshow(adjusted) axs[i].set_title(title) axs[i].axis('off')plt.tight_layout()plt.show()</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71751" y="461843"/>
            <a:ext cx="2729151" cy="341114"/>
          </a:xfrm>
          <a:prstGeom prst="rect">
            <a:avLst/>
          </a:prstGeom>
          <a:noFill/>
          <a:ln/>
        </p:spPr>
        <p:txBody>
          <a:bodyPr wrap="none" lIns="0" tIns="0" rIns="0" bIns="0" rtlCol="0" anchor="t"/>
          <a:lstStyle/>
          <a:p>
            <a:pPr algn="l" indent="0" marL="0">
              <a:lnSpc>
                <a:spcPts val="2650"/>
              </a:lnSpc>
              <a:buNone/>
            </a:pPr>
            <a:r>
              <a:rPr lang="en-US" sz="2100" dirty="0">
                <a:solidFill>
                  <a:srgbClr val="272D45"/>
                </a:solidFill>
                <a:latin typeface="Kanit Light" pitchFamily="34" charset="0"/>
                <a:ea typeface="Kanit Light" pitchFamily="34" charset="-122"/>
                <a:cs typeface="Kanit Light" pitchFamily="34" charset="-120"/>
              </a:rPr>
              <a:t>Konversi Model Warna</a:t>
            </a:r>
            <a:endParaRPr lang="en-US" sz="2100" dirty="0"/>
          </a:p>
        </p:txBody>
      </p:sp>
      <p:sp>
        <p:nvSpPr>
          <p:cNvPr id="3" name="Text 1"/>
          <p:cNvSpPr/>
          <p:nvPr/>
        </p:nvSpPr>
        <p:spPr>
          <a:xfrm>
            <a:off x="671751" y="1021199"/>
            <a:ext cx="13286899" cy="174665"/>
          </a:xfrm>
          <a:prstGeom prst="rect">
            <a:avLst/>
          </a:prstGeom>
          <a:noFill/>
          <a:ln/>
        </p:spPr>
        <p:txBody>
          <a:bodyPr wrap="none" lIns="0" tIns="0" rIns="0" bIns="0" rtlCol="0" anchor="t"/>
          <a:lstStyle/>
          <a:p>
            <a:pPr algn="l" indent="0" marL="0">
              <a:lnSpc>
                <a:spcPts val="1350"/>
              </a:lnSpc>
              <a:buNone/>
            </a:pPr>
            <a:r>
              <a:rPr lang="en-US" sz="850" dirty="0">
                <a:solidFill>
                  <a:srgbClr val="2C3249"/>
                </a:solidFill>
                <a:latin typeface="Martel Sans" pitchFamily="34" charset="0"/>
                <a:ea typeface="Martel Sans" pitchFamily="34" charset="-122"/>
                <a:cs typeface="Martel Sans" pitchFamily="34" charset="-120"/>
              </a:rPr>
              <a:t>Konversi antar model warna sangat penting dalam pemrosesan citra untuk berbagai aplikasi seperti segmentasi, deteksi objek, dan pengenalan pola.</a:t>
            </a:r>
            <a:endParaRPr lang="en-US" sz="850" dirty="0"/>
          </a:p>
        </p:txBody>
      </p:sp>
      <p:sp>
        <p:nvSpPr>
          <p:cNvPr id="4" name="Shape 2"/>
          <p:cNvSpPr/>
          <p:nvPr/>
        </p:nvSpPr>
        <p:spPr>
          <a:xfrm>
            <a:off x="671751" y="1318617"/>
            <a:ext cx="13286899" cy="6451521"/>
          </a:xfrm>
          <a:prstGeom prst="roundRect">
            <a:avLst>
              <a:gd name="adj" fmla="val 711"/>
            </a:avLst>
          </a:prstGeom>
          <a:solidFill>
            <a:srgbClr val="F2F2F2"/>
          </a:solidFill>
          <a:ln/>
        </p:spPr>
      </p:sp>
      <p:sp>
        <p:nvSpPr>
          <p:cNvPr id="5" name="Shape 3"/>
          <p:cNvSpPr/>
          <p:nvPr/>
        </p:nvSpPr>
        <p:spPr>
          <a:xfrm>
            <a:off x="666393" y="1318617"/>
            <a:ext cx="13297614" cy="6451521"/>
          </a:xfrm>
          <a:prstGeom prst="roundRect">
            <a:avLst>
              <a:gd name="adj" fmla="val 254"/>
            </a:avLst>
          </a:prstGeom>
          <a:solidFill>
            <a:srgbClr val="F2F2F2"/>
          </a:solidFill>
          <a:ln/>
        </p:spPr>
      </p:sp>
      <p:sp>
        <p:nvSpPr>
          <p:cNvPr id="6" name="Text 4"/>
          <p:cNvSpPr/>
          <p:nvPr/>
        </p:nvSpPr>
        <p:spPr>
          <a:xfrm>
            <a:off x="775454" y="1400413"/>
            <a:ext cx="13079492" cy="6287929"/>
          </a:xfrm>
          <a:prstGeom prst="rect">
            <a:avLst/>
          </a:prstGeom>
          <a:noFill/>
          <a:ln/>
        </p:spPr>
        <p:txBody>
          <a:bodyPr wrap="square" lIns="0" tIns="0" rIns="0" bIns="0" rtlCol="0" anchor="t"/>
          <a:lstStyle/>
          <a:p>
            <a:pPr algn="l" indent="0" marL="0">
              <a:lnSpc>
                <a:spcPts val="1350"/>
              </a:lnSpc>
              <a:buNone/>
            </a:pPr>
            <a:r>
              <a:rPr lang="en-US" sz="85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 Membaca citraimg = cv2.imread('gambar.jpg')img_rgb = cv2.cvtColor(img, cv2.COLOR_BGR2RGB)# Mendefinisikan konversi warna yang akan dilakukanconversions = [ ('RGB', img_rgb), ('Grayscale', cv2.cvtColor(img, cv2.COLOR_BGR2GRAY)), ('HSV', cv2.cvtColor(img, cv2.COLOR_BGR2HSV)), ('LAB', cv2.cvtColor(img, cv2.COLOR_BGR2LAB)), ('YCrCb', cv2.cvtColor(img, cv2.COLOR_BGR2YCrCb))]# Menampilkan hasil konversifig, axs = plt.subplots(2, 3, figsize=(15, 10))axs = axs.flatten()for i, (title, converted) in enumerate(conversions): if len(converted.shape) == 2: # Grayscale axs[i].imshow(converted, cmap='gray') else: # Color images axs[i].imshow(converted if title == 'RGB' else converted[:, :, :3]) axs[i].set_title(title) axs[i].axis('off')# Menghilangkan subplot yang tidak digunakanfor j in range(i+1, len(axs)): fig.delaxes(axs[j])plt.tight_layout()plt.show()</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18160" y="356235"/>
            <a:ext cx="2205752" cy="263128"/>
          </a:xfrm>
          <a:prstGeom prst="rect">
            <a:avLst/>
          </a:prstGeom>
          <a:noFill/>
          <a:ln/>
        </p:spPr>
        <p:txBody>
          <a:bodyPr wrap="none" lIns="0" tIns="0" rIns="0" bIns="0" rtlCol="0" anchor="t"/>
          <a:lstStyle/>
          <a:p>
            <a:pPr algn="l" indent="0" marL="0">
              <a:lnSpc>
                <a:spcPts val="2050"/>
              </a:lnSpc>
              <a:buNone/>
            </a:pPr>
            <a:r>
              <a:rPr lang="en-US" sz="1650" dirty="0">
                <a:solidFill>
                  <a:srgbClr val="272D45"/>
                </a:solidFill>
                <a:latin typeface="Kanit Light" pitchFamily="34" charset="0"/>
                <a:ea typeface="Kanit Light" pitchFamily="34" charset="-122"/>
                <a:cs typeface="Kanit Light" pitchFamily="34" charset="-120"/>
              </a:rPr>
              <a:t>Analisis Histogram Citra</a:t>
            </a:r>
            <a:endParaRPr lang="en-US" sz="1650" dirty="0"/>
          </a:p>
        </p:txBody>
      </p:sp>
      <p:sp>
        <p:nvSpPr>
          <p:cNvPr id="3" name="Text 1"/>
          <p:cNvSpPr/>
          <p:nvPr/>
        </p:nvSpPr>
        <p:spPr>
          <a:xfrm>
            <a:off x="518160" y="787718"/>
            <a:ext cx="13594080" cy="134660"/>
          </a:xfrm>
          <a:prstGeom prst="rect">
            <a:avLst/>
          </a:prstGeom>
          <a:noFill/>
          <a:ln/>
        </p:spPr>
        <p:txBody>
          <a:bodyPr wrap="none" lIns="0" tIns="0" rIns="0" bIns="0" rtlCol="0" anchor="t"/>
          <a:lstStyle/>
          <a:p>
            <a:pPr algn="l" indent="0" marL="0">
              <a:lnSpc>
                <a:spcPts val="1050"/>
              </a:lnSpc>
              <a:buNone/>
            </a:pPr>
            <a:r>
              <a:rPr lang="en-US" sz="650" dirty="0">
                <a:solidFill>
                  <a:srgbClr val="2C3249"/>
                </a:solidFill>
                <a:latin typeface="Martel Sans" pitchFamily="34" charset="0"/>
                <a:ea typeface="Martel Sans" pitchFamily="34" charset="-122"/>
                <a:cs typeface="Martel Sans" pitchFamily="34" charset="-120"/>
              </a:rPr>
              <a:t>Histogram citra menggambarkan distribusi intensitas piksel, sangat berguna untuk analisis dan pemrosesan citra lebih lanjut.</a:t>
            </a:r>
            <a:endParaRPr lang="en-US" sz="650" dirty="0"/>
          </a:p>
        </p:txBody>
      </p:sp>
      <p:sp>
        <p:nvSpPr>
          <p:cNvPr id="4" name="Shape 2"/>
          <p:cNvSpPr/>
          <p:nvPr/>
        </p:nvSpPr>
        <p:spPr>
          <a:xfrm>
            <a:off x="518160" y="1017032"/>
            <a:ext cx="13594080" cy="6859191"/>
          </a:xfrm>
          <a:prstGeom prst="roundRect">
            <a:avLst>
              <a:gd name="adj" fmla="val 516"/>
            </a:avLst>
          </a:prstGeom>
          <a:solidFill>
            <a:srgbClr val="F2F2F2"/>
          </a:solidFill>
          <a:ln/>
        </p:spPr>
      </p:sp>
      <p:sp>
        <p:nvSpPr>
          <p:cNvPr id="5" name="Shape 3"/>
          <p:cNvSpPr/>
          <p:nvPr/>
        </p:nvSpPr>
        <p:spPr>
          <a:xfrm>
            <a:off x="513993" y="1017032"/>
            <a:ext cx="13602414" cy="6859191"/>
          </a:xfrm>
          <a:prstGeom prst="roundRect">
            <a:avLst>
              <a:gd name="adj" fmla="val 184"/>
            </a:avLst>
          </a:prstGeom>
          <a:solidFill>
            <a:srgbClr val="F2F2F2"/>
          </a:solidFill>
          <a:ln/>
        </p:spPr>
      </p:sp>
      <p:sp>
        <p:nvSpPr>
          <p:cNvPr id="6" name="Text 4"/>
          <p:cNvSpPr/>
          <p:nvPr/>
        </p:nvSpPr>
        <p:spPr>
          <a:xfrm>
            <a:off x="598170" y="1080135"/>
            <a:ext cx="13434060" cy="6732984"/>
          </a:xfrm>
          <a:prstGeom prst="rect">
            <a:avLst/>
          </a:prstGeom>
          <a:noFill/>
          <a:ln/>
        </p:spPr>
        <p:txBody>
          <a:bodyPr wrap="square" lIns="0" tIns="0" rIns="0" bIns="0" rtlCol="0" anchor="t"/>
          <a:lstStyle/>
          <a:p>
            <a:pPr algn="l" indent="0" marL="0">
              <a:lnSpc>
                <a:spcPts val="1050"/>
              </a:lnSpc>
              <a:buNone/>
            </a:pPr>
            <a:r>
              <a:rPr lang="en-US" sz="65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 Membaca citraimg = cv2.imread('gambar.jpg')img_rgb = cv2.cvtColor(img, cv2.COLOR_BGR2RGB)img_gray = cv2.cvtColor(img, cv2.COLOR_BGR2GRAY)# Menghitung histogram untuk citra grayscalehist_gray = cv2.calcHist([img_gray], [0], None, [256], [0, 256])# Menghitung histogram untuk setiap kanal RGBcolors = ('r', 'g', 'b')hist_rgb = []for i, color in enumerate(colors): hist = cv2.calcHist([img_rgb], [i], None, [256], [0, 256]) hist_rgb.append((hist, color))# Menampilkan citra dan histogramnyafig, axs = plt.subplots(2, 2, figsize=(12, 10))# Citra asliaxs[0, 0].imshow(img_rgb)axs[0, 0].set_title('Citra Asli')axs[0, 0].axis('off')# Citra grayscaleaxs[0, 1].imshow(img_gray, cmap='gray')axs[0, 1].set_title('Citra Grayscale')axs[0, 1].axis('off')# Histogram grayscaleaxs[1, 0].plot(hist_gray, color='black')axs[1, 0].set_title('Histogram Grayscale')axs[1, 0].set_xlim([0, 256])axs[1, 0].grid(True)# Histogram RGBfor hist, color in hist_rgb: axs[1, 1].plot(hist, color=color)axs[1, 1].set_title('Histogram RGB')axs[1, 1].set_xlim([0, 256])axs[1, 1].legend(['Red', 'Green', 'Blue'])axs[1, 1].grid(True)plt.tight_layout()plt.show()</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4354" y="377428"/>
            <a:ext cx="2901553" cy="276344"/>
          </a:xfrm>
          <a:prstGeom prst="rect">
            <a:avLst/>
          </a:prstGeom>
          <a:noFill/>
          <a:ln/>
        </p:spPr>
        <p:txBody>
          <a:bodyPr wrap="none" lIns="0" tIns="0" rIns="0" bIns="0" rtlCol="0" anchor="t"/>
          <a:lstStyle/>
          <a:p>
            <a:pPr algn="l" indent="0" marL="0">
              <a:lnSpc>
                <a:spcPts val="2150"/>
              </a:lnSpc>
              <a:buNone/>
            </a:pPr>
            <a:r>
              <a:rPr lang="en-US" sz="1700" dirty="0">
                <a:solidFill>
                  <a:srgbClr val="272D45"/>
                </a:solidFill>
                <a:latin typeface="Kanit Light" pitchFamily="34" charset="0"/>
                <a:ea typeface="Kanit Light" pitchFamily="34" charset="-122"/>
                <a:cs typeface="Kanit Light" pitchFamily="34" charset="-120"/>
              </a:rPr>
              <a:t>Ekstraksi Fitur Dasar dari Citra</a:t>
            </a:r>
            <a:endParaRPr lang="en-US" sz="1700" dirty="0"/>
          </a:p>
        </p:txBody>
      </p:sp>
      <p:sp>
        <p:nvSpPr>
          <p:cNvPr id="3" name="Text 1"/>
          <p:cNvSpPr/>
          <p:nvPr/>
        </p:nvSpPr>
        <p:spPr>
          <a:xfrm>
            <a:off x="544354" y="830580"/>
            <a:ext cx="13541693" cy="141446"/>
          </a:xfrm>
          <a:prstGeom prst="rect">
            <a:avLst/>
          </a:prstGeom>
          <a:noFill/>
          <a:ln/>
        </p:spPr>
        <p:txBody>
          <a:bodyPr wrap="none" lIns="0" tIns="0" rIns="0" bIns="0" rtlCol="0" anchor="t"/>
          <a:lstStyle/>
          <a:p>
            <a:pPr algn="l" indent="0" marL="0">
              <a:lnSpc>
                <a:spcPts val="1100"/>
              </a:lnSpc>
              <a:buNone/>
            </a:pPr>
            <a:r>
              <a:rPr lang="en-US" sz="650" dirty="0">
                <a:solidFill>
                  <a:srgbClr val="2C3249"/>
                </a:solidFill>
                <a:latin typeface="Martel Sans" pitchFamily="34" charset="0"/>
                <a:ea typeface="Martel Sans" pitchFamily="34" charset="-122"/>
                <a:cs typeface="Martel Sans" pitchFamily="34" charset="-120"/>
              </a:rPr>
              <a:t>Ekstraksi fitur merupakan langkah penting dalam analisis citra untuk mendapatkan informasi yang bermakna.</a:t>
            </a:r>
            <a:endParaRPr lang="en-US" sz="650" dirty="0"/>
          </a:p>
        </p:txBody>
      </p:sp>
      <p:sp>
        <p:nvSpPr>
          <p:cNvPr id="4" name="Shape 2"/>
          <p:cNvSpPr/>
          <p:nvPr/>
        </p:nvSpPr>
        <p:spPr>
          <a:xfrm>
            <a:off x="544354" y="1071443"/>
            <a:ext cx="13541693" cy="6780609"/>
          </a:xfrm>
          <a:prstGeom prst="roundRect">
            <a:avLst>
              <a:gd name="adj" fmla="val 548"/>
            </a:avLst>
          </a:prstGeom>
          <a:solidFill>
            <a:srgbClr val="F2F2F2"/>
          </a:solidFill>
          <a:ln/>
        </p:spPr>
      </p:sp>
      <p:sp>
        <p:nvSpPr>
          <p:cNvPr id="5" name="Shape 3"/>
          <p:cNvSpPr/>
          <p:nvPr/>
        </p:nvSpPr>
        <p:spPr>
          <a:xfrm>
            <a:off x="539948" y="1071443"/>
            <a:ext cx="13550503" cy="6780609"/>
          </a:xfrm>
          <a:prstGeom prst="roundRect">
            <a:avLst>
              <a:gd name="adj" fmla="val 196"/>
            </a:avLst>
          </a:prstGeom>
          <a:solidFill>
            <a:srgbClr val="F2F2F2"/>
          </a:solidFill>
          <a:ln/>
        </p:spPr>
      </p:sp>
      <p:sp>
        <p:nvSpPr>
          <p:cNvPr id="6" name="Text 4"/>
          <p:cNvSpPr/>
          <p:nvPr/>
        </p:nvSpPr>
        <p:spPr>
          <a:xfrm>
            <a:off x="628293" y="1137761"/>
            <a:ext cx="13373814" cy="6647974"/>
          </a:xfrm>
          <a:prstGeom prst="rect">
            <a:avLst/>
          </a:prstGeom>
          <a:noFill/>
          <a:ln/>
        </p:spPr>
        <p:txBody>
          <a:bodyPr wrap="square" lIns="0" tIns="0" rIns="0" bIns="0" rtlCol="0" anchor="t"/>
          <a:lstStyle/>
          <a:p>
            <a:pPr algn="l" indent="0" marL="0">
              <a:lnSpc>
                <a:spcPts val="1100"/>
              </a:lnSpc>
              <a:buNone/>
            </a:pPr>
            <a:r>
              <a:rPr lang="en-US" sz="650" dirty="0">
                <a:solidFill>
                  <a:srgbClr val="2C3249"/>
                </a:solidFill>
                <a:highlight>
                  <a:srgbClr val="F2F2F2"/>
                </a:highlight>
                <a:latin typeface="Consolas" pitchFamily="34" charset="0"/>
                <a:ea typeface="Consolas" pitchFamily="34" charset="-122"/>
                <a:cs typeface="Consolas" pitchFamily="34" charset="-120"/>
              </a:rPr>
              <a:t>import cv2import numpy as npimport matplotlib.pyplot as pltfrom skimage.feature import local_binary_pattern# Membaca citraimg = cv2.imread('gambar.jpg')img_rgb = cv2.cvtColor(img, cv2.COLOR_BGR2RGB)img_gray = cv2.cvtColor(img, cv2.COLOR_BGR2GRAY)# 1. Deteksi tepi dengan Sobelsobelx = cv2.Sobel(img_gray, cv2.CV_64F, 1, 0, ksize=3)sobely = cv2.Sobel(img_gray, cv2.CV_64F, 0, 1, ksize=3)sobel_magnitude = np.sqrt(sobelx**2 + sobely**2)sobel_magnitude = np.uint8(sobel_magnitude / sobel_magnitude.max() * 255)# 2. Deteksi tepi dengan Cannycanny = cv2.Canny(img_gray, 100, 200)# 3. Local Binary Pattern (LBP)radius = 1n_points = 8 * radiuslbp = local_binary_pattern(img_gray, n_points, radius, method='uniform')lbp = np.uint8((lbp / lbp.max()) * 255)# Menampilkan hasilfig, axs = plt.subplots(2, 2, figsize=(12, 10))axs[0, 0].imshow(img_rgb)axs[0, 0].set_title('Citra Asli')axs[0, 0].axis('off')axs[0, 1].imshow(sobel_magnitude, cmap='gray')axs[0, 1].set_title('Deteksi Tepi Sobel')axs[0, 1].axis('off')axs[1, 0].imshow(canny, cmap='gray')axs[1, 0].set_title('Deteksi Tepi Canny')axs[1, 0].axis('off')axs[1, 1].imshow(lbp, cmap='gray')axs[1, 1].set_title('Local Binary Pattern (LBP)')axs[1, 1].axis('off')plt.tight_layout()plt.show()</a:t>
            </a:r>
            <a:endParaRPr lang="en-US" sz="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4118" y="387787"/>
            <a:ext cx="4100513" cy="286464"/>
          </a:xfrm>
          <a:prstGeom prst="rect">
            <a:avLst/>
          </a:prstGeom>
          <a:noFill/>
          <a:ln/>
        </p:spPr>
        <p:txBody>
          <a:bodyPr wrap="none" lIns="0" tIns="0" rIns="0" bIns="0" rtlCol="0" anchor="t"/>
          <a:lstStyle/>
          <a:p>
            <a:pPr algn="l" indent="0" marL="0">
              <a:lnSpc>
                <a:spcPts val="2250"/>
              </a:lnSpc>
              <a:buNone/>
            </a:pPr>
            <a:r>
              <a:rPr lang="en-US" sz="1800" dirty="0">
                <a:solidFill>
                  <a:srgbClr val="272D45"/>
                </a:solidFill>
                <a:latin typeface="Kanit Light" pitchFamily="34" charset="0"/>
                <a:ea typeface="Kanit Light" pitchFamily="34" charset="-122"/>
                <a:cs typeface="Kanit Light" pitchFamily="34" charset="-120"/>
              </a:rPr>
              <a:t>Studi Kasus: Analisis Perubahan Resolusi</a:t>
            </a:r>
            <a:endParaRPr lang="en-US" sz="1800" dirty="0"/>
          </a:p>
        </p:txBody>
      </p:sp>
      <p:sp>
        <p:nvSpPr>
          <p:cNvPr id="3" name="Text 1"/>
          <p:cNvSpPr/>
          <p:nvPr/>
        </p:nvSpPr>
        <p:spPr>
          <a:xfrm>
            <a:off x="564118" y="857607"/>
            <a:ext cx="13502164" cy="146685"/>
          </a:xfrm>
          <a:prstGeom prst="rect">
            <a:avLst/>
          </a:prstGeom>
          <a:noFill/>
          <a:ln/>
        </p:spPr>
        <p:txBody>
          <a:bodyPr wrap="none" lIns="0" tIns="0" rIns="0" bIns="0" rtlCol="0" anchor="t"/>
          <a:lstStyle/>
          <a:p>
            <a:pPr algn="l" indent="0" marL="0">
              <a:lnSpc>
                <a:spcPts val="1150"/>
              </a:lnSpc>
              <a:buNone/>
            </a:pPr>
            <a:r>
              <a:rPr lang="en-US" sz="700" dirty="0">
                <a:solidFill>
                  <a:srgbClr val="2C3249"/>
                </a:solidFill>
                <a:latin typeface="Martel Sans" pitchFamily="34" charset="0"/>
                <a:ea typeface="Martel Sans" pitchFamily="34" charset="-122"/>
                <a:cs typeface="Martel Sans" pitchFamily="34" charset="-120"/>
              </a:rPr>
              <a:t>Analisis perbandingan efek perubahan resolusi terhadap kualitas gambar untuk aplikasi pengenalan wajah.</a:t>
            </a:r>
            <a:endParaRPr lang="en-US" sz="700" dirty="0"/>
          </a:p>
        </p:txBody>
      </p:sp>
      <p:sp>
        <p:nvSpPr>
          <p:cNvPr id="4" name="Text 2"/>
          <p:cNvSpPr/>
          <p:nvPr/>
        </p:nvSpPr>
        <p:spPr>
          <a:xfrm>
            <a:off x="564118" y="1199078"/>
            <a:ext cx="1145977" cy="143232"/>
          </a:xfrm>
          <a:prstGeom prst="rect">
            <a:avLst/>
          </a:prstGeom>
          <a:noFill/>
          <a:ln/>
        </p:spPr>
        <p:txBody>
          <a:bodyPr wrap="none" lIns="0" tIns="0" rIns="0" bIns="0" rtlCol="0" anchor="t"/>
          <a:lstStyle/>
          <a:p>
            <a:pPr algn="l" indent="0" marL="0">
              <a:lnSpc>
                <a:spcPts val="1100"/>
              </a:lnSpc>
              <a:buNone/>
            </a:pPr>
            <a:r>
              <a:rPr lang="en-US" sz="900" dirty="0">
                <a:solidFill>
                  <a:srgbClr val="272D45"/>
                </a:solidFill>
                <a:latin typeface="Kanit Light" pitchFamily="34" charset="0"/>
                <a:ea typeface="Kanit Light" pitchFamily="34" charset="-122"/>
                <a:cs typeface="Kanit Light" pitchFamily="34" charset="-120"/>
              </a:rPr>
              <a:t>Metodologi</a:t>
            </a:r>
            <a:endParaRPr lang="en-US" sz="900" dirty="0"/>
          </a:p>
        </p:txBody>
      </p:sp>
      <p:sp>
        <p:nvSpPr>
          <p:cNvPr id="5" name="Text 3"/>
          <p:cNvSpPr/>
          <p:nvPr/>
        </p:nvSpPr>
        <p:spPr>
          <a:xfrm>
            <a:off x="564118" y="1433989"/>
            <a:ext cx="6639282" cy="146685"/>
          </a:xfrm>
          <a:prstGeom prst="rect">
            <a:avLst/>
          </a:prstGeom>
          <a:noFill/>
          <a:ln/>
        </p:spPr>
        <p:txBody>
          <a:bodyPr wrap="none" lIns="0" tIns="0" rIns="0" bIns="0" rtlCol="0" anchor="t"/>
          <a:lstStyle/>
          <a:p>
            <a:pPr algn="l" marL="342900" indent="-342900">
              <a:lnSpc>
                <a:spcPts val="1150"/>
              </a:lnSpc>
              <a:buSzPct val="100000"/>
              <a:buFont typeface="+mj-lt"/>
              <a:buAutoNum type="arabicPeriod" startAt="1"/>
            </a:pPr>
            <a:r>
              <a:rPr lang="en-US" sz="700" dirty="0">
                <a:solidFill>
                  <a:srgbClr val="2C3249"/>
                </a:solidFill>
                <a:latin typeface="Martel Sans" pitchFamily="34" charset="0"/>
                <a:ea typeface="Martel Sans" pitchFamily="34" charset="-122"/>
                <a:cs typeface="Martel Sans" pitchFamily="34" charset="-120"/>
              </a:rPr>
              <a:t>Citra wajah asli beresolusi tinggi (1024x1024 piksel)</a:t>
            </a:r>
            <a:endParaRPr lang="en-US" sz="700" dirty="0"/>
          </a:p>
        </p:txBody>
      </p:sp>
      <p:sp>
        <p:nvSpPr>
          <p:cNvPr id="6" name="Text 4"/>
          <p:cNvSpPr/>
          <p:nvPr/>
        </p:nvSpPr>
        <p:spPr>
          <a:xfrm>
            <a:off x="564118" y="1612702"/>
            <a:ext cx="6639282" cy="146685"/>
          </a:xfrm>
          <a:prstGeom prst="rect">
            <a:avLst/>
          </a:prstGeom>
          <a:noFill/>
          <a:ln/>
        </p:spPr>
        <p:txBody>
          <a:bodyPr wrap="none" lIns="0" tIns="0" rIns="0" bIns="0" rtlCol="0" anchor="t"/>
          <a:lstStyle/>
          <a:p>
            <a:pPr algn="l" marL="342900" indent="-342900">
              <a:lnSpc>
                <a:spcPts val="1150"/>
              </a:lnSpc>
              <a:buSzPct val="100000"/>
              <a:buFont typeface="+mj-lt"/>
              <a:buAutoNum type="arabicPeriod" startAt="2"/>
            </a:pPr>
            <a:r>
              <a:rPr lang="en-US" sz="700" dirty="0">
                <a:solidFill>
                  <a:srgbClr val="2C3249"/>
                </a:solidFill>
                <a:latin typeface="Martel Sans" pitchFamily="34" charset="0"/>
                <a:ea typeface="Martel Sans" pitchFamily="34" charset="-122"/>
                <a:cs typeface="Martel Sans" pitchFamily="34" charset="-120"/>
              </a:rPr>
              <a:t>Downsample ke berbagai resolusi: 512x512, 256x256, 128x128, 64x64</a:t>
            </a:r>
            <a:endParaRPr lang="en-US" sz="700" dirty="0"/>
          </a:p>
        </p:txBody>
      </p:sp>
      <p:sp>
        <p:nvSpPr>
          <p:cNvPr id="7" name="Text 5"/>
          <p:cNvSpPr/>
          <p:nvPr/>
        </p:nvSpPr>
        <p:spPr>
          <a:xfrm>
            <a:off x="564118" y="1791414"/>
            <a:ext cx="6639282" cy="146685"/>
          </a:xfrm>
          <a:prstGeom prst="rect">
            <a:avLst/>
          </a:prstGeom>
          <a:noFill/>
          <a:ln/>
        </p:spPr>
        <p:txBody>
          <a:bodyPr wrap="none" lIns="0" tIns="0" rIns="0" bIns="0" rtlCol="0" anchor="t"/>
          <a:lstStyle/>
          <a:p>
            <a:pPr algn="l" marL="342900" indent="-342900">
              <a:lnSpc>
                <a:spcPts val="1150"/>
              </a:lnSpc>
              <a:buSzPct val="100000"/>
              <a:buFont typeface="+mj-lt"/>
              <a:buAutoNum type="arabicPeriod" startAt="3"/>
            </a:pPr>
            <a:r>
              <a:rPr lang="en-US" sz="700" dirty="0">
                <a:solidFill>
                  <a:srgbClr val="2C3249"/>
                </a:solidFill>
                <a:latin typeface="Martel Sans" pitchFamily="34" charset="0"/>
                <a:ea typeface="Martel Sans" pitchFamily="34" charset="-122"/>
                <a:cs typeface="Martel Sans" pitchFamily="34" charset="-120"/>
              </a:rPr>
              <a:t>Terapkan algoritma pengenalan wajah pada setiap resolusi</a:t>
            </a:r>
            <a:endParaRPr lang="en-US" sz="700" dirty="0"/>
          </a:p>
        </p:txBody>
      </p:sp>
      <p:sp>
        <p:nvSpPr>
          <p:cNvPr id="8" name="Text 6"/>
          <p:cNvSpPr/>
          <p:nvPr/>
        </p:nvSpPr>
        <p:spPr>
          <a:xfrm>
            <a:off x="564118" y="1970127"/>
            <a:ext cx="6639282" cy="146685"/>
          </a:xfrm>
          <a:prstGeom prst="rect">
            <a:avLst/>
          </a:prstGeom>
          <a:noFill/>
          <a:ln/>
        </p:spPr>
        <p:txBody>
          <a:bodyPr wrap="none" lIns="0" tIns="0" rIns="0" bIns="0" rtlCol="0" anchor="t"/>
          <a:lstStyle/>
          <a:p>
            <a:pPr algn="l" marL="342900" indent="-342900">
              <a:lnSpc>
                <a:spcPts val="1150"/>
              </a:lnSpc>
              <a:buSzPct val="100000"/>
              <a:buFont typeface="+mj-lt"/>
              <a:buAutoNum type="arabicPeriod" startAt="4"/>
            </a:pPr>
            <a:r>
              <a:rPr lang="en-US" sz="700" dirty="0">
                <a:solidFill>
                  <a:srgbClr val="2C3249"/>
                </a:solidFill>
                <a:latin typeface="Martel Sans" pitchFamily="34" charset="0"/>
                <a:ea typeface="Martel Sans" pitchFamily="34" charset="-122"/>
                <a:cs typeface="Martel Sans" pitchFamily="34" charset="-120"/>
              </a:rPr>
              <a:t>Ukur akurasi pengenalan dan waktu pemrosesan</a:t>
            </a:r>
            <a:endParaRPr lang="en-US" sz="700" dirty="0"/>
          </a:p>
        </p:txBody>
      </p:sp>
      <p:sp>
        <p:nvSpPr>
          <p:cNvPr id="9" name="Text 7"/>
          <p:cNvSpPr/>
          <p:nvPr/>
        </p:nvSpPr>
        <p:spPr>
          <a:xfrm>
            <a:off x="7434620" y="1199078"/>
            <a:ext cx="1145977" cy="143232"/>
          </a:xfrm>
          <a:prstGeom prst="rect">
            <a:avLst/>
          </a:prstGeom>
          <a:noFill/>
          <a:ln/>
        </p:spPr>
        <p:txBody>
          <a:bodyPr wrap="none" lIns="0" tIns="0" rIns="0" bIns="0" rtlCol="0" anchor="t"/>
          <a:lstStyle/>
          <a:p>
            <a:pPr algn="l" indent="0" marL="0">
              <a:lnSpc>
                <a:spcPts val="1100"/>
              </a:lnSpc>
              <a:buNone/>
            </a:pPr>
            <a:r>
              <a:rPr lang="en-US" sz="900" dirty="0">
                <a:solidFill>
                  <a:srgbClr val="272D45"/>
                </a:solidFill>
                <a:latin typeface="Kanit Light" pitchFamily="34" charset="0"/>
                <a:ea typeface="Kanit Light" pitchFamily="34" charset="-122"/>
                <a:cs typeface="Kanit Light" pitchFamily="34" charset="-120"/>
              </a:rPr>
              <a:t>Implementasi Python</a:t>
            </a:r>
            <a:endParaRPr lang="en-US" sz="900" dirty="0"/>
          </a:p>
        </p:txBody>
      </p:sp>
      <p:sp>
        <p:nvSpPr>
          <p:cNvPr id="10" name="Shape 8"/>
          <p:cNvSpPr/>
          <p:nvPr/>
        </p:nvSpPr>
        <p:spPr>
          <a:xfrm>
            <a:off x="7434620" y="1445419"/>
            <a:ext cx="6639282" cy="6298168"/>
          </a:xfrm>
          <a:prstGeom prst="roundRect">
            <a:avLst>
              <a:gd name="adj" fmla="val 611"/>
            </a:avLst>
          </a:prstGeom>
          <a:solidFill>
            <a:srgbClr val="E5E5E5"/>
          </a:solidFill>
          <a:ln/>
        </p:spPr>
      </p:sp>
      <p:sp>
        <p:nvSpPr>
          <p:cNvPr id="11" name="Shape 9"/>
          <p:cNvSpPr/>
          <p:nvPr/>
        </p:nvSpPr>
        <p:spPr>
          <a:xfrm>
            <a:off x="7430095" y="1445419"/>
            <a:ext cx="6648331" cy="6298168"/>
          </a:xfrm>
          <a:prstGeom prst="roundRect">
            <a:avLst>
              <a:gd name="adj" fmla="val 218"/>
            </a:avLst>
          </a:prstGeom>
          <a:solidFill>
            <a:srgbClr val="E5E5E5"/>
          </a:solidFill>
          <a:ln/>
        </p:spPr>
      </p:sp>
      <p:sp>
        <p:nvSpPr>
          <p:cNvPr id="12" name="Text 10"/>
          <p:cNvSpPr/>
          <p:nvPr/>
        </p:nvSpPr>
        <p:spPr>
          <a:xfrm>
            <a:off x="7521773" y="1514118"/>
            <a:ext cx="6464975" cy="6160770"/>
          </a:xfrm>
          <a:prstGeom prst="rect">
            <a:avLst/>
          </a:prstGeom>
          <a:noFill/>
          <a:ln/>
        </p:spPr>
        <p:txBody>
          <a:bodyPr wrap="square" lIns="0" tIns="0" rIns="0" bIns="0" rtlCol="0" anchor="t"/>
          <a:lstStyle/>
          <a:p>
            <a:pPr algn="l" indent="0" marL="0">
              <a:lnSpc>
                <a:spcPts val="1150"/>
              </a:lnSpc>
              <a:buNone/>
            </a:pPr>
            <a:r>
              <a:rPr lang="en-US" sz="700" dirty="0">
                <a:solidFill>
                  <a:srgbClr val="2C3249"/>
                </a:solidFill>
                <a:highlight>
                  <a:srgbClr val="E5E5E5"/>
                </a:highlight>
                <a:latin typeface="Consolas" pitchFamily="34" charset="0"/>
                <a:ea typeface="Consolas" pitchFamily="34" charset="-122"/>
                <a:cs typeface="Consolas" pitchFamily="34" charset="-120"/>
              </a:rPr>
              <a:t>import cv2import timeimport numpy as np# Membaca citra asliimg = cv2.imread('wajah.jpg')original_size = img.shape[:2]# Resolusi yang akan diujiresolutions = [ (512, 512), (256, 256), (128, 128), (64, 64)]results = []for res in resolutions: # Resize citra resized = cv2.resize(img, res)  # Ukur waktu pemrosesan start_time = time.time()  # Simulasi algoritma pengenalan wajah face_cascade = cv2.CascadeClassifier( cv2.data.haarcascades +  'haarcascade_frontalface_default.xml' ) gray = cv2.cvtColor(resized, cv2.COLOR_BGR2GRAY) faces = face_cascade.detectMultiScale(gray, 1.1, 4)  process_time = time.time() - start_time  # Simpan hasil results.append({ 'resolution': res, 'faces_detected': len(faces), 'process_time': process_time })</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672584"/>
            <a:ext cx="5482828" cy="465177"/>
          </a:xfrm>
          <a:prstGeom prst="rect">
            <a:avLst/>
          </a:prstGeom>
          <a:noFill/>
          <a:ln/>
        </p:spPr>
        <p:txBody>
          <a:bodyPr wrap="none" lIns="0" tIns="0" rIns="0" bIns="0" rtlCol="0" anchor="t"/>
          <a:lstStyle/>
          <a:p>
            <a:pPr algn="l" indent="0" marL="0">
              <a:lnSpc>
                <a:spcPts val="3650"/>
              </a:lnSpc>
              <a:buNone/>
            </a:pPr>
            <a:r>
              <a:rPr lang="en-US" sz="2900" dirty="0">
                <a:solidFill>
                  <a:srgbClr val="272D45"/>
                </a:solidFill>
                <a:latin typeface="Kanit Light" pitchFamily="34" charset="0"/>
                <a:ea typeface="Kanit Light" pitchFamily="34" charset="-122"/>
                <a:cs typeface="Kanit Light" pitchFamily="34" charset="-120"/>
              </a:rPr>
              <a:t>Hasil Analisis Perubahan Resolusi</a:t>
            </a:r>
            <a:endParaRPr lang="en-US" sz="2900" dirty="0"/>
          </a:p>
        </p:txBody>
      </p:sp>
      <p:pic>
        <p:nvPicPr>
          <p:cNvPr id="3" name="Image 0" descr="preencoded.png">    </p:cNvPr>
          <p:cNvPicPr>
            <a:picLocks noChangeAspect="1"/>
          </p:cNvPicPr>
          <p:nvPr/>
        </p:nvPicPr>
        <p:blipFill>
          <a:blip r:embed="rId1"/>
          <a:stretch>
            <a:fillRect/>
          </a:stretch>
        </p:blipFill>
        <p:spPr>
          <a:xfrm>
            <a:off x="793790" y="1435418"/>
            <a:ext cx="9782056" cy="5031343"/>
          </a:xfrm>
          <a:prstGeom prst="rect">
            <a:avLst/>
          </a:prstGeom>
        </p:spPr>
      </p:pic>
      <p:sp>
        <p:nvSpPr>
          <p:cNvPr id="4" name="Shape 1"/>
          <p:cNvSpPr/>
          <p:nvPr/>
        </p:nvSpPr>
        <p:spPr>
          <a:xfrm>
            <a:off x="3754874" y="6466761"/>
            <a:ext cx="148828" cy="148828"/>
          </a:xfrm>
          <a:prstGeom prst="roundRect">
            <a:avLst>
              <a:gd name="adj" fmla="val 12288"/>
            </a:avLst>
          </a:prstGeom>
          <a:solidFill>
            <a:srgbClr val="1D302C"/>
          </a:solidFill>
          <a:ln/>
        </p:spPr>
      </p:sp>
      <p:sp>
        <p:nvSpPr>
          <p:cNvPr id="5" name="Text 2"/>
          <p:cNvSpPr/>
          <p:nvPr/>
        </p:nvSpPr>
        <p:spPr>
          <a:xfrm>
            <a:off x="3964662" y="6466761"/>
            <a:ext cx="1643896" cy="148828"/>
          </a:xfrm>
          <a:prstGeom prst="rect">
            <a:avLst/>
          </a:prstGeom>
          <a:noFill/>
          <a:ln/>
        </p:spPr>
        <p:txBody>
          <a:bodyPr wrap="none" lIns="0" tIns="0" rIns="0" bIns="0" rtlCol="0" anchor="t"/>
          <a:lstStyle/>
          <a:p>
            <a:pPr algn="l" indent="0" marL="0">
              <a:lnSpc>
                <a:spcPts val="1150"/>
              </a:lnSpc>
              <a:buNone/>
            </a:pPr>
            <a:r>
              <a:rPr lang="en-US" sz="1150" dirty="0">
                <a:solidFill>
                  <a:srgbClr val="2C3249"/>
                </a:solidFill>
                <a:latin typeface="Martel Sans" pitchFamily="34" charset="0"/>
                <a:ea typeface="Martel Sans" pitchFamily="34" charset="-122"/>
                <a:cs typeface="Martel Sans" pitchFamily="34" charset="-120"/>
              </a:rPr>
              <a:t>Akurasi Pengenalan (%)</a:t>
            </a:r>
            <a:endParaRPr lang="en-US" sz="1150" dirty="0"/>
          </a:p>
        </p:txBody>
      </p:sp>
      <p:sp>
        <p:nvSpPr>
          <p:cNvPr id="6" name="Shape 3"/>
          <p:cNvSpPr/>
          <p:nvPr/>
        </p:nvSpPr>
        <p:spPr>
          <a:xfrm>
            <a:off x="5760958" y="6466761"/>
            <a:ext cx="148828" cy="148828"/>
          </a:xfrm>
          <a:prstGeom prst="roundRect">
            <a:avLst>
              <a:gd name="adj" fmla="val 12288"/>
            </a:avLst>
          </a:prstGeom>
          <a:solidFill>
            <a:srgbClr val="3E685E"/>
          </a:solidFill>
          <a:ln/>
        </p:spPr>
      </p:sp>
      <p:sp>
        <p:nvSpPr>
          <p:cNvPr id="7" name="Text 4"/>
          <p:cNvSpPr/>
          <p:nvPr/>
        </p:nvSpPr>
        <p:spPr>
          <a:xfrm>
            <a:off x="5970746" y="6466761"/>
            <a:ext cx="1709023" cy="148828"/>
          </a:xfrm>
          <a:prstGeom prst="rect">
            <a:avLst/>
          </a:prstGeom>
          <a:noFill/>
          <a:ln/>
        </p:spPr>
        <p:txBody>
          <a:bodyPr wrap="none" lIns="0" tIns="0" rIns="0" bIns="0" rtlCol="0" anchor="t"/>
          <a:lstStyle/>
          <a:p>
            <a:pPr algn="l" indent="0" marL="0">
              <a:lnSpc>
                <a:spcPts val="1150"/>
              </a:lnSpc>
              <a:buNone/>
            </a:pPr>
            <a:r>
              <a:rPr lang="en-US" sz="1150" dirty="0">
                <a:solidFill>
                  <a:srgbClr val="2C3249"/>
                </a:solidFill>
                <a:latin typeface="Martel Sans" pitchFamily="34" charset="0"/>
                <a:ea typeface="Martel Sans" pitchFamily="34" charset="-122"/>
                <a:cs typeface="Martel Sans" pitchFamily="34" charset="-120"/>
              </a:rPr>
              <a:t>Waktu Pemrosesan (ms)</a:t>
            </a:r>
            <a:endParaRPr lang="en-US" sz="1150" dirty="0"/>
          </a:p>
        </p:txBody>
      </p:sp>
      <p:sp>
        <p:nvSpPr>
          <p:cNvPr id="8" name="Text 5"/>
          <p:cNvSpPr/>
          <p:nvPr/>
        </p:nvSpPr>
        <p:spPr>
          <a:xfrm>
            <a:off x="793790" y="7080766"/>
            <a:ext cx="13042821" cy="476250"/>
          </a:xfrm>
          <a:prstGeom prst="rect">
            <a:avLst/>
          </a:prstGeom>
          <a:noFill/>
          <a:ln/>
        </p:spPr>
        <p:txBody>
          <a:bodyPr wrap="square" lIns="0" tIns="0" rIns="0" bIns="0" rtlCol="0" anchor="t"/>
          <a:lstStyle/>
          <a:p>
            <a:pPr algn="l" indent="0" marL="0">
              <a:lnSpc>
                <a:spcPts val="1850"/>
              </a:lnSpc>
              <a:buNone/>
            </a:pPr>
            <a:r>
              <a:rPr lang="en-US" sz="1150" dirty="0">
                <a:solidFill>
                  <a:srgbClr val="2C3249"/>
                </a:solidFill>
                <a:latin typeface="Martel Sans" pitchFamily="34" charset="0"/>
                <a:ea typeface="Martel Sans" pitchFamily="34" charset="-122"/>
                <a:cs typeface="Martel Sans" pitchFamily="34" charset="-120"/>
              </a:rPr>
              <a:t>Grafik di atas menunjukkan hubungan antara resolusi citra, akurasi pengenalan wajah, dan waktu pemrosesan. Terlihat bahwa akurasi menurun signifikan saat resolusi dikurangi di bawah 256x256 piksel, sementara waktu pemrosesan menurun secara proporsional dengan pengurangan resolusi.</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051441"/>
            <a:ext cx="6666667"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Interpretasi Hasil dan Implikasi</a:t>
            </a:r>
            <a:endParaRPr lang="en-US" sz="3900" dirty="0"/>
          </a:p>
        </p:txBody>
      </p:sp>
      <p:sp>
        <p:nvSpPr>
          <p:cNvPr id="3" name="Shape 1"/>
          <p:cNvSpPr/>
          <p:nvPr/>
        </p:nvSpPr>
        <p:spPr>
          <a:xfrm>
            <a:off x="793790" y="2068354"/>
            <a:ext cx="6422231" cy="2769513"/>
          </a:xfrm>
          <a:prstGeom prst="roundRect">
            <a:avLst>
              <a:gd name="adj" fmla="val 3962"/>
            </a:avLst>
          </a:prstGeom>
          <a:solidFill>
            <a:srgbClr val="FFFFFF"/>
          </a:solidFill>
          <a:ln w="22860">
            <a:solidFill>
              <a:srgbClr val="C5D2CF"/>
            </a:solidFill>
            <a:prstDash val="solid"/>
          </a:ln>
        </p:spPr>
      </p:sp>
      <p:sp>
        <p:nvSpPr>
          <p:cNvPr id="4" name="Shape 2"/>
          <p:cNvSpPr/>
          <p:nvPr/>
        </p:nvSpPr>
        <p:spPr>
          <a:xfrm>
            <a:off x="770930" y="2068354"/>
            <a:ext cx="91440" cy="2769513"/>
          </a:xfrm>
          <a:prstGeom prst="roundRect">
            <a:avLst>
              <a:gd name="adj" fmla="val 91163"/>
            </a:avLst>
          </a:prstGeom>
          <a:solidFill>
            <a:srgbClr val="437066"/>
          </a:solidFill>
          <a:ln/>
        </p:spPr>
      </p:sp>
      <p:sp>
        <p:nvSpPr>
          <p:cNvPr id="5" name="Text 3"/>
          <p:cNvSpPr/>
          <p:nvPr/>
        </p:nvSpPr>
        <p:spPr>
          <a:xfrm>
            <a:off x="1083588" y="2289572"/>
            <a:ext cx="3249930"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Trade-off Kualitas dan Kinerja</a:t>
            </a:r>
            <a:endParaRPr lang="en-US" sz="1950" dirty="0"/>
          </a:p>
        </p:txBody>
      </p:sp>
      <p:sp>
        <p:nvSpPr>
          <p:cNvPr id="6" name="Text 4"/>
          <p:cNvSpPr/>
          <p:nvPr/>
        </p:nvSpPr>
        <p:spPr>
          <a:xfrm>
            <a:off x="1083588" y="2718792"/>
            <a:ext cx="5911215"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Terdapat trade-off yang jelas antara kualitas (akurasi pengenalan) dan kinerja (waktu pemrosesan). Resolusi 256x256 menawarkan keseimbangan yang baik untuk banyak aplikasi pengenalan wajah.</a:t>
            </a:r>
            <a:endParaRPr lang="en-US" sz="1550" dirty="0"/>
          </a:p>
        </p:txBody>
      </p:sp>
      <p:sp>
        <p:nvSpPr>
          <p:cNvPr id="7" name="Shape 5"/>
          <p:cNvSpPr/>
          <p:nvPr/>
        </p:nvSpPr>
        <p:spPr>
          <a:xfrm>
            <a:off x="7414379" y="2068354"/>
            <a:ext cx="6422231" cy="2769513"/>
          </a:xfrm>
          <a:prstGeom prst="roundRect">
            <a:avLst>
              <a:gd name="adj" fmla="val 3962"/>
            </a:avLst>
          </a:prstGeom>
          <a:solidFill>
            <a:srgbClr val="FFFFFF"/>
          </a:solidFill>
          <a:ln w="22860">
            <a:solidFill>
              <a:srgbClr val="C5D2CF"/>
            </a:solidFill>
            <a:prstDash val="solid"/>
          </a:ln>
        </p:spPr>
      </p:sp>
      <p:sp>
        <p:nvSpPr>
          <p:cNvPr id="8" name="Shape 6"/>
          <p:cNvSpPr/>
          <p:nvPr/>
        </p:nvSpPr>
        <p:spPr>
          <a:xfrm>
            <a:off x="7391519" y="2068354"/>
            <a:ext cx="91440" cy="2769513"/>
          </a:xfrm>
          <a:prstGeom prst="roundRect">
            <a:avLst>
              <a:gd name="adj" fmla="val 91163"/>
            </a:avLst>
          </a:prstGeom>
          <a:solidFill>
            <a:srgbClr val="437066"/>
          </a:solidFill>
          <a:ln/>
        </p:spPr>
      </p:sp>
      <p:sp>
        <p:nvSpPr>
          <p:cNvPr id="9" name="Text 7"/>
          <p:cNvSpPr/>
          <p:nvPr/>
        </p:nvSpPr>
        <p:spPr>
          <a:xfrm>
            <a:off x="7704177" y="2289572"/>
            <a:ext cx="5911215" cy="620316"/>
          </a:xfrm>
          <a:prstGeom prst="rect">
            <a:avLst/>
          </a:prstGeom>
          <a:noFill/>
          <a:ln/>
        </p:spPr>
        <p:txBody>
          <a:bodyPr wrap="squar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Implikasi untuk Perangkat dengan Sumber Daya Terbatas</a:t>
            </a:r>
            <a:endParaRPr lang="en-US" sz="1950" dirty="0"/>
          </a:p>
        </p:txBody>
      </p:sp>
      <p:sp>
        <p:nvSpPr>
          <p:cNvPr id="10" name="Text 8"/>
          <p:cNvSpPr/>
          <p:nvPr/>
        </p:nvSpPr>
        <p:spPr>
          <a:xfrm>
            <a:off x="7704177" y="3028950"/>
            <a:ext cx="5911215" cy="1587698"/>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Pada perangkat dengan kemampuan komputasi terbatas (seperti perangkat mobile atau embedded system), menggunakan resolusi yang lebih rendah dapat menjadi pilihan yang masuk akal jika tingkat akurasi yang lebih rendah masih dapat diterima.</a:t>
            </a:r>
            <a:endParaRPr lang="en-US" sz="1550" dirty="0"/>
          </a:p>
        </p:txBody>
      </p:sp>
      <p:sp>
        <p:nvSpPr>
          <p:cNvPr id="11" name="Shape 9"/>
          <p:cNvSpPr/>
          <p:nvPr/>
        </p:nvSpPr>
        <p:spPr>
          <a:xfrm>
            <a:off x="793790" y="5036225"/>
            <a:ext cx="6422231" cy="2141815"/>
          </a:xfrm>
          <a:prstGeom prst="roundRect">
            <a:avLst>
              <a:gd name="adj" fmla="val 5123"/>
            </a:avLst>
          </a:prstGeom>
          <a:solidFill>
            <a:srgbClr val="FFFFFF"/>
          </a:solidFill>
          <a:ln w="22860">
            <a:solidFill>
              <a:srgbClr val="C5D2CF"/>
            </a:solidFill>
            <a:prstDash val="solid"/>
          </a:ln>
        </p:spPr>
      </p:sp>
      <p:sp>
        <p:nvSpPr>
          <p:cNvPr id="12" name="Shape 10"/>
          <p:cNvSpPr/>
          <p:nvPr/>
        </p:nvSpPr>
        <p:spPr>
          <a:xfrm>
            <a:off x="770930" y="5036225"/>
            <a:ext cx="91440" cy="2141815"/>
          </a:xfrm>
          <a:prstGeom prst="roundRect">
            <a:avLst>
              <a:gd name="adj" fmla="val 91163"/>
            </a:avLst>
          </a:prstGeom>
          <a:solidFill>
            <a:srgbClr val="437066"/>
          </a:solidFill>
          <a:ln/>
        </p:spPr>
      </p:sp>
      <p:sp>
        <p:nvSpPr>
          <p:cNvPr id="13" name="Text 11"/>
          <p:cNvSpPr/>
          <p:nvPr/>
        </p:nvSpPr>
        <p:spPr>
          <a:xfrm>
            <a:off x="1083588" y="525744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Pendekatan Adaptif</a:t>
            </a:r>
            <a:endParaRPr lang="en-US" sz="1950" dirty="0"/>
          </a:p>
        </p:txBody>
      </p:sp>
      <p:sp>
        <p:nvSpPr>
          <p:cNvPr id="14" name="Text 12"/>
          <p:cNvSpPr/>
          <p:nvPr/>
        </p:nvSpPr>
        <p:spPr>
          <a:xfrm>
            <a:off x="1083588" y="5686663"/>
            <a:ext cx="5911215"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Implementasi sistem adaptif yang menyesuaikan resolusi berdasarkan ketersediaan sumber daya komputasi dan kebutuhan akurasi dapat mengoptimalkan kinerja secara keseluruhan.</a:t>
            </a:r>
            <a:endParaRPr lang="en-US" sz="1550" dirty="0"/>
          </a:p>
        </p:txBody>
      </p:sp>
      <p:sp>
        <p:nvSpPr>
          <p:cNvPr id="15" name="Shape 13"/>
          <p:cNvSpPr/>
          <p:nvPr/>
        </p:nvSpPr>
        <p:spPr>
          <a:xfrm>
            <a:off x="7414379" y="5036225"/>
            <a:ext cx="6422231" cy="2141815"/>
          </a:xfrm>
          <a:prstGeom prst="roundRect">
            <a:avLst>
              <a:gd name="adj" fmla="val 5123"/>
            </a:avLst>
          </a:prstGeom>
          <a:solidFill>
            <a:srgbClr val="FFFFFF"/>
          </a:solidFill>
          <a:ln w="22860">
            <a:solidFill>
              <a:srgbClr val="C5D2CF"/>
            </a:solidFill>
            <a:prstDash val="solid"/>
          </a:ln>
        </p:spPr>
      </p:sp>
      <p:sp>
        <p:nvSpPr>
          <p:cNvPr id="16" name="Shape 14"/>
          <p:cNvSpPr/>
          <p:nvPr/>
        </p:nvSpPr>
        <p:spPr>
          <a:xfrm>
            <a:off x="7391519" y="5036225"/>
            <a:ext cx="91440" cy="2141815"/>
          </a:xfrm>
          <a:prstGeom prst="roundRect">
            <a:avLst>
              <a:gd name="adj" fmla="val 91163"/>
            </a:avLst>
          </a:prstGeom>
          <a:solidFill>
            <a:srgbClr val="437066"/>
          </a:solidFill>
          <a:ln/>
        </p:spPr>
      </p:sp>
      <p:sp>
        <p:nvSpPr>
          <p:cNvPr id="17" name="Text 15"/>
          <p:cNvSpPr/>
          <p:nvPr/>
        </p:nvSpPr>
        <p:spPr>
          <a:xfrm>
            <a:off x="7704177" y="5257443"/>
            <a:ext cx="3373874" cy="310158"/>
          </a:xfrm>
          <a:prstGeom prst="rect">
            <a:avLst/>
          </a:prstGeom>
          <a:noFill/>
          <a:ln/>
        </p:spPr>
        <p:txBody>
          <a:bodyPr wrap="none" lIns="0" tIns="0" rIns="0" bIns="0" rtlCol="0" anchor="t"/>
          <a:lstStyle/>
          <a:p>
            <a:pPr algn="l" indent="0" marL="0">
              <a:lnSpc>
                <a:spcPts val="2400"/>
              </a:lnSpc>
              <a:buNone/>
            </a:pPr>
            <a:r>
              <a:rPr lang="en-US" sz="1950" dirty="0">
                <a:solidFill>
                  <a:srgbClr val="2C3249"/>
                </a:solidFill>
                <a:latin typeface="Kanit Light" pitchFamily="34" charset="0"/>
                <a:ea typeface="Kanit Light" pitchFamily="34" charset="-122"/>
                <a:cs typeface="Kanit Light" pitchFamily="34" charset="-120"/>
              </a:rPr>
              <a:t>Pertimbangan Aplikasi Spesifik</a:t>
            </a:r>
            <a:endParaRPr lang="en-US" sz="1950" dirty="0"/>
          </a:p>
        </p:txBody>
      </p:sp>
      <p:sp>
        <p:nvSpPr>
          <p:cNvPr id="18" name="Text 16"/>
          <p:cNvSpPr/>
          <p:nvPr/>
        </p:nvSpPr>
        <p:spPr>
          <a:xfrm>
            <a:off x="7704177" y="5686663"/>
            <a:ext cx="5911215" cy="1270159"/>
          </a:xfrm>
          <a:prstGeom prst="rect">
            <a:avLst/>
          </a:prstGeom>
          <a:noFill/>
          <a:ln/>
        </p:spPr>
        <p:txBody>
          <a:bodyPr wrap="square" lIns="0" tIns="0" rIns="0" bIns="0" rtlCol="0" anchor="t"/>
          <a:lstStyle/>
          <a:p>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Kebutuhan resolusi bervariasi berdasarkan aplikasi. Sistem keamanan mungkin memerlukan akurasi yang lebih tinggi, sementara aplikasi pengkategorian foto dapat beroperasi dengan resolusi lebih rendah.</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699974"/>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272D45"/>
                </a:solidFill>
                <a:latin typeface="Kanit Light" pitchFamily="34" charset="0"/>
                <a:ea typeface="Kanit Light" pitchFamily="34" charset="-122"/>
                <a:cs typeface="Kanit Light" pitchFamily="34" charset="-120"/>
              </a:rPr>
              <a:t>Referensi</a:t>
            </a:r>
            <a:endParaRPr lang="en-US" sz="3900" dirty="0"/>
          </a:p>
        </p:txBody>
      </p:sp>
      <p:sp>
        <p:nvSpPr>
          <p:cNvPr id="3" name="Text 1"/>
          <p:cNvSpPr/>
          <p:nvPr/>
        </p:nvSpPr>
        <p:spPr>
          <a:xfrm>
            <a:off x="793790" y="281606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Buku</a:t>
            </a:r>
            <a:endParaRPr lang="en-US" sz="1950" dirty="0"/>
          </a:p>
        </p:txBody>
      </p:sp>
      <p:sp>
        <p:nvSpPr>
          <p:cNvPr id="4" name="Text 2"/>
          <p:cNvSpPr/>
          <p:nvPr/>
        </p:nvSpPr>
        <p:spPr>
          <a:xfrm>
            <a:off x="793790" y="3324582"/>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Gonzalez, R. C., &amp; Woods, R. E. (2018).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Digital Image Processing</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(4th ed.). Pearson.</a:t>
            </a:r>
            <a:endParaRPr lang="en-US" sz="1550" dirty="0"/>
          </a:p>
        </p:txBody>
      </p:sp>
      <p:sp>
        <p:nvSpPr>
          <p:cNvPr id="5" name="Text 3"/>
          <p:cNvSpPr/>
          <p:nvPr/>
        </p:nvSpPr>
        <p:spPr>
          <a:xfrm>
            <a:off x="793790" y="402907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Szeliski, R. (2022).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Computer Vision: Algorithms and Applications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(2nd ed.). Springer.</a:t>
            </a:r>
            <a:endParaRPr lang="en-US" sz="1550" dirty="0"/>
          </a:p>
        </p:txBody>
      </p:sp>
      <p:sp>
        <p:nvSpPr>
          <p:cNvPr id="6" name="Text 4"/>
          <p:cNvSpPr/>
          <p:nvPr/>
        </p:nvSpPr>
        <p:spPr>
          <a:xfrm>
            <a:off x="793790" y="473356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Burger, W., &amp; Burge, M. J. (2016).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Digital Image Processing: An Algorithmic Introduction Using Java</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(2nd ed.). Springer.</a:t>
            </a:r>
            <a:endParaRPr lang="en-US" sz="1550" dirty="0"/>
          </a:p>
        </p:txBody>
      </p:sp>
      <p:sp>
        <p:nvSpPr>
          <p:cNvPr id="7" name="Text 5"/>
          <p:cNvSpPr/>
          <p:nvPr/>
        </p:nvSpPr>
        <p:spPr>
          <a:xfrm>
            <a:off x="793790" y="543806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Marques, O. (2011).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Practical Image and Video Processing Using MATLAB</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Wiley-IEEE Press.</a:t>
            </a:r>
            <a:endParaRPr lang="en-US" sz="1550" dirty="0"/>
          </a:p>
        </p:txBody>
      </p:sp>
      <p:sp>
        <p:nvSpPr>
          <p:cNvPr id="8" name="Text 6"/>
          <p:cNvSpPr/>
          <p:nvPr/>
        </p:nvSpPr>
        <p:spPr>
          <a:xfrm>
            <a:off x="7564874" y="2816066"/>
            <a:ext cx="2643307" cy="310158"/>
          </a:xfrm>
          <a:prstGeom prst="rect">
            <a:avLst/>
          </a:prstGeom>
          <a:noFill/>
          <a:ln/>
        </p:spPr>
        <p:txBody>
          <a:bodyPr wrap="none" lIns="0" tIns="0" rIns="0" bIns="0" rtlCol="0" anchor="t"/>
          <a:lstStyle/>
          <a:p>
            <a:pPr algn="l" indent="0" marL="0">
              <a:lnSpc>
                <a:spcPts val="2400"/>
              </a:lnSpc>
              <a:buNone/>
            </a:pPr>
            <a:r>
              <a:rPr lang="en-US" sz="1950" dirty="0">
                <a:solidFill>
                  <a:srgbClr val="272D45"/>
                </a:solidFill>
                <a:latin typeface="Kanit Light" pitchFamily="34" charset="0"/>
                <a:ea typeface="Kanit Light" pitchFamily="34" charset="-122"/>
                <a:cs typeface="Kanit Light" pitchFamily="34" charset="-120"/>
              </a:rPr>
              <a:t>Jurnal dan Dokumentasi</a:t>
            </a:r>
            <a:endParaRPr lang="en-US" sz="1950" dirty="0"/>
          </a:p>
        </p:txBody>
      </p:sp>
      <p:sp>
        <p:nvSpPr>
          <p:cNvPr id="9" name="Text 7"/>
          <p:cNvSpPr/>
          <p:nvPr/>
        </p:nvSpPr>
        <p:spPr>
          <a:xfrm>
            <a:off x="7564874" y="332458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OpenCV Documentation: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https://docs.opencv.org/</a:t>
            </a:r>
            <a:endParaRPr lang="en-US" sz="1550" dirty="0"/>
          </a:p>
        </p:txBody>
      </p:sp>
      <p:sp>
        <p:nvSpPr>
          <p:cNvPr id="10" name="Text 8"/>
          <p:cNvSpPr/>
          <p:nvPr/>
        </p:nvSpPr>
        <p:spPr>
          <a:xfrm>
            <a:off x="7564874" y="3711535"/>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Pillow (PIL Fork) Documentation: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https://pillow.readthedocs.io/</a:t>
            </a:r>
            <a:endParaRPr lang="en-US" sz="1550" dirty="0"/>
          </a:p>
        </p:txBody>
      </p:sp>
      <p:sp>
        <p:nvSpPr>
          <p:cNvPr id="11" name="Text 9"/>
          <p:cNvSpPr/>
          <p:nvPr/>
        </p:nvSpPr>
        <p:spPr>
          <a:xfrm>
            <a:off x="7564874" y="4416028"/>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scikit-image: Image processing in Python: </a:t>
            </a:r>
            <a:pPr algn="l" indent="0" marL="0">
              <a:lnSpc>
                <a:spcPts val="2500"/>
              </a:lnSpc>
              <a:buNone/>
            </a:pPr>
            <a:r>
              <a:rPr lang="en-US" sz="1550" u="sng" dirty="0">
                <a:solidFill>
                  <a:srgbClr val="437066"/>
                </a:solidFill>
                <a:latin typeface="Martel Sans" pitchFamily="34" charset="0"/>
                <a:ea typeface="Martel Sans" pitchFamily="34" charset="-122"/>
                <a:cs typeface="Martel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https://scikit-image.org/</a:t>
            </a:r>
            <a:endParaRPr lang="en-US" sz="1550" dirty="0"/>
          </a:p>
        </p:txBody>
      </p:sp>
      <p:sp>
        <p:nvSpPr>
          <p:cNvPr id="12" name="Text 10"/>
          <p:cNvSpPr/>
          <p:nvPr/>
        </p:nvSpPr>
        <p:spPr>
          <a:xfrm>
            <a:off x="7564874" y="5120521"/>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Bradski, G. (2000). The OpenCV Library.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Dr. Dobb's Journal of Software Tools</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a:t>
            </a:r>
            <a:endParaRPr lang="en-US" sz="1550" dirty="0"/>
          </a:p>
        </p:txBody>
      </p:sp>
      <p:sp>
        <p:nvSpPr>
          <p:cNvPr id="13" name="Text 11"/>
          <p:cNvSpPr/>
          <p:nvPr/>
        </p:nvSpPr>
        <p:spPr>
          <a:xfrm>
            <a:off x="7564874" y="582501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C3249"/>
                </a:solidFill>
                <a:latin typeface="Martel Sans" pitchFamily="34" charset="0"/>
                <a:ea typeface="Martel Sans" pitchFamily="34" charset="-122"/>
                <a:cs typeface="Martel Sans" pitchFamily="34" charset="-120"/>
              </a:rPr>
              <a:t>Van der Walt, S., et al. (2014). scikit-image: Image processing in Python. </a:t>
            </a:r>
            <a:pPr algn="l" indent="0" marL="0">
              <a:lnSpc>
                <a:spcPts val="2500"/>
              </a:lnSpc>
              <a:buNone/>
            </a:pPr>
            <a:r>
              <a:rPr lang="en-US" sz="1550" i="1" dirty="0">
                <a:solidFill>
                  <a:srgbClr val="2C3249"/>
                </a:solidFill>
                <a:latin typeface="Martel Sans" pitchFamily="34" charset="0"/>
                <a:ea typeface="Martel Sans" pitchFamily="34" charset="-122"/>
                <a:cs typeface="Martel Sans" pitchFamily="34" charset="-120"/>
              </a:rPr>
              <a:t>PeerJ</a:t>
            </a:r>
            <a:pPr algn="l" indent="0" marL="0">
              <a:lnSpc>
                <a:spcPts val="2500"/>
              </a:lnSpc>
              <a:buNone/>
            </a:pPr>
            <a:r>
              <a:rPr lang="en-US" sz="1550" dirty="0">
                <a:solidFill>
                  <a:srgbClr val="2C3249"/>
                </a:solidFill>
                <a:latin typeface="Martel Sans" pitchFamily="34" charset="0"/>
                <a:ea typeface="Martel Sans" pitchFamily="34" charset="-122"/>
                <a:cs typeface="Martel Sans" pitchFamily="34" charset="-120"/>
              </a:rPr>
              <a:t>, 2, e453.</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834295" y="2906792"/>
            <a:ext cx="4961811" cy="620078"/>
          </a:xfrm>
          <a:prstGeom prst="rect">
            <a:avLst/>
          </a:prstGeom>
          <a:noFill/>
          <a:ln/>
        </p:spPr>
        <p:txBody>
          <a:bodyPr wrap="none" lIns="0" tIns="0" rIns="0" bIns="0" rtlCol="0" anchor="t"/>
          <a:lstStyle/>
          <a:p>
            <a:pPr algn="ctr" indent="0" marL="0">
              <a:lnSpc>
                <a:spcPts val="4850"/>
              </a:lnSpc>
              <a:buNone/>
            </a:pPr>
            <a:r>
              <a:rPr lang="en-US" sz="3900" dirty="0">
                <a:solidFill>
                  <a:srgbClr val="FFFFFF"/>
                </a:solidFill>
                <a:latin typeface="Kanit Light" pitchFamily="34" charset="0"/>
                <a:ea typeface="Kanit Light" pitchFamily="34" charset="-122"/>
                <a:cs typeface="Kanit Light" pitchFamily="34" charset="-120"/>
              </a:rPr>
              <a:t>Terima Kasih</a:t>
            </a:r>
            <a:endParaRPr lang="en-US" sz="3900" dirty="0"/>
          </a:p>
        </p:txBody>
      </p:sp>
      <p:sp>
        <p:nvSpPr>
          <p:cNvPr id="3" name="Text 1"/>
          <p:cNvSpPr/>
          <p:nvPr/>
        </p:nvSpPr>
        <p:spPr>
          <a:xfrm>
            <a:off x="793790" y="3923705"/>
            <a:ext cx="13042821" cy="317540"/>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Martel Sans" pitchFamily="34" charset="0"/>
                <a:ea typeface="Martel Sans" pitchFamily="34" charset="-122"/>
                <a:cs typeface="Martel Sans" pitchFamily="34" charset="-120"/>
              </a:rPr>
              <a:t>Program Studi Teknik Informatika S-2</a:t>
            </a:r>
            <a:endParaRPr lang="en-US" sz="1550" dirty="0"/>
          </a:p>
        </p:txBody>
      </p:sp>
      <p:sp>
        <p:nvSpPr>
          <p:cNvPr id="4" name="Text 2"/>
          <p:cNvSpPr/>
          <p:nvPr/>
        </p:nvSpPr>
        <p:spPr>
          <a:xfrm>
            <a:off x="793790" y="4464487"/>
            <a:ext cx="13042821" cy="317540"/>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Martel Sans" pitchFamily="34" charset="0"/>
                <a:ea typeface="Martel Sans" pitchFamily="34" charset="-122"/>
                <a:cs typeface="Martel Sans" pitchFamily="34" charset="-120"/>
              </a:rPr>
              <a:t>Advanced Computer Vision</a:t>
            </a:r>
            <a:endParaRPr lang="en-US" sz="1550" dirty="0"/>
          </a:p>
        </p:txBody>
      </p:sp>
      <p:sp>
        <p:nvSpPr>
          <p:cNvPr id="5" name="Text 3"/>
          <p:cNvSpPr/>
          <p:nvPr/>
        </p:nvSpPr>
        <p:spPr>
          <a:xfrm>
            <a:off x="793790" y="5005268"/>
            <a:ext cx="13042821" cy="317540"/>
          </a:xfrm>
          <a:prstGeom prst="rect">
            <a:avLst/>
          </a:prstGeom>
          <a:noFill/>
          <a:ln/>
        </p:spPr>
        <p:txBody>
          <a:bodyPr wrap="none" lIns="0" tIns="0" rIns="0" bIns="0" rtlCol="0" anchor="t"/>
          <a:lstStyle/>
          <a:p>
            <a:pPr algn="ctr" indent="0" marL="0">
              <a:lnSpc>
                <a:spcPts val="2500"/>
              </a:lnSpc>
              <a:buNone/>
            </a:pPr>
            <a:r>
              <a:rPr lang="en-US" sz="1550" dirty="0">
                <a:solidFill>
                  <a:srgbClr val="FFFFFF"/>
                </a:solidFill>
                <a:latin typeface="Martel Sans" pitchFamily="34" charset="0"/>
                <a:ea typeface="Martel Sans" pitchFamily="34" charset="-122"/>
                <a:cs typeface="Martel Sans" pitchFamily="34" charset="-120"/>
              </a:rPr>
              <a:t>Pertemuan 2: Konsep Dasar Citra Digital dan Manipulasi dengan Python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2025-08-13T07:02:42Z</dcterms:created>
  <dcterms:modified xsi:type="dcterms:W3CDTF">2025-08-13T07:02:42Z</dcterms:modified>
</cp:coreProperties>
</file>