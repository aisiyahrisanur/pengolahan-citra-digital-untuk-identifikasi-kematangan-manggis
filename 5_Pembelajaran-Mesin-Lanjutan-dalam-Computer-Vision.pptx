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4630400" cy="8229600"/>
  <p:notesSz cx="8229600" cy="14630400"/>
  <p:embeddedFontLst>
    <p:embeddedFont>
      <p:font typeface="Kanit Light"/>
      <p:regular r:id="rId32"/>
    </p:embeddedFont>
    <p:embeddedFont>
      <p:font typeface="Kanit Light"/>
      <p:regular r:id="rId33"/>
    </p:embeddedFont>
    <p:embeddedFont>
      <p:font typeface="Kanit Light"/>
      <p:regular r:id="rId34"/>
    </p:embeddedFont>
    <p:embeddedFont>
      <p:font typeface="Kanit Light"/>
      <p:regular r:id="rId35"/>
    </p:embeddedFont>
    <p:embeddedFont>
      <p:font typeface="Martel Sans"/>
      <p:regular r:id="rId36"/>
    </p:embeddedFont>
    <p:embeddedFont>
      <p:font typeface="Martel Sans"/>
      <p:regular r:id="rId3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8.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922865"/>
            <a:ext cx="11745992"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Pembelajaran Mesin Lanjutan dalam Computer Vision</a:t>
            </a:r>
            <a:endParaRPr lang="en-US" sz="3900" dirty="0"/>
          </a:p>
        </p:txBody>
      </p:sp>
      <p:sp>
        <p:nvSpPr>
          <p:cNvPr id="3" name="Text 1"/>
          <p:cNvSpPr/>
          <p:nvPr/>
        </p:nvSpPr>
        <p:spPr>
          <a:xfrm>
            <a:off x="793790" y="3840599"/>
            <a:ext cx="7258169"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Pertemuan 5: Konsep Dasar Pembelajaran dalam Machine Learning</a:t>
            </a:r>
            <a:endParaRPr lang="en-US" sz="1950" dirty="0"/>
          </a:p>
        </p:txBody>
      </p:sp>
      <p:sp>
        <p:nvSpPr>
          <p:cNvPr id="4" name="Text 2"/>
          <p:cNvSpPr/>
          <p:nvPr/>
        </p:nvSpPr>
        <p:spPr>
          <a:xfrm>
            <a:off x="793790" y="444841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Program Studi Teknik Informatika S-2</a:t>
            </a:r>
            <a:endParaRPr lang="en-US" sz="1550" dirty="0"/>
          </a:p>
        </p:txBody>
      </p:sp>
      <p:sp>
        <p:nvSpPr>
          <p:cNvPr id="5" name="Text 3"/>
          <p:cNvSpPr/>
          <p:nvPr/>
        </p:nvSpPr>
        <p:spPr>
          <a:xfrm>
            <a:off x="793790" y="498919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Matakuliah: Advanced Computer Vision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2997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Agenda Pertemuan</a:t>
            </a:r>
            <a:endParaRPr lang="en-US" sz="3900" dirty="0"/>
          </a:p>
        </p:txBody>
      </p:sp>
      <p:sp>
        <p:nvSpPr>
          <p:cNvPr id="3" name="Shape 1"/>
          <p:cNvSpPr/>
          <p:nvPr/>
        </p:nvSpPr>
        <p:spPr>
          <a:xfrm>
            <a:off x="793790" y="2746891"/>
            <a:ext cx="6422231" cy="1506736"/>
          </a:xfrm>
          <a:prstGeom prst="roundRect">
            <a:avLst>
              <a:gd name="adj" fmla="val 7282"/>
            </a:avLst>
          </a:prstGeom>
          <a:solidFill>
            <a:srgbClr val="FFFFFF"/>
          </a:solidFill>
          <a:ln w="22860">
            <a:solidFill>
              <a:srgbClr val="C5D2CF"/>
            </a:solidFill>
            <a:prstDash val="solid"/>
          </a:ln>
        </p:spPr>
      </p:sp>
      <p:sp>
        <p:nvSpPr>
          <p:cNvPr id="4" name="Shape 2"/>
          <p:cNvSpPr/>
          <p:nvPr/>
        </p:nvSpPr>
        <p:spPr>
          <a:xfrm>
            <a:off x="770930" y="2746891"/>
            <a:ext cx="91440" cy="1506736"/>
          </a:xfrm>
          <a:prstGeom prst="roundRect">
            <a:avLst>
              <a:gd name="adj" fmla="val 91163"/>
            </a:avLst>
          </a:prstGeom>
          <a:solidFill>
            <a:srgbClr val="437066"/>
          </a:solidFill>
          <a:ln/>
        </p:spPr>
      </p:sp>
      <p:sp>
        <p:nvSpPr>
          <p:cNvPr id="5" name="Text 3"/>
          <p:cNvSpPr/>
          <p:nvPr/>
        </p:nvSpPr>
        <p:spPr>
          <a:xfrm>
            <a:off x="1083588" y="2968109"/>
            <a:ext cx="338780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Pengantar Pembelajaran Mesin</a:t>
            </a:r>
            <a:endParaRPr lang="en-US" sz="1950" dirty="0"/>
          </a:p>
        </p:txBody>
      </p:sp>
      <p:sp>
        <p:nvSpPr>
          <p:cNvPr id="6" name="Text 4"/>
          <p:cNvSpPr/>
          <p:nvPr/>
        </p:nvSpPr>
        <p:spPr>
          <a:xfrm>
            <a:off x="1083588" y="3397329"/>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Definisi, tujuan, dan pentingnya pembelajaran mesin dalam computer vision</a:t>
            </a:r>
            <a:endParaRPr lang="en-US" sz="1550" dirty="0"/>
          </a:p>
        </p:txBody>
      </p:sp>
      <p:sp>
        <p:nvSpPr>
          <p:cNvPr id="7" name="Shape 5"/>
          <p:cNvSpPr/>
          <p:nvPr/>
        </p:nvSpPr>
        <p:spPr>
          <a:xfrm>
            <a:off x="7414379" y="2746891"/>
            <a:ext cx="6422231" cy="1506736"/>
          </a:xfrm>
          <a:prstGeom prst="roundRect">
            <a:avLst>
              <a:gd name="adj" fmla="val 7282"/>
            </a:avLst>
          </a:prstGeom>
          <a:solidFill>
            <a:srgbClr val="FFFFFF"/>
          </a:solidFill>
          <a:ln w="22860">
            <a:solidFill>
              <a:srgbClr val="C5D2CF"/>
            </a:solidFill>
            <a:prstDash val="solid"/>
          </a:ln>
        </p:spPr>
      </p:sp>
      <p:sp>
        <p:nvSpPr>
          <p:cNvPr id="8" name="Shape 6"/>
          <p:cNvSpPr/>
          <p:nvPr/>
        </p:nvSpPr>
        <p:spPr>
          <a:xfrm>
            <a:off x="7391519" y="2746891"/>
            <a:ext cx="91440" cy="1506736"/>
          </a:xfrm>
          <a:prstGeom prst="roundRect">
            <a:avLst>
              <a:gd name="adj" fmla="val 91163"/>
            </a:avLst>
          </a:prstGeom>
          <a:solidFill>
            <a:srgbClr val="437066"/>
          </a:solidFill>
          <a:ln/>
        </p:spPr>
      </p:sp>
      <p:sp>
        <p:nvSpPr>
          <p:cNvPr id="9" name="Text 7"/>
          <p:cNvSpPr/>
          <p:nvPr/>
        </p:nvSpPr>
        <p:spPr>
          <a:xfrm>
            <a:off x="7704177" y="2968109"/>
            <a:ext cx="2814876"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Jenis Pembelajaran Mesin</a:t>
            </a:r>
            <a:endParaRPr lang="en-US" sz="1950" dirty="0"/>
          </a:p>
        </p:txBody>
      </p:sp>
      <p:sp>
        <p:nvSpPr>
          <p:cNvPr id="10" name="Text 8"/>
          <p:cNvSpPr/>
          <p:nvPr/>
        </p:nvSpPr>
        <p:spPr>
          <a:xfrm>
            <a:off x="7704177" y="3397329"/>
            <a:ext cx="5911215"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terawasi, tidak terawasi, dan penguatan</a:t>
            </a:r>
            <a:endParaRPr lang="en-US" sz="1550" dirty="0"/>
          </a:p>
        </p:txBody>
      </p:sp>
      <p:sp>
        <p:nvSpPr>
          <p:cNvPr id="11" name="Shape 9"/>
          <p:cNvSpPr/>
          <p:nvPr/>
        </p:nvSpPr>
        <p:spPr>
          <a:xfrm>
            <a:off x="793790" y="4451985"/>
            <a:ext cx="6422231" cy="1506736"/>
          </a:xfrm>
          <a:prstGeom prst="roundRect">
            <a:avLst>
              <a:gd name="adj" fmla="val 7282"/>
            </a:avLst>
          </a:prstGeom>
          <a:solidFill>
            <a:srgbClr val="FFFFFF"/>
          </a:solidFill>
          <a:ln w="22860">
            <a:solidFill>
              <a:srgbClr val="C5D2CF"/>
            </a:solidFill>
            <a:prstDash val="solid"/>
          </a:ln>
        </p:spPr>
      </p:sp>
      <p:sp>
        <p:nvSpPr>
          <p:cNvPr id="12" name="Shape 10"/>
          <p:cNvSpPr/>
          <p:nvPr/>
        </p:nvSpPr>
        <p:spPr>
          <a:xfrm>
            <a:off x="770930" y="4451985"/>
            <a:ext cx="91440" cy="1506736"/>
          </a:xfrm>
          <a:prstGeom prst="roundRect">
            <a:avLst>
              <a:gd name="adj" fmla="val 91163"/>
            </a:avLst>
          </a:prstGeom>
          <a:solidFill>
            <a:srgbClr val="437066"/>
          </a:solidFill>
          <a:ln/>
        </p:spPr>
      </p:sp>
      <p:sp>
        <p:nvSpPr>
          <p:cNvPr id="13" name="Text 11"/>
          <p:cNvSpPr/>
          <p:nvPr/>
        </p:nvSpPr>
        <p:spPr>
          <a:xfrm>
            <a:off x="1083588" y="4673203"/>
            <a:ext cx="3211711"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Implementasi dengan Python</a:t>
            </a:r>
            <a:endParaRPr lang="en-US" sz="1950" dirty="0"/>
          </a:p>
        </p:txBody>
      </p:sp>
      <p:sp>
        <p:nvSpPr>
          <p:cNvPr id="14" name="Text 12"/>
          <p:cNvSpPr/>
          <p:nvPr/>
        </p:nvSpPr>
        <p:spPr>
          <a:xfrm>
            <a:off x="1083588" y="5102423"/>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Penggunaan pustaka Scikit-learn untuk model klasifikasi dan clustering</a:t>
            </a:r>
            <a:endParaRPr lang="en-US" sz="1550" dirty="0"/>
          </a:p>
        </p:txBody>
      </p:sp>
      <p:sp>
        <p:nvSpPr>
          <p:cNvPr id="15" name="Shape 13"/>
          <p:cNvSpPr/>
          <p:nvPr/>
        </p:nvSpPr>
        <p:spPr>
          <a:xfrm>
            <a:off x="7414379" y="4451985"/>
            <a:ext cx="6422231" cy="1506736"/>
          </a:xfrm>
          <a:prstGeom prst="roundRect">
            <a:avLst>
              <a:gd name="adj" fmla="val 7282"/>
            </a:avLst>
          </a:prstGeom>
          <a:solidFill>
            <a:srgbClr val="FFFFFF"/>
          </a:solidFill>
          <a:ln w="22860">
            <a:solidFill>
              <a:srgbClr val="C5D2CF"/>
            </a:solidFill>
            <a:prstDash val="solid"/>
          </a:ln>
        </p:spPr>
      </p:sp>
      <p:sp>
        <p:nvSpPr>
          <p:cNvPr id="16" name="Shape 14"/>
          <p:cNvSpPr/>
          <p:nvPr/>
        </p:nvSpPr>
        <p:spPr>
          <a:xfrm>
            <a:off x="7391519" y="4451985"/>
            <a:ext cx="91440" cy="1506736"/>
          </a:xfrm>
          <a:prstGeom prst="roundRect">
            <a:avLst>
              <a:gd name="adj" fmla="val 91163"/>
            </a:avLst>
          </a:prstGeom>
          <a:solidFill>
            <a:srgbClr val="437066"/>
          </a:solidFill>
          <a:ln/>
        </p:spPr>
      </p:sp>
      <p:sp>
        <p:nvSpPr>
          <p:cNvPr id="17" name="Text 15"/>
          <p:cNvSpPr/>
          <p:nvPr/>
        </p:nvSpPr>
        <p:spPr>
          <a:xfrm>
            <a:off x="7704177" y="467320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Studi Kasus &amp; Praktik</a:t>
            </a:r>
            <a:endParaRPr lang="en-US" sz="1950" dirty="0"/>
          </a:p>
        </p:txBody>
      </p:sp>
      <p:sp>
        <p:nvSpPr>
          <p:cNvPr id="18" name="Text 16"/>
          <p:cNvSpPr/>
          <p:nvPr/>
        </p:nvSpPr>
        <p:spPr>
          <a:xfrm>
            <a:off x="7704177" y="5102423"/>
            <a:ext cx="5911215"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Analisis perbedaan pendekatan pembelajaran pada dataset</a:t>
            </a:r>
            <a:endParaRPr lang="en-US" sz="1550" dirty="0"/>
          </a:p>
        </p:txBody>
      </p:sp>
      <p:sp>
        <p:nvSpPr>
          <p:cNvPr id="19" name="Text 17"/>
          <p:cNvSpPr/>
          <p:nvPr/>
        </p:nvSpPr>
        <p:spPr>
          <a:xfrm>
            <a:off x="793790" y="618196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Durasi: 3 x 50 menit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04856"/>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Tujuan Pembelajaran</a:t>
            </a:r>
            <a:endParaRPr lang="en-US" sz="3900" dirty="0"/>
          </a:p>
        </p:txBody>
      </p:sp>
      <p:sp>
        <p:nvSpPr>
          <p:cNvPr id="3" name="Shape 1"/>
          <p:cNvSpPr/>
          <p:nvPr/>
        </p:nvSpPr>
        <p:spPr>
          <a:xfrm>
            <a:off x="793790" y="2845832"/>
            <a:ext cx="446484" cy="446484"/>
          </a:xfrm>
          <a:prstGeom prst="roundRect">
            <a:avLst>
              <a:gd name="adj" fmla="val 18670"/>
            </a:avLst>
          </a:prstGeom>
          <a:solidFill>
            <a:srgbClr val="DFECE9"/>
          </a:solidFill>
          <a:ln w="7620">
            <a:solidFill>
              <a:srgbClr val="C5D2CF"/>
            </a:solidFill>
            <a:prstDash val="solid"/>
          </a:ln>
        </p:spPr>
      </p:sp>
      <p:sp>
        <p:nvSpPr>
          <p:cNvPr id="4" name="Text 2"/>
          <p:cNvSpPr/>
          <p:nvPr/>
        </p:nvSpPr>
        <p:spPr>
          <a:xfrm>
            <a:off x="1438632" y="2914055"/>
            <a:ext cx="265890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Pemahaman Konseptual</a:t>
            </a:r>
            <a:endParaRPr lang="en-US" sz="1950" dirty="0"/>
          </a:p>
        </p:txBody>
      </p:sp>
      <p:sp>
        <p:nvSpPr>
          <p:cNvPr id="5" name="Text 3"/>
          <p:cNvSpPr/>
          <p:nvPr/>
        </p:nvSpPr>
        <p:spPr>
          <a:xfrm>
            <a:off x="1438632" y="3422571"/>
            <a:ext cx="563451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dapat menjelaskan konsep dasar pembelajaran mesin dan penerapannya dalam computer vision</a:t>
            </a:r>
            <a:endParaRPr lang="en-US" sz="1550" dirty="0"/>
          </a:p>
        </p:txBody>
      </p:sp>
      <p:sp>
        <p:nvSpPr>
          <p:cNvPr id="6" name="Shape 4"/>
          <p:cNvSpPr/>
          <p:nvPr/>
        </p:nvSpPr>
        <p:spPr>
          <a:xfrm>
            <a:off x="793790" y="4454485"/>
            <a:ext cx="446484" cy="446484"/>
          </a:xfrm>
          <a:prstGeom prst="roundRect">
            <a:avLst>
              <a:gd name="adj" fmla="val 18670"/>
            </a:avLst>
          </a:prstGeom>
          <a:solidFill>
            <a:srgbClr val="DFECE9"/>
          </a:solidFill>
          <a:ln w="7620">
            <a:solidFill>
              <a:srgbClr val="C5D2CF"/>
            </a:solidFill>
            <a:prstDash val="solid"/>
          </a:ln>
        </p:spPr>
      </p:sp>
      <p:sp>
        <p:nvSpPr>
          <p:cNvPr id="7" name="Text 5"/>
          <p:cNvSpPr/>
          <p:nvPr/>
        </p:nvSpPr>
        <p:spPr>
          <a:xfrm>
            <a:off x="1438632" y="452270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Keterampilan Praktis</a:t>
            </a:r>
            <a:endParaRPr lang="en-US" sz="1950" dirty="0"/>
          </a:p>
        </p:txBody>
      </p:sp>
      <p:sp>
        <p:nvSpPr>
          <p:cNvPr id="8" name="Text 6"/>
          <p:cNvSpPr/>
          <p:nvPr/>
        </p:nvSpPr>
        <p:spPr>
          <a:xfrm>
            <a:off x="1438632" y="5031224"/>
            <a:ext cx="5634514"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mampu mengimplementasikan program Python sederhana untuk menyimulasikan proses pembelajaran mesin</a:t>
            </a:r>
            <a:endParaRPr lang="en-US" sz="1550" dirty="0"/>
          </a:p>
        </p:txBody>
      </p:sp>
      <p:sp>
        <p:nvSpPr>
          <p:cNvPr id="9" name="Shape 7"/>
          <p:cNvSpPr/>
          <p:nvPr/>
        </p:nvSpPr>
        <p:spPr>
          <a:xfrm>
            <a:off x="7564874" y="2845832"/>
            <a:ext cx="446484" cy="446484"/>
          </a:xfrm>
          <a:prstGeom prst="roundRect">
            <a:avLst>
              <a:gd name="adj" fmla="val 18670"/>
            </a:avLst>
          </a:prstGeom>
          <a:solidFill>
            <a:srgbClr val="DFECE9"/>
          </a:solidFill>
          <a:ln w="7620">
            <a:solidFill>
              <a:srgbClr val="C5D2CF"/>
            </a:solidFill>
            <a:prstDash val="solid"/>
          </a:ln>
        </p:spPr>
      </p:sp>
      <p:sp>
        <p:nvSpPr>
          <p:cNvPr id="10" name="Text 8"/>
          <p:cNvSpPr/>
          <p:nvPr/>
        </p:nvSpPr>
        <p:spPr>
          <a:xfrm>
            <a:off x="8209717" y="29140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Kemampuan Analitis</a:t>
            </a:r>
            <a:endParaRPr lang="en-US" sz="1950" dirty="0"/>
          </a:p>
        </p:txBody>
      </p:sp>
      <p:sp>
        <p:nvSpPr>
          <p:cNvPr id="11" name="Text 9"/>
          <p:cNvSpPr/>
          <p:nvPr/>
        </p:nvSpPr>
        <p:spPr>
          <a:xfrm>
            <a:off x="8209717" y="3422571"/>
            <a:ext cx="5634514"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dapat menganalisis perbedaan antara pembelajaran terawasi dan tidak terawasi pada dataset sederhana</a:t>
            </a:r>
            <a:endParaRPr lang="en-US" sz="1550" dirty="0"/>
          </a:p>
        </p:txBody>
      </p:sp>
      <p:sp>
        <p:nvSpPr>
          <p:cNvPr id="12" name="Shape 10"/>
          <p:cNvSpPr/>
          <p:nvPr/>
        </p:nvSpPr>
        <p:spPr>
          <a:xfrm>
            <a:off x="7564874" y="4772025"/>
            <a:ext cx="446484" cy="446484"/>
          </a:xfrm>
          <a:prstGeom prst="roundRect">
            <a:avLst>
              <a:gd name="adj" fmla="val 18670"/>
            </a:avLst>
          </a:prstGeom>
          <a:solidFill>
            <a:srgbClr val="DFECE9"/>
          </a:solidFill>
          <a:ln w="7620">
            <a:solidFill>
              <a:srgbClr val="C5D2CF"/>
            </a:solidFill>
            <a:prstDash val="solid"/>
          </a:ln>
        </p:spPr>
      </p:sp>
      <p:sp>
        <p:nvSpPr>
          <p:cNvPr id="13" name="Text 11"/>
          <p:cNvSpPr/>
          <p:nvPr/>
        </p:nvSpPr>
        <p:spPr>
          <a:xfrm>
            <a:off x="8209717" y="484024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Pengembangan Model</a:t>
            </a:r>
            <a:endParaRPr lang="en-US" sz="1950" dirty="0"/>
          </a:p>
        </p:txBody>
      </p:sp>
      <p:sp>
        <p:nvSpPr>
          <p:cNvPr id="14" name="Text 12"/>
          <p:cNvSpPr/>
          <p:nvPr/>
        </p:nvSpPr>
        <p:spPr>
          <a:xfrm>
            <a:off x="8209717" y="5348764"/>
            <a:ext cx="5634514"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mampu membuat model supervised learning sederhana untuk klasifikasi dan clustering menggunakan Scikit-learn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06216"/>
            <a:ext cx="6367939"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Apa itu Pembelajaran Mesin?</a:t>
            </a:r>
            <a:endParaRPr lang="en-US" sz="3900" dirty="0"/>
          </a:p>
        </p:txBody>
      </p:sp>
      <p:sp>
        <p:nvSpPr>
          <p:cNvPr id="3" name="Text 1"/>
          <p:cNvSpPr/>
          <p:nvPr/>
        </p:nvSpPr>
        <p:spPr>
          <a:xfrm>
            <a:off x="793790" y="312312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mesin adalah cabang dari kecerdasan buatan yang fokus pada pengembangan algoritma dan model statistik yang memungkinkan komputer "belajar" dari data, tanpa perlu diprogram secara eksplisit.</a:t>
            </a:r>
            <a:endParaRPr lang="en-US" sz="1550" dirty="0"/>
          </a:p>
        </p:txBody>
      </p:sp>
      <p:sp>
        <p:nvSpPr>
          <p:cNvPr id="4" name="Shape 2"/>
          <p:cNvSpPr/>
          <p:nvPr/>
        </p:nvSpPr>
        <p:spPr>
          <a:xfrm>
            <a:off x="793790" y="3981450"/>
            <a:ext cx="4215289" cy="2141815"/>
          </a:xfrm>
          <a:prstGeom prst="roundRect">
            <a:avLst>
              <a:gd name="adj" fmla="val 3892"/>
            </a:avLst>
          </a:prstGeom>
          <a:solidFill>
            <a:srgbClr val="FFFFFF"/>
          </a:solidFill>
          <a:ln w="22860">
            <a:solidFill>
              <a:srgbClr val="C5D2CF"/>
            </a:solidFill>
            <a:prstDash val="solid"/>
          </a:ln>
        </p:spPr>
      </p:sp>
      <p:sp>
        <p:nvSpPr>
          <p:cNvPr id="5" name="Text 3"/>
          <p:cNvSpPr/>
          <p:nvPr/>
        </p:nvSpPr>
        <p:spPr>
          <a:xfrm>
            <a:off x="1015008" y="42026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Dasar Konsep</a:t>
            </a:r>
            <a:endParaRPr lang="en-US" sz="1950" dirty="0"/>
          </a:p>
        </p:txBody>
      </p:sp>
      <p:sp>
        <p:nvSpPr>
          <p:cNvPr id="6" name="Text 4"/>
          <p:cNvSpPr/>
          <p:nvPr/>
        </p:nvSpPr>
        <p:spPr>
          <a:xfrm>
            <a:off x="1015008" y="4631888"/>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Sistem belajar dari pola dalam data, bukan mengikuti instruksi pemrograman yang kaku</a:t>
            </a:r>
            <a:endParaRPr lang="en-US" sz="1550" dirty="0"/>
          </a:p>
        </p:txBody>
      </p:sp>
      <p:sp>
        <p:nvSpPr>
          <p:cNvPr id="7" name="Shape 5"/>
          <p:cNvSpPr/>
          <p:nvPr/>
        </p:nvSpPr>
        <p:spPr>
          <a:xfrm>
            <a:off x="5207437" y="3981450"/>
            <a:ext cx="4215408" cy="2141815"/>
          </a:xfrm>
          <a:prstGeom prst="roundRect">
            <a:avLst>
              <a:gd name="adj" fmla="val 3892"/>
            </a:avLst>
          </a:prstGeom>
          <a:solidFill>
            <a:srgbClr val="FFFFFF"/>
          </a:solidFill>
          <a:ln w="22860">
            <a:solidFill>
              <a:srgbClr val="C5D2CF"/>
            </a:solidFill>
            <a:prstDash val="solid"/>
          </a:ln>
        </p:spPr>
      </p:sp>
      <p:sp>
        <p:nvSpPr>
          <p:cNvPr id="8" name="Text 6"/>
          <p:cNvSpPr/>
          <p:nvPr/>
        </p:nvSpPr>
        <p:spPr>
          <a:xfrm>
            <a:off x="5428655" y="42026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Tujuan Utama</a:t>
            </a:r>
            <a:endParaRPr lang="en-US" sz="1950" dirty="0"/>
          </a:p>
        </p:txBody>
      </p:sp>
      <p:sp>
        <p:nvSpPr>
          <p:cNvPr id="9" name="Text 7"/>
          <p:cNvSpPr/>
          <p:nvPr/>
        </p:nvSpPr>
        <p:spPr>
          <a:xfrm>
            <a:off x="5428655" y="4631888"/>
            <a:ext cx="3772972"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Membuat prediksi atau keputusan berdasarkan data historis tanpa intervensi manusia</a:t>
            </a:r>
            <a:endParaRPr lang="en-US" sz="1550" dirty="0"/>
          </a:p>
        </p:txBody>
      </p:sp>
      <p:sp>
        <p:nvSpPr>
          <p:cNvPr id="10" name="Shape 8"/>
          <p:cNvSpPr/>
          <p:nvPr/>
        </p:nvSpPr>
        <p:spPr>
          <a:xfrm>
            <a:off x="9621203" y="3981450"/>
            <a:ext cx="4215289" cy="2141815"/>
          </a:xfrm>
          <a:prstGeom prst="roundRect">
            <a:avLst>
              <a:gd name="adj" fmla="val 3892"/>
            </a:avLst>
          </a:prstGeom>
          <a:solidFill>
            <a:srgbClr val="FFFFFF"/>
          </a:solidFill>
          <a:ln w="22860">
            <a:solidFill>
              <a:srgbClr val="C5D2CF"/>
            </a:solidFill>
            <a:prstDash val="solid"/>
          </a:ln>
        </p:spPr>
      </p:sp>
      <p:sp>
        <p:nvSpPr>
          <p:cNvPr id="11" name="Text 9"/>
          <p:cNvSpPr/>
          <p:nvPr/>
        </p:nvSpPr>
        <p:spPr>
          <a:xfrm>
            <a:off x="9842421" y="42026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Karakteristik</a:t>
            </a:r>
            <a:endParaRPr lang="en-US" sz="1950" dirty="0"/>
          </a:p>
        </p:txBody>
      </p:sp>
      <p:sp>
        <p:nvSpPr>
          <p:cNvPr id="12" name="Text 10"/>
          <p:cNvSpPr/>
          <p:nvPr/>
        </p:nvSpPr>
        <p:spPr>
          <a:xfrm>
            <a:off x="9842421" y="4631888"/>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Kemampuan adaptasi, peningkatan performa seiring pertambahan data, dan generalisasi dari contoh-contoh yang telah dipelajari</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874877"/>
            <a:ext cx="11055429"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Peran Pembelajaran Mesin dalam Computer Vision</a:t>
            </a:r>
            <a:endParaRPr lang="en-US" sz="3900" dirty="0"/>
          </a:p>
        </p:txBody>
      </p:sp>
      <p:sp>
        <p:nvSpPr>
          <p:cNvPr id="3" name="Text 1"/>
          <p:cNvSpPr/>
          <p:nvPr/>
        </p:nvSpPr>
        <p:spPr>
          <a:xfrm>
            <a:off x="793790" y="2971205"/>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Computer vision adalah bidang yang berfokus pada bagaimana komputer dapat memperoleh pemahaman tingkat tinggi dari gambar atau video digital. Pembelajaran mesin telah merevolusi pendekatan dalam computer vision.</a:t>
            </a:r>
            <a:endParaRPr lang="en-US" sz="1550" dirty="0"/>
          </a:p>
        </p:txBody>
      </p:sp>
      <p:sp>
        <p:nvSpPr>
          <p:cNvPr id="4" name="Text 2"/>
          <p:cNvSpPr/>
          <p:nvPr/>
        </p:nvSpPr>
        <p:spPr>
          <a:xfrm>
            <a:off x="793790" y="441995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Ekstraksi fitur otomatis dari gambar</a:t>
            </a:r>
            <a:endParaRPr lang="en-US" sz="1550" dirty="0"/>
          </a:p>
        </p:txBody>
      </p:sp>
      <p:sp>
        <p:nvSpPr>
          <p:cNvPr id="5" name="Text 3"/>
          <p:cNvSpPr/>
          <p:nvPr/>
        </p:nvSpPr>
        <p:spPr>
          <a:xfrm>
            <a:off x="793790" y="480691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Klasifikasi dan pengenalan objek</a:t>
            </a:r>
            <a:endParaRPr lang="en-US" sz="1550" dirty="0"/>
          </a:p>
        </p:txBody>
      </p:sp>
      <p:sp>
        <p:nvSpPr>
          <p:cNvPr id="6" name="Text 4"/>
          <p:cNvSpPr/>
          <p:nvPr/>
        </p:nvSpPr>
        <p:spPr>
          <a:xfrm>
            <a:off x="793790" y="519386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Segmentasi gambar</a:t>
            </a:r>
            <a:endParaRPr lang="en-US" sz="1550" dirty="0"/>
          </a:p>
        </p:txBody>
      </p:sp>
      <p:sp>
        <p:nvSpPr>
          <p:cNvPr id="7" name="Text 5"/>
          <p:cNvSpPr/>
          <p:nvPr/>
        </p:nvSpPr>
        <p:spPr>
          <a:xfrm>
            <a:off x="793790" y="558081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Deteksi pola dan anomali</a:t>
            </a:r>
            <a:endParaRPr lang="en-US" sz="1550" dirty="0"/>
          </a:p>
        </p:txBody>
      </p:sp>
      <p:sp>
        <p:nvSpPr>
          <p:cNvPr id="8" name="Text 6"/>
          <p:cNvSpPr/>
          <p:nvPr/>
        </p:nvSpPr>
        <p:spPr>
          <a:xfrm>
            <a:off x="793790" y="596777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Pemahaman kontekstual dari konten visual</a:t>
            </a:r>
            <a:endParaRPr lang="en-US" sz="1550" dirty="0"/>
          </a:p>
        </p:txBody>
      </p:sp>
      <p:sp>
        <p:nvSpPr>
          <p:cNvPr id="9" name="Text 7"/>
          <p:cNvSpPr/>
          <p:nvPr/>
        </p:nvSpPr>
        <p:spPr>
          <a:xfrm>
            <a:off x="7564874" y="299096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Perubahan Paradigma</a:t>
            </a:r>
            <a:endParaRPr lang="en-US" sz="1950" dirty="0"/>
          </a:p>
        </p:txBody>
      </p:sp>
      <p:sp>
        <p:nvSpPr>
          <p:cNvPr id="10" name="Text 8"/>
          <p:cNvSpPr/>
          <p:nvPr/>
        </p:nvSpPr>
        <p:spPr>
          <a:xfrm>
            <a:off x="7564874" y="3499485"/>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Sebelum era pembelajaran mesin, computer vision sangat bergantung pada pendekatan berbasis aturan dan pemrosesan gambar tradisional. Kini, model pembelajaran mesin khususnya deep learning telah mengatasi keterbatasan pendekatan klasik.</a:t>
            </a:r>
            <a:endParaRPr lang="en-US" sz="1550" dirty="0"/>
          </a:p>
        </p:txBody>
      </p:sp>
      <p:sp>
        <p:nvSpPr>
          <p:cNvPr id="11" name="Text 9"/>
          <p:cNvSpPr/>
          <p:nvPr/>
        </p:nvSpPr>
        <p:spPr>
          <a:xfrm>
            <a:off x="7564874" y="4948238"/>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mesin memungkinkan sistem vision untuk mengenali pola kompleks yang sulit diformulasikan secara eksplisit oleh programmer.</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629251"/>
            <a:ext cx="6975753"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Jenis-Jenis Pembelajaran Mesin</a:t>
            </a:r>
            <a:endParaRPr lang="en-US" sz="3900" dirty="0"/>
          </a:p>
        </p:txBody>
      </p:sp>
      <p:pic>
        <p:nvPicPr>
          <p:cNvPr id="3" name="Image 0" descr="preencoded.png">    </p:cNvPr>
          <p:cNvPicPr>
            <a:picLocks noChangeAspect="1"/>
          </p:cNvPicPr>
          <p:nvPr/>
        </p:nvPicPr>
        <p:blipFill>
          <a:blip r:embed="rId1"/>
          <a:stretch>
            <a:fillRect/>
          </a:stretch>
        </p:blipFill>
        <p:spPr>
          <a:xfrm>
            <a:off x="793790" y="2646164"/>
            <a:ext cx="4347567" cy="793790"/>
          </a:xfrm>
          <a:prstGeom prst="rect">
            <a:avLst/>
          </a:prstGeom>
        </p:spPr>
      </p:pic>
      <p:sp>
        <p:nvSpPr>
          <p:cNvPr id="4" name="Text 1"/>
          <p:cNvSpPr/>
          <p:nvPr/>
        </p:nvSpPr>
        <p:spPr>
          <a:xfrm>
            <a:off x="992148" y="3638312"/>
            <a:ext cx="3950851" cy="620316"/>
          </a:xfrm>
          <a:prstGeom prst="rect">
            <a:avLst/>
          </a:prstGeom>
          <a:noFill/>
          <a:ln/>
        </p:spPr>
        <p:txBody>
          <a:bodyPr wrap="squar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Pembelajaran Terawasi (Supervised Learning)</a:t>
            </a:r>
            <a:endParaRPr lang="en-US" sz="1950" dirty="0"/>
          </a:p>
        </p:txBody>
      </p:sp>
      <p:sp>
        <p:nvSpPr>
          <p:cNvPr id="5" name="Text 2"/>
          <p:cNvSpPr/>
          <p:nvPr/>
        </p:nvSpPr>
        <p:spPr>
          <a:xfrm>
            <a:off x="992148" y="4377690"/>
            <a:ext cx="3950851"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Algoritma belajar dari data berlabel untuk memprediksi output yang diinginkan. Data pelatihan terdiri dari pasangan input-output.</a:t>
            </a:r>
            <a:endParaRPr lang="en-US" sz="1550" dirty="0"/>
          </a:p>
        </p:txBody>
      </p:sp>
      <p:sp>
        <p:nvSpPr>
          <p:cNvPr id="6" name="Text 3"/>
          <p:cNvSpPr/>
          <p:nvPr/>
        </p:nvSpPr>
        <p:spPr>
          <a:xfrm>
            <a:off x="992148" y="5766911"/>
            <a:ext cx="395085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Contoh: Klasifikasi gambar, deteksi objek, pengenalan wajah</a:t>
            </a:r>
            <a:endParaRPr lang="en-US" sz="1550" dirty="0"/>
          </a:p>
        </p:txBody>
      </p:sp>
      <p:pic>
        <p:nvPicPr>
          <p:cNvPr id="7" name="Image 1" descr="preencoded.png">    </p:cNvPr>
          <p:cNvPicPr>
            <a:picLocks noChangeAspect="1"/>
          </p:cNvPicPr>
          <p:nvPr/>
        </p:nvPicPr>
        <p:blipFill>
          <a:blip r:embed="rId2"/>
          <a:stretch>
            <a:fillRect/>
          </a:stretch>
        </p:blipFill>
        <p:spPr>
          <a:xfrm>
            <a:off x="5141357" y="2646164"/>
            <a:ext cx="4347567" cy="793790"/>
          </a:xfrm>
          <a:prstGeom prst="rect">
            <a:avLst/>
          </a:prstGeom>
        </p:spPr>
      </p:pic>
      <p:sp>
        <p:nvSpPr>
          <p:cNvPr id="8" name="Text 4"/>
          <p:cNvSpPr/>
          <p:nvPr/>
        </p:nvSpPr>
        <p:spPr>
          <a:xfrm>
            <a:off x="5339715" y="3638312"/>
            <a:ext cx="3950851" cy="620316"/>
          </a:xfrm>
          <a:prstGeom prst="rect">
            <a:avLst/>
          </a:prstGeom>
          <a:noFill/>
          <a:ln/>
        </p:spPr>
        <p:txBody>
          <a:bodyPr wrap="squar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Pembelajaran Tidak Terawasi (Unsupervised Learning)</a:t>
            </a:r>
            <a:endParaRPr lang="en-US" sz="1950" dirty="0"/>
          </a:p>
        </p:txBody>
      </p:sp>
      <p:sp>
        <p:nvSpPr>
          <p:cNvPr id="9" name="Text 5"/>
          <p:cNvSpPr/>
          <p:nvPr/>
        </p:nvSpPr>
        <p:spPr>
          <a:xfrm>
            <a:off x="5339715" y="4377690"/>
            <a:ext cx="3950851"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Algoritma belajar dari data tanpa label untuk menemukan pola atau struktur tersembunyi dalam data.</a:t>
            </a:r>
            <a:endParaRPr lang="en-US" sz="1550" dirty="0"/>
          </a:p>
        </p:txBody>
      </p:sp>
      <p:sp>
        <p:nvSpPr>
          <p:cNvPr id="10" name="Text 6"/>
          <p:cNvSpPr/>
          <p:nvPr/>
        </p:nvSpPr>
        <p:spPr>
          <a:xfrm>
            <a:off x="5339715" y="5449372"/>
            <a:ext cx="395085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Contoh: Clustering, reduksi dimensi, deteksi anomali</a:t>
            </a:r>
            <a:endParaRPr lang="en-US" sz="1550" dirty="0"/>
          </a:p>
        </p:txBody>
      </p:sp>
      <p:pic>
        <p:nvPicPr>
          <p:cNvPr id="11" name="Image 2" descr="preencoded.png">    </p:cNvPr>
          <p:cNvPicPr>
            <a:picLocks noChangeAspect="1"/>
          </p:cNvPicPr>
          <p:nvPr/>
        </p:nvPicPr>
        <p:blipFill>
          <a:blip r:embed="rId3"/>
          <a:stretch>
            <a:fillRect/>
          </a:stretch>
        </p:blipFill>
        <p:spPr>
          <a:xfrm>
            <a:off x="9488924" y="2646164"/>
            <a:ext cx="4347567" cy="793790"/>
          </a:xfrm>
          <a:prstGeom prst="rect">
            <a:avLst/>
          </a:prstGeom>
        </p:spPr>
      </p:pic>
      <p:sp>
        <p:nvSpPr>
          <p:cNvPr id="12" name="Text 7"/>
          <p:cNvSpPr/>
          <p:nvPr/>
        </p:nvSpPr>
        <p:spPr>
          <a:xfrm>
            <a:off x="9687282" y="3638312"/>
            <a:ext cx="3950851" cy="620316"/>
          </a:xfrm>
          <a:prstGeom prst="rect">
            <a:avLst/>
          </a:prstGeom>
          <a:noFill/>
          <a:ln/>
        </p:spPr>
        <p:txBody>
          <a:bodyPr wrap="squar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Pembelajaran Penguatan (Reinforcement Learning)</a:t>
            </a:r>
            <a:endParaRPr lang="en-US" sz="1950" dirty="0"/>
          </a:p>
        </p:txBody>
      </p:sp>
      <p:sp>
        <p:nvSpPr>
          <p:cNvPr id="13" name="Text 8"/>
          <p:cNvSpPr/>
          <p:nvPr/>
        </p:nvSpPr>
        <p:spPr>
          <a:xfrm>
            <a:off x="9687282" y="4377690"/>
            <a:ext cx="3950851"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Algoritma belajar melalui interaksi dengan lingkungan untuk memaksimalkan reward tertentu.</a:t>
            </a:r>
            <a:endParaRPr lang="en-US" sz="1550" dirty="0"/>
          </a:p>
        </p:txBody>
      </p:sp>
      <p:sp>
        <p:nvSpPr>
          <p:cNvPr id="14" name="Text 9"/>
          <p:cNvSpPr/>
          <p:nvPr/>
        </p:nvSpPr>
        <p:spPr>
          <a:xfrm>
            <a:off x="9687282" y="5449372"/>
            <a:ext cx="395085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Contoh: Navigasi robot, kontrol sistem dinamis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908334"/>
            <a:ext cx="9879092"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Pembelajaran Terawasi (Supervised Learning)</a:t>
            </a:r>
            <a:endParaRPr lang="en-US" sz="3900" dirty="0"/>
          </a:p>
        </p:txBody>
      </p:sp>
      <p:sp>
        <p:nvSpPr>
          <p:cNvPr id="3" name="Text 1"/>
          <p:cNvSpPr/>
          <p:nvPr/>
        </p:nvSpPr>
        <p:spPr>
          <a:xfrm>
            <a:off x="793790" y="3024426"/>
            <a:ext cx="2526506"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Definisi dan Komponen</a:t>
            </a:r>
            <a:endParaRPr lang="en-US" sz="1950" dirty="0"/>
          </a:p>
        </p:txBody>
      </p:sp>
      <p:sp>
        <p:nvSpPr>
          <p:cNvPr id="4" name="Text 2"/>
          <p:cNvSpPr/>
          <p:nvPr/>
        </p:nvSpPr>
        <p:spPr>
          <a:xfrm>
            <a:off x="793790" y="3532942"/>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terawasi adalah pendekatan di mana algoritma belajar dari dataset berlabel yang terdiri dari pasangan input (fitur) dan output (target). Tujuannya adalah mempelajari pemetaan yang dapat memprediksi output untuk input baru.</a:t>
            </a:r>
            <a:endParaRPr lang="en-US" sz="1550" dirty="0"/>
          </a:p>
        </p:txBody>
      </p:sp>
      <p:sp>
        <p:nvSpPr>
          <p:cNvPr id="5" name="Text 3"/>
          <p:cNvSpPr/>
          <p:nvPr/>
        </p:nvSpPr>
        <p:spPr>
          <a:xfrm>
            <a:off x="793790" y="498169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Data pelatihan: {(x₁,y₁), (x₂,y₂), ..., (xₙ,yₙ)}</a:t>
            </a:r>
            <a:endParaRPr lang="en-US" sz="1550" dirty="0"/>
          </a:p>
        </p:txBody>
      </p:sp>
      <p:sp>
        <p:nvSpPr>
          <p:cNvPr id="6" name="Text 4"/>
          <p:cNvSpPr/>
          <p:nvPr/>
        </p:nvSpPr>
        <p:spPr>
          <a:xfrm>
            <a:off x="793790" y="536864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x adalah vektor fitur, y adalah label target</a:t>
            </a:r>
            <a:endParaRPr lang="en-US" sz="1550" dirty="0"/>
          </a:p>
        </p:txBody>
      </p:sp>
      <p:sp>
        <p:nvSpPr>
          <p:cNvPr id="7" name="Text 5"/>
          <p:cNvSpPr/>
          <p:nvPr/>
        </p:nvSpPr>
        <p:spPr>
          <a:xfrm>
            <a:off x="793790" y="575560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Model mempelajari fungsi f sehingga f(x) ≈ y</a:t>
            </a:r>
            <a:endParaRPr lang="en-US" sz="1550" dirty="0"/>
          </a:p>
        </p:txBody>
      </p:sp>
      <p:sp>
        <p:nvSpPr>
          <p:cNvPr id="8" name="Text 6"/>
          <p:cNvSpPr/>
          <p:nvPr/>
        </p:nvSpPr>
        <p:spPr>
          <a:xfrm>
            <a:off x="7564874" y="3024426"/>
            <a:ext cx="4458414"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Tipe Masalah dalam Supervised Learning</a:t>
            </a:r>
            <a:endParaRPr lang="en-US" sz="1950" dirty="0"/>
          </a:p>
        </p:txBody>
      </p:sp>
      <p:sp>
        <p:nvSpPr>
          <p:cNvPr id="9" name="Text 7"/>
          <p:cNvSpPr/>
          <p:nvPr/>
        </p:nvSpPr>
        <p:spPr>
          <a:xfrm>
            <a:off x="7564874" y="353294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Klasifikasi: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Memprediksi kategori diskrit (label kelas)</a:t>
            </a:r>
            <a:endParaRPr lang="en-US" sz="1550" dirty="0"/>
          </a:p>
        </p:txBody>
      </p:sp>
      <p:sp>
        <p:nvSpPr>
          <p:cNvPr id="10" name="Text 8"/>
          <p:cNvSpPr/>
          <p:nvPr/>
        </p:nvSpPr>
        <p:spPr>
          <a:xfrm>
            <a:off x="7564874" y="391989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Regresi: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Memprediksi nilai kontinu</a:t>
            </a:r>
            <a:endParaRPr lang="en-US" sz="1550" dirty="0"/>
          </a:p>
        </p:txBody>
      </p:sp>
      <p:sp>
        <p:nvSpPr>
          <p:cNvPr id="11" name="Text 9"/>
          <p:cNvSpPr/>
          <p:nvPr/>
        </p:nvSpPr>
        <p:spPr>
          <a:xfrm>
            <a:off x="7564874" y="430684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Peringkat:</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Memprediksi urutan atau preferensi</a:t>
            </a:r>
            <a:endParaRPr lang="en-US" sz="1550" dirty="0"/>
          </a:p>
        </p:txBody>
      </p:sp>
      <p:sp>
        <p:nvSpPr>
          <p:cNvPr id="12" name="Text 10"/>
          <p:cNvSpPr/>
          <p:nvPr/>
        </p:nvSpPr>
        <p:spPr>
          <a:xfrm>
            <a:off x="7564874" y="469380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Struktural:</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Memprediksi struktur kompleks seperti parse tree atau graf</a:t>
            </a:r>
            <a:endParaRPr lang="en-US" sz="1550" dirty="0"/>
          </a:p>
        </p:txBody>
      </p:sp>
      <p:sp>
        <p:nvSpPr>
          <p:cNvPr id="13" name="Text 11"/>
          <p:cNvSpPr/>
          <p:nvPr/>
        </p:nvSpPr>
        <p:spPr>
          <a:xfrm>
            <a:off x="7564874" y="5507474"/>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terawasi sangat efektif ketika terdapat pemahaman yang jelas tentang apa yang perlu diprediksi.</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53891"/>
            <a:ext cx="727983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Algoritma Pembelajaran Terawasi</a:t>
            </a:r>
            <a:endParaRPr lang="en-US" sz="3900" dirty="0"/>
          </a:p>
        </p:txBody>
      </p:sp>
      <p:sp>
        <p:nvSpPr>
          <p:cNvPr id="3" name="Shape 1"/>
          <p:cNvSpPr/>
          <p:nvPr/>
        </p:nvSpPr>
        <p:spPr>
          <a:xfrm>
            <a:off x="793790" y="1968460"/>
            <a:ext cx="6422231" cy="2555558"/>
          </a:xfrm>
          <a:prstGeom prst="roundRect">
            <a:avLst>
              <a:gd name="adj" fmla="val 4294"/>
            </a:avLst>
          </a:prstGeom>
          <a:solidFill>
            <a:srgbClr val="FFFFFF"/>
          </a:solidFill>
          <a:ln/>
        </p:spPr>
      </p:sp>
      <p:sp>
        <p:nvSpPr>
          <p:cNvPr id="4" name="Shape 2"/>
          <p:cNvSpPr/>
          <p:nvPr/>
        </p:nvSpPr>
        <p:spPr>
          <a:xfrm>
            <a:off x="793790" y="1945600"/>
            <a:ext cx="6422231" cy="91440"/>
          </a:xfrm>
          <a:prstGeom prst="roundRect">
            <a:avLst>
              <a:gd name="adj" fmla="val 91163"/>
            </a:avLst>
          </a:prstGeom>
          <a:solidFill>
            <a:srgbClr val="437066"/>
          </a:solidFill>
          <a:ln/>
        </p:spPr>
      </p:sp>
      <p:sp>
        <p:nvSpPr>
          <p:cNvPr id="5" name="Shape 3"/>
          <p:cNvSpPr/>
          <p:nvPr/>
        </p:nvSpPr>
        <p:spPr>
          <a:xfrm>
            <a:off x="3707249" y="1670804"/>
            <a:ext cx="595313" cy="595313"/>
          </a:xfrm>
          <a:prstGeom prst="roundRect">
            <a:avLst>
              <a:gd name="adj" fmla="val 153600"/>
            </a:avLst>
          </a:prstGeom>
          <a:solidFill>
            <a:srgbClr val="437066"/>
          </a:solidFill>
          <a:ln/>
        </p:spPr>
      </p:sp>
      <p:sp>
        <p:nvSpPr>
          <p:cNvPr id="6" name="Text 4"/>
          <p:cNvSpPr/>
          <p:nvPr/>
        </p:nvSpPr>
        <p:spPr>
          <a:xfrm>
            <a:off x="3885843" y="181963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1</a:t>
            </a:r>
            <a:endParaRPr lang="en-US" sz="1850" dirty="0"/>
          </a:p>
        </p:txBody>
      </p:sp>
      <p:sp>
        <p:nvSpPr>
          <p:cNvPr id="7" name="Text 5"/>
          <p:cNvSpPr/>
          <p:nvPr/>
        </p:nvSpPr>
        <p:spPr>
          <a:xfrm>
            <a:off x="1015008" y="2464594"/>
            <a:ext cx="2974658"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K-Nearest Neighbors (KNN)</a:t>
            </a:r>
            <a:endParaRPr lang="en-US" sz="1950" dirty="0"/>
          </a:p>
        </p:txBody>
      </p:sp>
      <p:sp>
        <p:nvSpPr>
          <p:cNvPr id="8" name="Text 6"/>
          <p:cNvSpPr/>
          <p:nvPr/>
        </p:nvSpPr>
        <p:spPr>
          <a:xfrm>
            <a:off x="1015008" y="2893814"/>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Klasifikasi berdasarkan mayoritas kelas dari k tetangga terdekat</a:t>
            </a:r>
            <a:endParaRPr lang="en-US" sz="1550" dirty="0"/>
          </a:p>
        </p:txBody>
      </p:sp>
      <p:sp>
        <p:nvSpPr>
          <p:cNvPr id="9" name="Text 7"/>
          <p:cNvSpPr/>
          <p:nvPr/>
        </p:nvSpPr>
        <p:spPr>
          <a:xfrm>
            <a:off x="1015008" y="3598307"/>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Sederhana namun efektif untuk dataset kecil</a:t>
            </a:r>
            <a:endParaRPr lang="en-US" sz="1550" dirty="0"/>
          </a:p>
        </p:txBody>
      </p:sp>
      <p:sp>
        <p:nvSpPr>
          <p:cNvPr id="10" name="Text 8"/>
          <p:cNvSpPr/>
          <p:nvPr/>
        </p:nvSpPr>
        <p:spPr>
          <a:xfrm>
            <a:off x="1015008" y="3985260"/>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Sensitif terhadap fitur yang tidak relevan</a:t>
            </a:r>
            <a:endParaRPr lang="en-US" sz="1550" dirty="0"/>
          </a:p>
        </p:txBody>
      </p:sp>
      <p:sp>
        <p:nvSpPr>
          <p:cNvPr id="11" name="Shape 9"/>
          <p:cNvSpPr/>
          <p:nvPr/>
        </p:nvSpPr>
        <p:spPr>
          <a:xfrm>
            <a:off x="7414379" y="1968460"/>
            <a:ext cx="6422231" cy="2555558"/>
          </a:xfrm>
          <a:prstGeom prst="roundRect">
            <a:avLst>
              <a:gd name="adj" fmla="val 4294"/>
            </a:avLst>
          </a:prstGeom>
          <a:solidFill>
            <a:srgbClr val="FFFFFF"/>
          </a:solidFill>
          <a:ln/>
        </p:spPr>
      </p:sp>
      <p:sp>
        <p:nvSpPr>
          <p:cNvPr id="12" name="Shape 10"/>
          <p:cNvSpPr/>
          <p:nvPr/>
        </p:nvSpPr>
        <p:spPr>
          <a:xfrm>
            <a:off x="7414379" y="1945600"/>
            <a:ext cx="6422231" cy="91440"/>
          </a:xfrm>
          <a:prstGeom prst="roundRect">
            <a:avLst>
              <a:gd name="adj" fmla="val 91163"/>
            </a:avLst>
          </a:prstGeom>
          <a:solidFill>
            <a:srgbClr val="437066"/>
          </a:solidFill>
          <a:ln/>
        </p:spPr>
      </p:sp>
      <p:sp>
        <p:nvSpPr>
          <p:cNvPr id="13" name="Shape 11"/>
          <p:cNvSpPr/>
          <p:nvPr/>
        </p:nvSpPr>
        <p:spPr>
          <a:xfrm>
            <a:off x="10327838" y="1670804"/>
            <a:ext cx="595313" cy="595313"/>
          </a:xfrm>
          <a:prstGeom prst="roundRect">
            <a:avLst>
              <a:gd name="adj" fmla="val 153600"/>
            </a:avLst>
          </a:prstGeom>
          <a:solidFill>
            <a:srgbClr val="437066"/>
          </a:solidFill>
          <a:ln/>
        </p:spPr>
      </p:sp>
      <p:sp>
        <p:nvSpPr>
          <p:cNvPr id="14" name="Text 12"/>
          <p:cNvSpPr/>
          <p:nvPr/>
        </p:nvSpPr>
        <p:spPr>
          <a:xfrm>
            <a:off x="10506432" y="181963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2</a:t>
            </a:r>
            <a:endParaRPr lang="en-US" sz="1850" dirty="0"/>
          </a:p>
        </p:txBody>
      </p:sp>
      <p:sp>
        <p:nvSpPr>
          <p:cNvPr id="15" name="Text 13"/>
          <p:cNvSpPr/>
          <p:nvPr/>
        </p:nvSpPr>
        <p:spPr>
          <a:xfrm>
            <a:off x="7635597" y="2464594"/>
            <a:ext cx="3295531"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Support Vector Machine (SVM)</a:t>
            </a:r>
            <a:endParaRPr lang="en-US" sz="1950" dirty="0"/>
          </a:p>
        </p:txBody>
      </p:sp>
      <p:sp>
        <p:nvSpPr>
          <p:cNvPr id="16" name="Text 14"/>
          <p:cNvSpPr/>
          <p:nvPr/>
        </p:nvSpPr>
        <p:spPr>
          <a:xfrm>
            <a:off x="7635597" y="2893814"/>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Mencari hyperplane optimal yang memisahkan kelas</a:t>
            </a:r>
            <a:endParaRPr lang="en-US" sz="1550" dirty="0"/>
          </a:p>
        </p:txBody>
      </p:sp>
      <p:sp>
        <p:nvSpPr>
          <p:cNvPr id="17" name="Text 15"/>
          <p:cNvSpPr/>
          <p:nvPr/>
        </p:nvSpPr>
        <p:spPr>
          <a:xfrm>
            <a:off x="7635597" y="3280767"/>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Efektif untuk data dimensi tinggi</a:t>
            </a:r>
            <a:endParaRPr lang="en-US" sz="1550" dirty="0"/>
          </a:p>
        </p:txBody>
      </p:sp>
      <p:sp>
        <p:nvSpPr>
          <p:cNvPr id="18" name="Text 16"/>
          <p:cNvSpPr/>
          <p:nvPr/>
        </p:nvSpPr>
        <p:spPr>
          <a:xfrm>
            <a:off x="7635597" y="3667720"/>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Dapat menangani klasifikasi non-linear dengan kernel trick</a:t>
            </a:r>
            <a:endParaRPr lang="en-US" sz="1550" dirty="0"/>
          </a:p>
        </p:txBody>
      </p:sp>
      <p:sp>
        <p:nvSpPr>
          <p:cNvPr id="19" name="Shape 17"/>
          <p:cNvSpPr/>
          <p:nvPr/>
        </p:nvSpPr>
        <p:spPr>
          <a:xfrm>
            <a:off x="793790" y="5020032"/>
            <a:ext cx="6422231" cy="2555558"/>
          </a:xfrm>
          <a:prstGeom prst="roundRect">
            <a:avLst>
              <a:gd name="adj" fmla="val 4294"/>
            </a:avLst>
          </a:prstGeom>
          <a:solidFill>
            <a:srgbClr val="FFFFFF"/>
          </a:solidFill>
          <a:ln/>
        </p:spPr>
      </p:sp>
      <p:sp>
        <p:nvSpPr>
          <p:cNvPr id="20" name="Shape 18"/>
          <p:cNvSpPr/>
          <p:nvPr/>
        </p:nvSpPr>
        <p:spPr>
          <a:xfrm>
            <a:off x="793790" y="4997172"/>
            <a:ext cx="6422231" cy="91440"/>
          </a:xfrm>
          <a:prstGeom prst="roundRect">
            <a:avLst>
              <a:gd name="adj" fmla="val 91163"/>
            </a:avLst>
          </a:prstGeom>
          <a:solidFill>
            <a:srgbClr val="437066"/>
          </a:solidFill>
          <a:ln/>
        </p:spPr>
      </p:sp>
      <p:sp>
        <p:nvSpPr>
          <p:cNvPr id="21" name="Shape 19"/>
          <p:cNvSpPr/>
          <p:nvPr/>
        </p:nvSpPr>
        <p:spPr>
          <a:xfrm>
            <a:off x="3707249" y="4722376"/>
            <a:ext cx="595313" cy="595313"/>
          </a:xfrm>
          <a:prstGeom prst="roundRect">
            <a:avLst>
              <a:gd name="adj" fmla="val 153600"/>
            </a:avLst>
          </a:prstGeom>
          <a:solidFill>
            <a:srgbClr val="437066"/>
          </a:solidFill>
          <a:ln/>
        </p:spPr>
      </p:sp>
      <p:sp>
        <p:nvSpPr>
          <p:cNvPr id="22" name="Text 20"/>
          <p:cNvSpPr/>
          <p:nvPr/>
        </p:nvSpPr>
        <p:spPr>
          <a:xfrm>
            <a:off x="3885843" y="487120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3</a:t>
            </a:r>
            <a:endParaRPr lang="en-US" sz="1850" dirty="0"/>
          </a:p>
        </p:txBody>
      </p:sp>
      <p:sp>
        <p:nvSpPr>
          <p:cNvPr id="23" name="Text 21"/>
          <p:cNvSpPr/>
          <p:nvPr/>
        </p:nvSpPr>
        <p:spPr>
          <a:xfrm>
            <a:off x="1015008" y="5516166"/>
            <a:ext cx="336494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Decision Tree &amp; Random Forest</a:t>
            </a:r>
            <a:endParaRPr lang="en-US" sz="1950" dirty="0"/>
          </a:p>
        </p:txBody>
      </p:sp>
      <p:sp>
        <p:nvSpPr>
          <p:cNvPr id="24" name="Text 22"/>
          <p:cNvSpPr/>
          <p:nvPr/>
        </p:nvSpPr>
        <p:spPr>
          <a:xfrm>
            <a:off x="1015008" y="5945386"/>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Struktur pohon untuk keputusan berdasarkan fitur</a:t>
            </a:r>
            <a:endParaRPr lang="en-US" sz="1550" dirty="0"/>
          </a:p>
        </p:txBody>
      </p:sp>
      <p:sp>
        <p:nvSpPr>
          <p:cNvPr id="25" name="Text 23"/>
          <p:cNvSpPr/>
          <p:nvPr/>
        </p:nvSpPr>
        <p:spPr>
          <a:xfrm>
            <a:off x="1015008" y="6332339"/>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Random Forest menggabungkan banyak pohon keputusan</a:t>
            </a:r>
            <a:endParaRPr lang="en-US" sz="1550" dirty="0"/>
          </a:p>
        </p:txBody>
      </p:sp>
      <p:sp>
        <p:nvSpPr>
          <p:cNvPr id="26" name="Text 24"/>
          <p:cNvSpPr/>
          <p:nvPr/>
        </p:nvSpPr>
        <p:spPr>
          <a:xfrm>
            <a:off x="1015008" y="6719292"/>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Interpretabilitas tinggi (terutama decision tree tunggal)</a:t>
            </a:r>
            <a:endParaRPr lang="en-US" sz="1550" dirty="0"/>
          </a:p>
        </p:txBody>
      </p:sp>
      <p:sp>
        <p:nvSpPr>
          <p:cNvPr id="27" name="Shape 25"/>
          <p:cNvSpPr/>
          <p:nvPr/>
        </p:nvSpPr>
        <p:spPr>
          <a:xfrm>
            <a:off x="7414379" y="5020032"/>
            <a:ext cx="6422231" cy="2555558"/>
          </a:xfrm>
          <a:prstGeom prst="roundRect">
            <a:avLst>
              <a:gd name="adj" fmla="val 4294"/>
            </a:avLst>
          </a:prstGeom>
          <a:solidFill>
            <a:srgbClr val="FFFFFF"/>
          </a:solidFill>
          <a:ln/>
        </p:spPr>
      </p:sp>
      <p:sp>
        <p:nvSpPr>
          <p:cNvPr id="28" name="Shape 26"/>
          <p:cNvSpPr/>
          <p:nvPr/>
        </p:nvSpPr>
        <p:spPr>
          <a:xfrm>
            <a:off x="7414379" y="4997172"/>
            <a:ext cx="6422231" cy="91440"/>
          </a:xfrm>
          <a:prstGeom prst="roundRect">
            <a:avLst>
              <a:gd name="adj" fmla="val 91163"/>
            </a:avLst>
          </a:prstGeom>
          <a:solidFill>
            <a:srgbClr val="437066"/>
          </a:solidFill>
          <a:ln/>
        </p:spPr>
      </p:sp>
      <p:sp>
        <p:nvSpPr>
          <p:cNvPr id="29" name="Shape 27"/>
          <p:cNvSpPr/>
          <p:nvPr/>
        </p:nvSpPr>
        <p:spPr>
          <a:xfrm>
            <a:off x="10327838" y="4722376"/>
            <a:ext cx="595313" cy="595313"/>
          </a:xfrm>
          <a:prstGeom prst="roundRect">
            <a:avLst>
              <a:gd name="adj" fmla="val 153600"/>
            </a:avLst>
          </a:prstGeom>
          <a:solidFill>
            <a:srgbClr val="437066"/>
          </a:solidFill>
          <a:ln/>
        </p:spPr>
      </p:sp>
      <p:sp>
        <p:nvSpPr>
          <p:cNvPr id="30" name="Text 28"/>
          <p:cNvSpPr/>
          <p:nvPr/>
        </p:nvSpPr>
        <p:spPr>
          <a:xfrm>
            <a:off x="10506432" y="487120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4</a:t>
            </a:r>
            <a:endParaRPr lang="en-US" sz="1850" dirty="0"/>
          </a:p>
        </p:txBody>
      </p:sp>
      <p:sp>
        <p:nvSpPr>
          <p:cNvPr id="31" name="Text 29"/>
          <p:cNvSpPr/>
          <p:nvPr/>
        </p:nvSpPr>
        <p:spPr>
          <a:xfrm>
            <a:off x="7635597" y="551616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Neural Networks</a:t>
            </a:r>
            <a:endParaRPr lang="en-US" sz="1950" dirty="0"/>
          </a:p>
        </p:txBody>
      </p:sp>
      <p:sp>
        <p:nvSpPr>
          <p:cNvPr id="32" name="Text 30"/>
          <p:cNvSpPr/>
          <p:nvPr/>
        </p:nvSpPr>
        <p:spPr>
          <a:xfrm>
            <a:off x="7635597" y="5945386"/>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Jaringan neuron yang terinspirasi dari otak manusia</a:t>
            </a:r>
            <a:endParaRPr lang="en-US" sz="1550" dirty="0"/>
          </a:p>
        </p:txBody>
      </p:sp>
      <p:sp>
        <p:nvSpPr>
          <p:cNvPr id="33" name="Text 31"/>
          <p:cNvSpPr/>
          <p:nvPr/>
        </p:nvSpPr>
        <p:spPr>
          <a:xfrm>
            <a:off x="7635597" y="6332339"/>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Sangat kuat untuk masalah kompleks seperti computer vision</a:t>
            </a:r>
            <a:endParaRPr lang="en-US" sz="1550" dirty="0"/>
          </a:p>
        </p:txBody>
      </p:sp>
      <p:sp>
        <p:nvSpPr>
          <p:cNvPr id="34" name="Text 32"/>
          <p:cNvSpPr/>
          <p:nvPr/>
        </p:nvSpPr>
        <p:spPr>
          <a:xfrm>
            <a:off x="7635597" y="7036832"/>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Membutuhkan data yang banyak dan komputasi intensif</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38920"/>
            <a:ext cx="1176385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Pembelajaran Tidak Terawasi (Unsupervised Learning)</a:t>
            </a:r>
            <a:endParaRPr lang="en-US" sz="3900" dirty="0"/>
          </a:p>
        </p:txBody>
      </p:sp>
      <p:sp>
        <p:nvSpPr>
          <p:cNvPr id="3" name="Text 1"/>
          <p:cNvSpPr/>
          <p:nvPr/>
        </p:nvSpPr>
        <p:spPr>
          <a:xfrm>
            <a:off x="793790" y="2955012"/>
            <a:ext cx="2709267"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Definisi dan Karakteristik</a:t>
            </a:r>
            <a:endParaRPr lang="en-US" sz="1950" dirty="0"/>
          </a:p>
        </p:txBody>
      </p:sp>
      <p:sp>
        <p:nvSpPr>
          <p:cNvPr id="4" name="Text 2"/>
          <p:cNvSpPr/>
          <p:nvPr/>
        </p:nvSpPr>
        <p:spPr>
          <a:xfrm>
            <a:off x="793790" y="3463528"/>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tidak terawasi adalah pendekatan di mana algoritma belajar dari data tanpa label. Tujuannya adalah menemukan struktur atau pola tersembunyi dalam data tanpa panduan eksternal.</a:t>
            </a:r>
            <a:endParaRPr lang="en-US" sz="1550" dirty="0"/>
          </a:p>
        </p:txBody>
      </p:sp>
      <p:sp>
        <p:nvSpPr>
          <p:cNvPr id="5" name="Text 3"/>
          <p:cNvSpPr/>
          <p:nvPr/>
        </p:nvSpPr>
        <p:spPr>
          <a:xfrm>
            <a:off x="793790" y="491228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Data pelatihan: {x₁, x₂, ..., xₙ} tanpa label target</a:t>
            </a:r>
            <a:endParaRPr lang="en-US" sz="1550" dirty="0"/>
          </a:p>
        </p:txBody>
      </p:sp>
      <p:sp>
        <p:nvSpPr>
          <p:cNvPr id="6" name="Text 4"/>
          <p:cNvSpPr/>
          <p:nvPr/>
        </p:nvSpPr>
        <p:spPr>
          <a:xfrm>
            <a:off x="793790" y="529923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Fokus pada struktur intrinsik dan hubungan dalam data</a:t>
            </a:r>
            <a:endParaRPr lang="en-US" sz="1550" dirty="0"/>
          </a:p>
        </p:txBody>
      </p:sp>
      <p:sp>
        <p:nvSpPr>
          <p:cNvPr id="7" name="Text 5"/>
          <p:cNvSpPr/>
          <p:nvPr/>
        </p:nvSpPr>
        <p:spPr>
          <a:xfrm>
            <a:off x="793790" y="5686187"/>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Tidak ada metrik kinerja eksplisit seperti pada supervised learning</a:t>
            </a:r>
            <a:endParaRPr lang="en-US" sz="1550" dirty="0"/>
          </a:p>
        </p:txBody>
      </p:sp>
      <p:sp>
        <p:nvSpPr>
          <p:cNvPr id="8" name="Text 6"/>
          <p:cNvSpPr/>
          <p:nvPr/>
        </p:nvSpPr>
        <p:spPr>
          <a:xfrm>
            <a:off x="7564874" y="2955012"/>
            <a:ext cx="4742974"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Tipe Masalah dalam Unsupervised Learning</a:t>
            </a:r>
            <a:endParaRPr lang="en-US" sz="1950" dirty="0"/>
          </a:p>
        </p:txBody>
      </p:sp>
      <p:sp>
        <p:nvSpPr>
          <p:cNvPr id="9" name="Text 7"/>
          <p:cNvSpPr/>
          <p:nvPr/>
        </p:nvSpPr>
        <p:spPr>
          <a:xfrm>
            <a:off x="7564874" y="346352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Clustering:</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Mengelompokkan data berdasarkan kesamaan</a:t>
            </a:r>
            <a:endParaRPr lang="en-US" sz="1550" dirty="0"/>
          </a:p>
        </p:txBody>
      </p:sp>
      <p:sp>
        <p:nvSpPr>
          <p:cNvPr id="10" name="Text 8"/>
          <p:cNvSpPr/>
          <p:nvPr/>
        </p:nvSpPr>
        <p:spPr>
          <a:xfrm>
            <a:off x="7564874" y="385048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Reduksi dimensi: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Mengurangi jumlah fitur sambil mempertahankan informasi penting</a:t>
            </a:r>
            <a:endParaRPr lang="en-US" sz="1550" dirty="0"/>
          </a:p>
        </p:txBody>
      </p:sp>
      <p:sp>
        <p:nvSpPr>
          <p:cNvPr id="11" name="Text 9"/>
          <p:cNvSpPr/>
          <p:nvPr/>
        </p:nvSpPr>
        <p:spPr>
          <a:xfrm>
            <a:off x="7564874" y="4554974"/>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Deteksi anomali: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Mengidentifikasi outlier atau pola tidak normal</a:t>
            </a:r>
            <a:endParaRPr lang="en-US" sz="1550" dirty="0"/>
          </a:p>
        </p:txBody>
      </p:sp>
      <p:sp>
        <p:nvSpPr>
          <p:cNvPr id="12" name="Text 10"/>
          <p:cNvSpPr/>
          <p:nvPr/>
        </p:nvSpPr>
        <p:spPr>
          <a:xfrm>
            <a:off x="7564874" y="525946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Estimasi densitas: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Memperkirakan distribusi probabilitas data</a:t>
            </a:r>
            <a:endParaRPr lang="en-US" sz="1550" dirty="0"/>
          </a:p>
        </p:txBody>
      </p:sp>
      <p:sp>
        <p:nvSpPr>
          <p:cNvPr id="13" name="Text 11"/>
          <p:cNvSpPr/>
          <p:nvPr/>
        </p:nvSpPr>
        <p:spPr>
          <a:xfrm>
            <a:off x="7564874" y="5646420"/>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Pembelajaran representasi: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Menemukan representasi yang lebih baik dari data</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74608"/>
            <a:ext cx="8166497" cy="589121"/>
          </a:xfrm>
          <a:prstGeom prst="rect">
            <a:avLst/>
          </a:prstGeom>
          <a:noFill/>
          <a:ln/>
        </p:spPr>
        <p:txBody>
          <a:bodyPr wrap="none" lIns="0" tIns="0" rIns="0" bIns="0" rtlCol="0" anchor="t"/>
          <a:lstStyle/>
          <a:p>
            <a:pPr algn="l" indent="0" marL="0">
              <a:lnSpc>
                <a:spcPts val="4600"/>
              </a:lnSpc>
              <a:buNone/>
            </a:pPr>
            <a:r>
              <a:rPr lang="en-US" sz="3700" dirty="0">
                <a:solidFill>
                  <a:srgbClr val="272D45"/>
                </a:solidFill>
                <a:latin typeface="Kanit Light" pitchFamily="34" charset="0"/>
                <a:ea typeface="Kanit Light" pitchFamily="34" charset="-122"/>
                <a:cs typeface="Kanit Light" pitchFamily="34" charset="-120"/>
              </a:rPr>
              <a:t>Algoritma Pembelajaran Tidak Terawasi</a:t>
            </a:r>
            <a:endParaRPr lang="en-US" sz="3700" dirty="0"/>
          </a:p>
        </p:txBody>
      </p:sp>
      <p:sp>
        <p:nvSpPr>
          <p:cNvPr id="3" name="Shape 1"/>
          <p:cNvSpPr/>
          <p:nvPr/>
        </p:nvSpPr>
        <p:spPr>
          <a:xfrm>
            <a:off x="793790" y="1923574"/>
            <a:ext cx="6427113" cy="2429232"/>
          </a:xfrm>
          <a:prstGeom prst="roundRect">
            <a:avLst>
              <a:gd name="adj" fmla="val 4517"/>
            </a:avLst>
          </a:prstGeom>
          <a:solidFill>
            <a:srgbClr val="FFFFFF"/>
          </a:solidFill>
          <a:ln/>
        </p:spPr>
      </p:sp>
      <p:sp>
        <p:nvSpPr>
          <p:cNvPr id="4" name="Shape 2"/>
          <p:cNvSpPr/>
          <p:nvPr/>
        </p:nvSpPr>
        <p:spPr>
          <a:xfrm>
            <a:off x="793790" y="1900714"/>
            <a:ext cx="6427113" cy="91440"/>
          </a:xfrm>
          <a:prstGeom prst="roundRect">
            <a:avLst>
              <a:gd name="adj" fmla="val 86605"/>
            </a:avLst>
          </a:prstGeom>
          <a:solidFill>
            <a:srgbClr val="437066"/>
          </a:solidFill>
          <a:ln/>
        </p:spPr>
      </p:sp>
      <p:sp>
        <p:nvSpPr>
          <p:cNvPr id="5" name="Shape 3"/>
          <p:cNvSpPr/>
          <p:nvPr/>
        </p:nvSpPr>
        <p:spPr>
          <a:xfrm>
            <a:off x="3724513" y="1640800"/>
            <a:ext cx="565547" cy="565547"/>
          </a:xfrm>
          <a:prstGeom prst="roundRect">
            <a:avLst>
              <a:gd name="adj" fmla="val 161684"/>
            </a:avLst>
          </a:prstGeom>
          <a:solidFill>
            <a:srgbClr val="437066"/>
          </a:solidFill>
          <a:ln/>
        </p:spPr>
      </p:sp>
      <p:sp>
        <p:nvSpPr>
          <p:cNvPr id="6" name="Text 4"/>
          <p:cNvSpPr/>
          <p:nvPr/>
        </p:nvSpPr>
        <p:spPr>
          <a:xfrm>
            <a:off x="3894177" y="1782128"/>
            <a:ext cx="226219" cy="282773"/>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Kanit Light" pitchFamily="34" charset="0"/>
                <a:ea typeface="Kanit Light" pitchFamily="34" charset="-122"/>
                <a:cs typeface="Kanit Light" pitchFamily="34" charset="-120"/>
              </a:rPr>
              <a:t>1</a:t>
            </a:r>
            <a:endParaRPr lang="en-US" sz="1750" dirty="0"/>
          </a:p>
        </p:txBody>
      </p:sp>
      <p:sp>
        <p:nvSpPr>
          <p:cNvPr id="7" name="Text 5"/>
          <p:cNvSpPr/>
          <p:nvPr/>
        </p:nvSpPr>
        <p:spPr>
          <a:xfrm>
            <a:off x="1005126" y="2394942"/>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2C3249"/>
                </a:solidFill>
                <a:latin typeface="Kanit Light" pitchFamily="34" charset="0"/>
                <a:ea typeface="Kanit Light" pitchFamily="34" charset="-122"/>
                <a:cs typeface="Kanit Light" pitchFamily="34" charset="-120"/>
              </a:rPr>
              <a:t>K-Means Clustering</a:t>
            </a:r>
            <a:endParaRPr lang="en-US" sz="1850" dirty="0"/>
          </a:p>
        </p:txBody>
      </p:sp>
      <p:sp>
        <p:nvSpPr>
          <p:cNvPr id="8" name="Text 6"/>
          <p:cNvSpPr/>
          <p:nvPr/>
        </p:nvSpPr>
        <p:spPr>
          <a:xfrm>
            <a:off x="1005126" y="2802731"/>
            <a:ext cx="6004441"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Membagi data menjadi k cluster berdasarkan jarak</a:t>
            </a:r>
            <a:endParaRPr lang="en-US" sz="1450" dirty="0"/>
          </a:p>
        </p:txBody>
      </p:sp>
      <p:sp>
        <p:nvSpPr>
          <p:cNvPr id="9" name="Text 7"/>
          <p:cNvSpPr/>
          <p:nvPr/>
        </p:nvSpPr>
        <p:spPr>
          <a:xfrm>
            <a:off x="1005126" y="3170396"/>
            <a:ext cx="6004441"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Algoritma iteratif yang meminimalkan jarak intra-cluster</a:t>
            </a:r>
            <a:endParaRPr lang="en-US" sz="1450" dirty="0"/>
          </a:p>
        </p:txBody>
      </p:sp>
      <p:sp>
        <p:nvSpPr>
          <p:cNvPr id="10" name="Text 8"/>
          <p:cNvSpPr/>
          <p:nvPr/>
        </p:nvSpPr>
        <p:spPr>
          <a:xfrm>
            <a:off x="1005126" y="3538061"/>
            <a:ext cx="6004441"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Sederhana dan efisien untuk dataset besar</a:t>
            </a:r>
            <a:endParaRPr lang="en-US" sz="1450" dirty="0"/>
          </a:p>
        </p:txBody>
      </p:sp>
      <p:sp>
        <p:nvSpPr>
          <p:cNvPr id="11" name="Shape 9"/>
          <p:cNvSpPr/>
          <p:nvPr/>
        </p:nvSpPr>
        <p:spPr>
          <a:xfrm>
            <a:off x="7409378" y="1923574"/>
            <a:ext cx="6427232" cy="2429232"/>
          </a:xfrm>
          <a:prstGeom prst="roundRect">
            <a:avLst>
              <a:gd name="adj" fmla="val 4517"/>
            </a:avLst>
          </a:prstGeom>
          <a:solidFill>
            <a:srgbClr val="FFFFFF"/>
          </a:solidFill>
          <a:ln/>
        </p:spPr>
      </p:sp>
      <p:sp>
        <p:nvSpPr>
          <p:cNvPr id="12" name="Shape 10"/>
          <p:cNvSpPr/>
          <p:nvPr/>
        </p:nvSpPr>
        <p:spPr>
          <a:xfrm>
            <a:off x="7409378" y="1900714"/>
            <a:ext cx="6427232" cy="91440"/>
          </a:xfrm>
          <a:prstGeom prst="roundRect">
            <a:avLst>
              <a:gd name="adj" fmla="val 86605"/>
            </a:avLst>
          </a:prstGeom>
          <a:solidFill>
            <a:srgbClr val="437066"/>
          </a:solidFill>
          <a:ln/>
        </p:spPr>
      </p:sp>
      <p:sp>
        <p:nvSpPr>
          <p:cNvPr id="13" name="Shape 11"/>
          <p:cNvSpPr/>
          <p:nvPr/>
        </p:nvSpPr>
        <p:spPr>
          <a:xfrm>
            <a:off x="10340221" y="1640800"/>
            <a:ext cx="565547" cy="565547"/>
          </a:xfrm>
          <a:prstGeom prst="roundRect">
            <a:avLst>
              <a:gd name="adj" fmla="val 161684"/>
            </a:avLst>
          </a:prstGeom>
          <a:solidFill>
            <a:srgbClr val="437066"/>
          </a:solidFill>
          <a:ln/>
        </p:spPr>
      </p:sp>
      <p:sp>
        <p:nvSpPr>
          <p:cNvPr id="14" name="Text 12"/>
          <p:cNvSpPr/>
          <p:nvPr/>
        </p:nvSpPr>
        <p:spPr>
          <a:xfrm>
            <a:off x="10509885" y="1782128"/>
            <a:ext cx="226219" cy="282773"/>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Kanit Light" pitchFamily="34" charset="0"/>
                <a:ea typeface="Kanit Light" pitchFamily="34" charset="-122"/>
                <a:cs typeface="Kanit Light" pitchFamily="34" charset="-120"/>
              </a:rPr>
              <a:t>2</a:t>
            </a:r>
            <a:endParaRPr lang="en-US" sz="1750" dirty="0"/>
          </a:p>
        </p:txBody>
      </p:sp>
      <p:sp>
        <p:nvSpPr>
          <p:cNvPr id="15" name="Text 13"/>
          <p:cNvSpPr/>
          <p:nvPr/>
        </p:nvSpPr>
        <p:spPr>
          <a:xfrm>
            <a:off x="7620714" y="2394942"/>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2C3249"/>
                </a:solidFill>
                <a:latin typeface="Kanit Light" pitchFamily="34" charset="0"/>
                <a:ea typeface="Kanit Light" pitchFamily="34" charset="-122"/>
                <a:cs typeface="Kanit Light" pitchFamily="34" charset="-120"/>
              </a:rPr>
              <a:t>Hierarchical Clustering</a:t>
            </a:r>
            <a:endParaRPr lang="en-US" sz="1850" dirty="0"/>
          </a:p>
        </p:txBody>
      </p:sp>
      <p:sp>
        <p:nvSpPr>
          <p:cNvPr id="16" name="Text 14"/>
          <p:cNvSpPr/>
          <p:nvPr/>
        </p:nvSpPr>
        <p:spPr>
          <a:xfrm>
            <a:off x="7620714" y="2802731"/>
            <a:ext cx="6004560" cy="603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Membangun hirarki cluster dari bawah ke atas atau atas ke bawah</a:t>
            </a:r>
            <a:endParaRPr lang="en-US" sz="1450" dirty="0"/>
          </a:p>
        </p:txBody>
      </p:sp>
      <p:sp>
        <p:nvSpPr>
          <p:cNvPr id="17" name="Text 15"/>
          <p:cNvSpPr/>
          <p:nvPr/>
        </p:nvSpPr>
        <p:spPr>
          <a:xfrm>
            <a:off x="7620714" y="3472101"/>
            <a:ext cx="6004560"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Tidak memerlukan jumlah cluster yang ditentukan sebelumnya</a:t>
            </a:r>
            <a:endParaRPr lang="en-US" sz="1450" dirty="0"/>
          </a:p>
        </p:txBody>
      </p:sp>
      <p:sp>
        <p:nvSpPr>
          <p:cNvPr id="18" name="Text 16"/>
          <p:cNvSpPr/>
          <p:nvPr/>
        </p:nvSpPr>
        <p:spPr>
          <a:xfrm>
            <a:off x="7620714" y="3839766"/>
            <a:ext cx="6004560"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Menghasilkan dendrogram yang informatif</a:t>
            </a:r>
            <a:endParaRPr lang="en-US" sz="1450" dirty="0"/>
          </a:p>
        </p:txBody>
      </p:sp>
      <p:sp>
        <p:nvSpPr>
          <p:cNvPr id="19" name="Shape 17"/>
          <p:cNvSpPr/>
          <p:nvPr/>
        </p:nvSpPr>
        <p:spPr>
          <a:xfrm>
            <a:off x="793790" y="4824055"/>
            <a:ext cx="6427113" cy="2730937"/>
          </a:xfrm>
          <a:prstGeom prst="roundRect">
            <a:avLst>
              <a:gd name="adj" fmla="val 4018"/>
            </a:avLst>
          </a:prstGeom>
          <a:solidFill>
            <a:srgbClr val="FFFFFF"/>
          </a:solidFill>
          <a:ln/>
        </p:spPr>
      </p:sp>
      <p:sp>
        <p:nvSpPr>
          <p:cNvPr id="20" name="Shape 18"/>
          <p:cNvSpPr/>
          <p:nvPr/>
        </p:nvSpPr>
        <p:spPr>
          <a:xfrm>
            <a:off x="793790" y="4801195"/>
            <a:ext cx="6427113" cy="91440"/>
          </a:xfrm>
          <a:prstGeom prst="roundRect">
            <a:avLst>
              <a:gd name="adj" fmla="val 86605"/>
            </a:avLst>
          </a:prstGeom>
          <a:solidFill>
            <a:srgbClr val="437066"/>
          </a:solidFill>
          <a:ln/>
        </p:spPr>
      </p:sp>
      <p:sp>
        <p:nvSpPr>
          <p:cNvPr id="21" name="Shape 19"/>
          <p:cNvSpPr/>
          <p:nvPr/>
        </p:nvSpPr>
        <p:spPr>
          <a:xfrm>
            <a:off x="3724513" y="4541282"/>
            <a:ext cx="565547" cy="565547"/>
          </a:xfrm>
          <a:prstGeom prst="roundRect">
            <a:avLst>
              <a:gd name="adj" fmla="val 161684"/>
            </a:avLst>
          </a:prstGeom>
          <a:solidFill>
            <a:srgbClr val="437066"/>
          </a:solidFill>
          <a:ln/>
        </p:spPr>
      </p:sp>
      <p:sp>
        <p:nvSpPr>
          <p:cNvPr id="22" name="Text 20"/>
          <p:cNvSpPr/>
          <p:nvPr/>
        </p:nvSpPr>
        <p:spPr>
          <a:xfrm>
            <a:off x="3894177" y="4682609"/>
            <a:ext cx="226219" cy="282773"/>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Kanit Light" pitchFamily="34" charset="0"/>
                <a:ea typeface="Kanit Light" pitchFamily="34" charset="-122"/>
                <a:cs typeface="Kanit Light" pitchFamily="34" charset="-120"/>
              </a:rPr>
              <a:t>3</a:t>
            </a:r>
            <a:endParaRPr lang="en-US" sz="1750" dirty="0"/>
          </a:p>
        </p:txBody>
      </p:sp>
      <p:sp>
        <p:nvSpPr>
          <p:cNvPr id="23" name="Text 21"/>
          <p:cNvSpPr/>
          <p:nvPr/>
        </p:nvSpPr>
        <p:spPr>
          <a:xfrm>
            <a:off x="1005126" y="5295424"/>
            <a:ext cx="3735467" cy="294680"/>
          </a:xfrm>
          <a:prstGeom prst="rect">
            <a:avLst/>
          </a:prstGeom>
          <a:noFill/>
          <a:ln/>
        </p:spPr>
        <p:txBody>
          <a:bodyPr wrap="none" lIns="0" tIns="0" rIns="0" bIns="0" rtlCol="0" anchor="t"/>
          <a:lstStyle/>
          <a:p>
            <a:pPr algn="l" indent="0" marL="0">
              <a:lnSpc>
                <a:spcPts val="2300"/>
              </a:lnSpc>
              <a:buNone/>
            </a:pPr>
            <a:r>
              <a:rPr lang="en-US" sz="1850" dirty="0">
                <a:solidFill>
                  <a:srgbClr val="2C3249"/>
                </a:solidFill>
                <a:latin typeface="Kanit Light" pitchFamily="34" charset="0"/>
                <a:ea typeface="Kanit Light" pitchFamily="34" charset="-122"/>
                <a:cs typeface="Kanit Light" pitchFamily="34" charset="-120"/>
              </a:rPr>
              <a:t>Principal Component Analysis (PCA)</a:t>
            </a:r>
            <a:endParaRPr lang="en-US" sz="1850" dirty="0"/>
          </a:p>
        </p:txBody>
      </p:sp>
      <p:sp>
        <p:nvSpPr>
          <p:cNvPr id="24" name="Text 22"/>
          <p:cNvSpPr/>
          <p:nvPr/>
        </p:nvSpPr>
        <p:spPr>
          <a:xfrm>
            <a:off x="1005126" y="5703213"/>
            <a:ext cx="6004441" cy="603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Teknik reduksi dimensi yang mempertahankan varians maksimum</a:t>
            </a:r>
            <a:endParaRPr lang="en-US" sz="1450" dirty="0"/>
          </a:p>
        </p:txBody>
      </p:sp>
      <p:sp>
        <p:nvSpPr>
          <p:cNvPr id="25" name="Text 23"/>
          <p:cNvSpPr/>
          <p:nvPr/>
        </p:nvSpPr>
        <p:spPr>
          <a:xfrm>
            <a:off x="1005126" y="6372582"/>
            <a:ext cx="6004441"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Memproyeksikan data ke ruang berdimensi lebih rendah</a:t>
            </a:r>
            <a:endParaRPr lang="en-US" sz="1450" dirty="0"/>
          </a:p>
        </p:txBody>
      </p:sp>
      <p:sp>
        <p:nvSpPr>
          <p:cNvPr id="26" name="Text 24"/>
          <p:cNvSpPr/>
          <p:nvPr/>
        </p:nvSpPr>
        <p:spPr>
          <a:xfrm>
            <a:off x="1005126" y="6740247"/>
            <a:ext cx="6004441" cy="603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Berguna untuk visualisasi dan mengatasi curse of dimensionality</a:t>
            </a:r>
            <a:endParaRPr lang="en-US" sz="1450" dirty="0"/>
          </a:p>
        </p:txBody>
      </p:sp>
      <p:sp>
        <p:nvSpPr>
          <p:cNvPr id="27" name="Shape 25"/>
          <p:cNvSpPr/>
          <p:nvPr/>
        </p:nvSpPr>
        <p:spPr>
          <a:xfrm>
            <a:off x="7409378" y="4824055"/>
            <a:ext cx="6427232" cy="2730937"/>
          </a:xfrm>
          <a:prstGeom prst="roundRect">
            <a:avLst>
              <a:gd name="adj" fmla="val 4018"/>
            </a:avLst>
          </a:prstGeom>
          <a:solidFill>
            <a:srgbClr val="FFFFFF"/>
          </a:solidFill>
          <a:ln/>
        </p:spPr>
      </p:sp>
      <p:sp>
        <p:nvSpPr>
          <p:cNvPr id="28" name="Shape 26"/>
          <p:cNvSpPr/>
          <p:nvPr/>
        </p:nvSpPr>
        <p:spPr>
          <a:xfrm>
            <a:off x="7409378" y="4801195"/>
            <a:ext cx="6427232" cy="91440"/>
          </a:xfrm>
          <a:prstGeom prst="roundRect">
            <a:avLst>
              <a:gd name="adj" fmla="val 86605"/>
            </a:avLst>
          </a:prstGeom>
          <a:solidFill>
            <a:srgbClr val="437066"/>
          </a:solidFill>
          <a:ln/>
        </p:spPr>
      </p:sp>
      <p:sp>
        <p:nvSpPr>
          <p:cNvPr id="29" name="Shape 27"/>
          <p:cNvSpPr/>
          <p:nvPr/>
        </p:nvSpPr>
        <p:spPr>
          <a:xfrm>
            <a:off x="10340221" y="4541282"/>
            <a:ext cx="565547" cy="565547"/>
          </a:xfrm>
          <a:prstGeom prst="roundRect">
            <a:avLst>
              <a:gd name="adj" fmla="val 161684"/>
            </a:avLst>
          </a:prstGeom>
          <a:solidFill>
            <a:srgbClr val="437066"/>
          </a:solidFill>
          <a:ln/>
        </p:spPr>
      </p:sp>
      <p:sp>
        <p:nvSpPr>
          <p:cNvPr id="30" name="Text 28"/>
          <p:cNvSpPr/>
          <p:nvPr/>
        </p:nvSpPr>
        <p:spPr>
          <a:xfrm>
            <a:off x="10509885" y="4682609"/>
            <a:ext cx="226219" cy="282773"/>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Kanit Light" pitchFamily="34" charset="0"/>
                <a:ea typeface="Kanit Light" pitchFamily="34" charset="-122"/>
                <a:cs typeface="Kanit Light" pitchFamily="34" charset="-120"/>
              </a:rPr>
              <a:t>4</a:t>
            </a:r>
            <a:endParaRPr lang="en-US" sz="1750" dirty="0"/>
          </a:p>
        </p:txBody>
      </p:sp>
      <p:sp>
        <p:nvSpPr>
          <p:cNvPr id="31" name="Text 29"/>
          <p:cNvSpPr/>
          <p:nvPr/>
        </p:nvSpPr>
        <p:spPr>
          <a:xfrm>
            <a:off x="7620714" y="5295424"/>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2C3249"/>
                </a:solidFill>
                <a:latin typeface="Kanit Light" pitchFamily="34" charset="0"/>
                <a:ea typeface="Kanit Light" pitchFamily="34" charset="-122"/>
                <a:cs typeface="Kanit Light" pitchFamily="34" charset="-120"/>
              </a:rPr>
              <a:t>Autoencoders</a:t>
            </a:r>
            <a:endParaRPr lang="en-US" sz="1850" dirty="0"/>
          </a:p>
        </p:txBody>
      </p:sp>
      <p:sp>
        <p:nvSpPr>
          <p:cNvPr id="32" name="Text 30"/>
          <p:cNvSpPr/>
          <p:nvPr/>
        </p:nvSpPr>
        <p:spPr>
          <a:xfrm>
            <a:off x="7620714" y="5703213"/>
            <a:ext cx="6004560"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Neural network yang belajar merekonstruksi input</a:t>
            </a:r>
            <a:endParaRPr lang="en-US" sz="1450" dirty="0"/>
          </a:p>
        </p:txBody>
      </p:sp>
      <p:sp>
        <p:nvSpPr>
          <p:cNvPr id="33" name="Text 31"/>
          <p:cNvSpPr/>
          <p:nvPr/>
        </p:nvSpPr>
        <p:spPr>
          <a:xfrm>
            <a:off x="7620714" y="6070878"/>
            <a:ext cx="6004560" cy="603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Lapisan tersembunyi memberikan representasi terkompresi dari data</a:t>
            </a:r>
            <a:endParaRPr lang="en-US" sz="1450" dirty="0"/>
          </a:p>
        </p:txBody>
      </p:sp>
      <p:sp>
        <p:nvSpPr>
          <p:cNvPr id="34" name="Text 32"/>
          <p:cNvSpPr/>
          <p:nvPr/>
        </p:nvSpPr>
        <p:spPr>
          <a:xfrm>
            <a:off x="7620714" y="6740247"/>
            <a:ext cx="6004560"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3249"/>
                </a:solidFill>
                <a:latin typeface="Martel Sans" pitchFamily="34" charset="0"/>
                <a:ea typeface="Martel Sans" pitchFamily="34" charset="-122"/>
                <a:cs typeface="Martel Sans" pitchFamily="34" charset="-120"/>
              </a:rPr>
              <a:t>Powerful untuk pembelajaran representasi non-linear</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250871"/>
            <a:ext cx="11747540"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Perbedaan Pembelajaran Terawasi dan Tidak Terawasi</a:t>
            </a:r>
            <a:endParaRPr lang="en-US" sz="3900" dirty="0"/>
          </a:p>
        </p:txBody>
      </p:sp>
      <p:sp>
        <p:nvSpPr>
          <p:cNvPr id="3" name="Shape 1"/>
          <p:cNvSpPr/>
          <p:nvPr/>
        </p:nvSpPr>
        <p:spPr>
          <a:xfrm>
            <a:off x="793790" y="2267783"/>
            <a:ext cx="13042821" cy="4710827"/>
          </a:xfrm>
          <a:prstGeom prst="roundRect">
            <a:avLst>
              <a:gd name="adj" fmla="val 1770"/>
            </a:avLst>
          </a:prstGeom>
          <a:noFill/>
          <a:ln w="7620">
            <a:solidFill>
              <a:srgbClr val="000000">
                <a:alpha val="8000"/>
              </a:srgbClr>
            </a:solidFill>
            <a:prstDash val="solid"/>
          </a:ln>
        </p:spPr>
      </p:sp>
      <p:sp>
        <p:nvSpPr>
          <p:cNvPr id="4" name="Shape 2"/>
          <p:cNvSpPr/>
          <p:nvPr/>
        </p:nvSpPr>
        <p:spPr>
          <a:xfrm>
            <a:off x="801410" y="2275403"/>
            <a:ext cx="13026271" cy="570905"/>
          </a:xfrm>
          <a:prstGeom prst="rect">
            <a:avLst/>
          </a:prstGeom>
          <a:solidFill>
            <a:srgbClr val="FFFFFF">
              <a:alpha val="4000"/>
            </a:srgbClr>
          </a:solidFill>
          <a:ln/>
        </p:spPr>
      </p:sp>
      <p:sp>
        <p:nvSpPr>
          <p:cNvPr id="5" name="Text 3"/>
          <p:cNvSpPr/>
          <p:nvPr/>
        </p:nvSpPr>
        <p:spPr>
          <a:xfrm>
            <a:off x="1001197" y="2402086"/>
            <a:ext cx="394108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Aspek</a:t>
            </a:r>
            <a:endParaRPr lang="en-US" sz="1550" dirty="0"/>
          </a:p>
        </p:txBody>
      </p:sp>
      <p:sp>
        <p:nvSpPr>
          <p:cNvPr id="6" name="Text 4"/>
          <p:cNvSpPr/>
          <p:nvPr/>
        </p:nvSpPr>
        <p:spPr>
          <a:xfrm>
            <a:off x="5346621" y="2402086"/>
            <a:ext cx="393727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Pembelajaran Terawasi</a:t>
            </a:r>
            <a:endParaRPr lang="en-US" sz="1550" dirty="0"/>
          </a:p>
        </p:txBody>
      </p:sp>
      <p:sp>
        <p:nvSpPr>
          <p:cNvPr id="7" name="Text 5"/>
          <p:cNvSpPr/>
          <p:nvPr/>
        </p:nvSpPr>
        <p:spPr>
          <a:xfrm>
            <a:off x="9688235" y="2402086"/>
            <a:ext cx="394108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Pembelajaran Tidak Terawasi</a:t>
            </a:r>
            <a:endParaRPr lang="en-US" sz="1550" dirty="0"/>
          </a:p>
        </p:txBody>
      </p:sp>
      <p:sp>
        <p:nvSpPr>
          <p:cNvPr id="8" name="Shape 6"/>
          <p:cNvSpPr/>
          <p:nvPr/>
        </p:nvSpPr>
        <p:spPr>
          <a:xfrm>
            <a:off x="801410" y="2846308"/>
            <a:ext cx="13026271" cy="570905"/>
          </a:xfrm>
          <a:prstGeom prst="rect">
            <a:avLst/>
          </a:prstGeom>
          <a:solidFill>
            <a:srgbClr val="000000">
              <a:alpha val="4000"/>
            </a:srgbClr>
          </a:solidFill>
          <a:ln/>
        </p:spPr>
      </p:sp>
      <p:sp>
        <p:nvSpPr>
          <p:cNvPr id="9" name="Text 7"/>
          <p:cNvSpPr/>
          <p:nvPr/>
        </p:nvSpPr>
        <p:spPr>
          <a:xfrm>
            <a:off x="1001197" y="2972991"/>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 Input</a:t>
            </a:r>
            <a:endParaRPr lang="en-US" sz="1550" dirty="0"/>
          </a:p>
        </p:txBody>
      </p:sp>
      <p:sp>
        <p:nvSpPr>
          <p:cNvPr id="10" name="Text 8"/>
          <p:cNvSpPr/>
          <p:nvPr/>
        </p:nvSpPr>
        <p:spPr>
          <a:xfrm>
            <a:off x="5346621" y="2972991"/>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 berlabel (fitur dan target)</a:t>
            </a:r>
            <a:endParaRPr lang="en-US" sz="1550" dirty="0"/>
          </a:p>
        </p:txBody>
      </p:sp>
      <p:sp>
        <p:nvSpPr>
          <p:cNvPr id="11" name="Text 9"/>
          <p:cNvSpPr/>
          <p:nvPr/>
        </p:nvSpPr>
        <p:spPr>
          <a:xfrm>
            <a:off x="9688235" y="2972991"/>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 tidak berlabel (hanya fitur)</a:t>
            </a:r>
            <a:endParaRPr lang="en-US" sz="1550" dirty="0"/>
          </a:p>
        </p:txBody>
      </p:sp>
      <p:sp>
        <p:nvSpPr>
          <p:cNvPr id="12" name="Shape 10"/>
          <p:cNvSpPr/>
          <p:nvPr/>
        </p:nvSpPr>
        <p:spPr>
          <a:xfrm>
            <a:off x="801410" y="3417213"/>
            <a:ext cx="13026271" cy="888444"/>
          </a:xfrm>
          <a:prstGeom prst="rect">
            <a:avLst/>
          </a:prstGeom>
          <a:solidFill>
            <a:srgbClr val="FFFFFF">
              <a:alpha val="4000"/>
            </a:srgbClr>
          </a:solidFill>
          <a:ln/>
        </p:spPr>
      </p:sp>
      <p:sp>
        <p:nvSpPr>
          <p:cNvPr id="13" name="Text 11"/>
          <p:cNvSpPr/>
          <p:nvPr/>
        </p:nvSpPr>
        <p:spPr>
          <a:xfrm>
            <a:off x="1001197" y="3543895"/>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Tujuan</a:t>
            </a:r>
            <a:endParaRPr lang="en-US" sz="1550" dirty="0"/>
          </a:p>
        </p:txBody>
      </p:sp>
      <p:sp>
        <p:nvSpPr>
          <p:cNvPr id="14" name="Text 12"/>
          <p:cNvSpPr/>
          <p:nvPr/>
        </p:nvSpPr>
        <p:spPr>
          <a:xfrm>
            <a:off x="5346621" y="3543895"/>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Memprediksi output berdasarkan input</a:t>
            </a:r>
            <a:endParaRPr lang="en-US" sz="1550" dirty="0"/>
          </a:p>
        </p:txBody>
      </p:sp>
      <p:sp>
        <p:nvSpPr>
          <p:cNvPr id="15" name="Text 13"/>
          <p:cNvSpPr/>
          <p:nvPr/>
        </p:nvSpPr>
        <p:spPr>
          <a:xfrm>
            <a:off x="9688235" y="3543895"/>
            <a:ext cx="3941088"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Menemukan pola atau struktur tersembunyi</a:t>
            </a:r>
            <a:endParaRPr lang="en-US" sz="1550" dirty="0"/>
          </a:p>
        </p:txBody>
      </p:sp>
      <p:sp>
        <p:nvSpPr>
          <p:cNvPr id="16" name="Shape 14"/>
          <p:cNvSpPr/>
          <p:nvPr/>
        </p:nvSpPr>
        <p:spPr>
          <a:xfrm>
            <a:off x="801410" y="4305657"/>
            <a:ext cx="13026271" cy="888444"/>
          </a:xfrm>
          <a:prstGeom prst="rect">
            <a:avLst/>
          </a:prstGeom>
          <a:solidFill>
            <a:srgbClr val="000000">
              <a:alpha val="4000"/>
            </a:srgbClr>
          </a:solidFill>
          <a:ln/>
        </p:spPr>
      </p:sp>
      <p:sp>
        <p:nvSpPr>
          <p:cNvPr id="17" name="Text 15"/>
          <p:cNvSpPr/>
          <p:nvPr/>
        </p:nvSpPr>
        <p:spPr>
          <a:xfrm>
            <a:off x="1001197" y="4432340"/>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Evaluasi</a:t>
            </a:r>
            <a:endParaRPr lang="en-US" sz="1550" dirty="0"/>
          </a:p>
        </p:txBody>
      </p:sp>
      <p:sp>
        <p:nvSpPr>
          <p:cNvPr id="18" name="Text 16"/>
          <p:cNvSpPr/>
          <p:nvPr/>
        </p:nvSpPr>
        <p:spPr>
          <a:xfrm>
            <a:off x="5346621" y="4432340"/>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Akurasi, presisi, recall, F1-score, RMSE</a:t>
            </a:r>
            <a:endParaRPr lang="en-US" sz="1550" dirty="0"/>
          </a:p>
        </p:txBody>
      </p:sp>
      <p:sp>
        <p:nvSpPr>
          <p:cNvPr id="19" name="Text 17"/>
          <p:cNvSpPr/>
          <p:nvPr/>
        </p:nvSpPr>
        <p:spPr>
          <a:xfrm>
            <a:off x="9688235" y="4432340"/>
            <a:ext cx="3941088"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Koherensi cluster, silhouette score, distorsi</a:t>
            </a:r>
            <a:endParaRPr lang="en-US" sz="1550" dirty="0"/>
          </a:p>
        </p:txBody>
      </p:sp>
      <p:sp>
        <p:nvSpPr>
          <p:cNvPr id="20" name="Shape 18"/>
          <p:cNvSpPr/>
          <p:nvPr/>
        </p:nvSpPr>
        <p:spPr>
          <a:xfrm>
            <a:off x="801410" y="5194102"/>
            <a:ext cx="13026271" cy="888444"/>
          </a:xfrm>
          <a:prstGeom prst="rect">
            <a:avLst/>
          </a:prstGeom>
          <a:solidFill>
            <a:srgbClr val="FFFFFF">
              <a:alpha val="4000"/>
            </a:srgbClr>
          </a:solidFill>
          <a:ln/>
        </p:spPr>
      </p:sp>
      <p:sp>
        <p:nvSpPr>
          <p:cNvPr id="21" name="Text 19"/>
          <p:cNvSpPr/>
          <p:nvPr/>
        </p:nvSpPr>
        <p:spPr>
          <a:xfrm>
            <a:off x="1001197" y="5320784"/>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Aplikasi dalam Computer Vision</a:t>
            </a:r>
            <a:endParaRPr lang="en-US" sz="1550" dirty="0"/>
          </a:p>
        </p:txBody>
      </p:sp>
      <p:sp>
        <p:nvSpPr>
          <p:cNvPr id="22" name="Text 20"/>
          <p:cNvSpPr/>
          <p:nvPr/>
        </p:nvSpPr>
        <p:spPr>
          <a:xfrm>
            <a:off x="5346621" y="5320784"/>
            <a:ext cx="3937278"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Klasifikasi gambar, deteksi objek, segmentasi semantik</a:t>
            </a:r>
            <a:endParaRPr lang="en-US" sz="1550" dirty="0"/>
          </a:p>
        </p:txBody>
      </p:sp>
      <p:sp>
        <p:nvSpPr>
          <p:cNvPr id="23" name="Text 21"/>
          <p:cNvSpPr/>
          <p:nvPr/>
        </p:nvSpPr>
        <p:spPr>
          <a:xfrm>
            <a:off x="9688235" y="5320784"/>
            <a:ext cx="3941088"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Segmentasi tanpa pengawasan, deteksi anomali, reduksi dimensi fitur visual</a:t>
            </a:r>
            <a:endParaRPr lang="en-US" sz="1550" dirty="0"/>
          </a:p>
        </p:txBody>
      </p:sp>
      <p:sp>
        <p:nvSpPr>
          <p:cNvPr id="24" name="Shape 22"/>
          <p:cNvSpPr/>
          <p:nvPr/>
        </p:nvSpPr>
        <p:spPr>
          <a:xfrm>
            <a:off x="801410" y="6082546"/>
            <a:ext cx="13026271" cy="888444"/>
          </a:xfrm>
          <a:prstGeom prst="rect">
            <a:avLst/>
          </a:prstGeom>
          <a:solidFill>
            <a:srgbClr val="000000">
              <a:alpha val="4000"/>
            </a:srgbClr>
          </a:solidFill>
          <a:ln/>
        </p:spPr>
      </p:sp>
      <p:sp>
        <p:nvSpPr>
          <p:cNvPr id="25" name="Text 23"/>
          <p:cNvSpPr/>
          <p:nvPr/>
        </p:nvSpPr>
        <p:spPr>
          <a:xfrm>
            <a:off x="1001197" y="6209228"/>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Tantangan</a:t>
            </a:r>
            <a:endParaRPr lang="en-US" sz="1550" dirty="0"/>
          </a:p>
        </p:txBody>
      </p:sp>
      <p:sp>
        <p:nvSpPr>
          <p:cNvPr id="26" name="Text 24"/>
          <p:cNvSpPr/>
          <p:nvPr/>
        </p:nvSpPr>
        <p:spPr>
          <a:xfrm>
            <a:off x="5346621" y="6209228"/>
            <a:ext cx="3937278"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Membutuhkan data berlabel yang banyak, overfitting</a:t>
            </a:r>
            <a:endParaRPr lang="en-US" sz="1550" dirty="0"/>
          </a:p>
        </p:txBody>
      </p:sp>
      <p:sp>
        <p:nvSpPr>
          <p:cNvPr id="27" name="Text 25"/>
          <p:cNvSpPr/>
          <p:nvPr/>
        </p:nvSpPr>
        <p:spPr>
          <a:xfrm>
            <a:off x="9688235" y="6209228"/>
            <a:ext cx="3941088"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Evaluasi sulit, interpretasi cluster, penentuan parameter optimal</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556147"/>
            <a:ext cx="11162586"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Pembelajaran Penguatan (Reinforcement Learning)</a:t>
            </a:r>
            <a:endParaRPr lang="en-US" sz="3900" dirty="0"/>
          </a:p>
        </p:txBody>
      </p:sp>
      <p:sp>
        <p:nvSpPr>
          <p:cNvPr id="3" name="Text 1"/>
          <p:cNvSpPr/>
          <p:nvPr/>
        </p:nvSpPr>
        <p:spPr>
          <a:xfrm>
            <a:off x="793790" y="267223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Konsep Dasar</a:t>
            </a:r>
            <a:endParaRPr lang="en-US" sz="1950" dirty="0"/>
          </a:p>
        </p:txBody>
      </p:sp>
      <p:sp>
        <p:nvSpPr>
          <p:cNvPr id="4" name="Text 2"/>
          <p:cNvSpPr/>
          <p:nvPr/>
        </p:nvSpPr>
        <p:spPr>
          <a:xfrm>
            <a:off x="793790" y="3180755"/>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penguatan adalah paradigma di mana agen belajar melalui interaksi dengan lingkungan untuk memaksimalkan reward kumulatif. Tidak seperti supervised learning, tidak ada data berlabel yang disediakan.</a:t>
            </a:r>
            <a:endParaRPr lang="en-US" sz="1550" dirty="0"/>
          </a:p>
        </p:txBody>
      </p:sp>
      <p:sp>
        <p:nvSpPr>
          <p:cNvPr id="5" name="Text 3"/>
          <p:cNvSpPr/>
          <p:nvPr/>
        </p:nvSpPr>
        <p:spPr>
          <a:xfrm>
            <a:off x="793790" y="462950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Agen: Entitas yang belajar dan membuat keputusan</a:t>
            </a:r>
            <a:endParaRPr lang="en-US" sz="1550" dirty="0"/>
          </a:p>
        </p:txBody>
      </p:sp>
      <p:sp>
        <p:nvSpPr>
          <p:cNvPr id="6" name="Text 4"/>
          <p:cNvSpPr/>
          <p:nvPr/>
        </p:nvSpPr>
        <p:spPr>
          <a:xfrm>
            <a:off x="793790" y="501646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Lingkungan: Dunia tempat agen berinteraksi</a:t>
            </a:r>
            <a:endParaRPr lang="en-US" sz="1550" dirty="0"/>
          </a:p>
        </p:txBody>
      </p:sp>
      <p:sp>
        <p:nvSpPr>
          <p:cNvPr id="7" name="Text 5"/>
          <p:cNvSpPr/>
          <p:nvPr/>
        </p:nvSpPr>
        <p:spPr>
          <a:xfrm>
            <a:off x="793790" y="540341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State: Representasi situasi lingkungan</a:t>
            </a:r>
            <a:endParaRPr lang="en-US" sz="1550" dirty="0"/>
          </a:p>
        </p:txBody>
      </p:sp>
      <p:sp>
        <p:nvSpPr>
          <p:cNvPr id="8" name="Text 6"/>
          <p:cNvSpPr/>
          <p:nvPr/>
        </p:nvSpPr>
        <p:spPr>
          <a:xfrm>
            <a:off x="793790" y="579036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Action: Keputusan yang diambil agen</a:t>
            </a:r>
            <a:endParaRPr lang="en-US" sz="1550" dirty="0"/>
          </a:p>
        </p:txBody>
      </p:sp>
      <p:sp>
        <p:nvSpPr>
          <p:cNvPr id="9" name="Text 7"/>
          <p:cNvSpPr/>
          <p:nvPr/>
        </p:nvSpPr>
        <p:spPr>
          <a:xfrm>
            <a:off x="793790" y="617732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Reward: Sinyal umpan balik dari lingkungan</a:t>
            </a:r>
            <a:endParaRPr lang="en-US" sz="1550" dirty="0"/>
          </a:p>
        </p:txBody>
      </p:sp>
      <p:sp>
        <p:nvSpPr>
          <p:cNvPr id="10" name="Text 8"/>
          <p:cNvSpPr/>
          <p:nvPr/>
        </p:nvSpPr>
        <p:spPr>
          <a:xfrm>
            <a:off x="7564874" y="2672239"/>
            <a:ext cx="3494961"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Aplikasi dalam Computer Vision</a:t>
            </a:r>
            <a:endParaRPr lang="en-US" sz="1950" dirty="0"/>
          </a:p>
        </p:txBody>
      </p:sp>
      <p:sp>
        <p:nvSpPr>
          <p:cNvPr id="11" name="Text 9"/>
          <p:cNvSpPr/>
          <p:nvPr/>
        </p:nvSpPr>
        <p:spPr>
          <a:xfrm>
            <a:off x="7564874" y="318075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Pengaturan parameter akuisisi gambar secara otomatis</a:t>
            </a:r>
            <a:endParaRPr lang="en-US" sz="1550" dirty="0"/>
          </a:p>
        </p:txBody>
      </p:sp>
      <p:sp>
        <p:nvSpPr>
          <p:cNvPr id="12" name="Text 10"/>
          <p:cNvSpPr/>
          <p:nvPr/>
        </p:nvSpPr>
        <p:spPr>
          <a:xfrm>
            <a:off x="7564874" y="356770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Navigasi visual robot</a:t>
            </a:r>
            <a:endParaRPr lang="en-US" sz="1550" dirty="0"/>
          </a:p>
        </p:txBody>
      </p:sp>
      <p:sp>
        <p:nvSpPr>
          <p:cNvPr id="13" name="Text 11"/>
          <p:cNvSpPr/>
          <p:nvPr/>
        </p:nvSpPr>
        <p:spPr>
          <a:xfrm>
            <a:off x="7564874" y="395466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Attention mechanism dalam model vision</a:t>
            </a:r>
            <a:endParaRPr lang="en-US" sz="1550" dirty="0"/>
          </a:p>
        </p:txBody>
      </p:sp>
      <p:sp>
        <p:nvSpPr>
          <p:cNvPr id="14" name="Text 12"/>
          <p:cNvSpPr/>
          <p:nvPr/>
        </p:nvSpPr>
        <p:spPr>
          <a:xfrm>
            <a:off x="7564874" y="434161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Active learning untuk akuisisi data berlabel</a:t>
            </a:r>
            <a:endParaRPr lang="en-US" sz="1550" dirty="0"/>
          </a:p>
        </p:txBody>
      </p:sp>
      <p:sp>
        <p:nvSpPr>
          <p:cNvPr id="15" name="Text 13"/>
          <p:cNvSpPr/>
          <p:nvPr/>
        </p:nvSpPr>
        <p:spPr>
          <a:xfrm>
            <a:off x="7564874" y="472856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Optimasi kebijakan pemrosesan gambar untuk tugas tertentu</a:t>
            </a:r>
            <a:endParaRPr lang="en-US" sz="1550" dirty="0"/>
          </a:p>
        </p:txBody>
      </p:sp>
      <p:sp>
        <p:nvSpPr>
          <p:cNvPr id="16" name="Text 14"/>
          <p:cNvSpPr/>
          <p:nvPr/>
        </p:nvSpPr>
        <p:spPr>
          <a:xfrm>
            <a:off x="7564874" y="5224701"/>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Meskipun tidak sepopuler supervised learning dalam computer vision, reinforcement learning menawarkan pendekatan yang menjanjikan untuk masalah yang membutuhkan pengambilan keputusan sekuensial.</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617940"/>
            <a:ext cx="7781449"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Metrik Evaluasi Pembelajaran Mesin</a:t>
            </a:r>
            <a:endParaRPr lang="en-US" sz="3900" dirty="0"/>
          </a:p>
        </p:txBody>
      </p:sp>
      <p:sp>
        <p:nvSpPr>
          <p:cNvPr id="3" name="Shape 1"/>
          <p:cNvSpPr/>
          <p:nvPr/>
        </p:nvSpPr>
        <p:spPr>
          <a:xfrm>
            <a:off x="793790" y="2634853"/>
            <a:ext cx="4215289" cy="3976688"/>
          </a:xfrm>
          <a:prstGeom prst="roundRect">
            <a:avLst>
              <a:gd name="adj" fmla="val 2096"/>
            </a:avLst>
          </a:prstGeom>
          <a:solidFill>
            <a:srgbClr val="DFECE9"/>
          </a:solidFill>
          <a:ln w="7620">
            <a:solidFill>
              <a:srgbClr val="C5D2CF"/>
            </a:solidFill>
            <a:prstDash val="solid"/>
          </a:ln>
        </p:spPr>
      </p:sp>
      <p:sp>
        <p:nvSpPr>
          <p:cNvPr id="4" name="Text 2"/>
          <p:cNvSpPr/>
          <p:nvPr/>
        </p:nvSpPr>
        <p:spPr>
          <a:xfrm>
            <a:off x="999768" y="284083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Metrik Klasifikasi</a:t>
            </a:r>
            <a:endParaRPr lang="en-US" sz="1950" dirty="0"/>
          </a:p>
        </p:txBody>
      </p:sp>
      <p:sp>
        <p:nvSpPr>
          <p:cNvPr id="5" name="Text 3"/>
          <p:cNvSpPr/>
          <p:nvPr/>
        </p:nvSpPr>
        <p:spPr>
          <a:xfrm>
            <a:off x="999768" y="3270052"/>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Akurasi: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Proporsi prediksi yang benar</a:t>
            </a:r>
            <a:endParaRPr lang="en-US" sz="1550" dirty="0"/>
          </a:p>
        </p:txBody>
      </p:sp>
      <p:sp>
        <p:nvSpPr>
          <p:cNvPr id="6" name="Text 4"/>
          <p:cNvSpPr/>
          <p:nvPr/>
        </p:nvSpPr>
        <p:spPr>
          <a:xfrm>
            <a:off x="999768" y="3974544"/>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Presisi: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Rasio true positive terhadap semua prediksi positif</a:t>
            </a:r>
            <a:endParaRPr lang="en-US" sz="1550" dirty="0"/>
          </a:p>
        </p:txBody>
      </p:sp>
      <p:sp>
        <p:nvSpPr>
          <p:cNvPr id="7" name="Text 5"/>
          <p:cNvSpPr/>
          <p:nvPr/>
        </p:nvSpPr>
        <p:spPr>
          <a:xfrm>
            <a:off x="999768" y="4679037"/>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Recall:</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Rasio true positive terhadap semua kondisi positif aktual</a:t>
            </a:r>
            <a:endParaRPr lang="en-US" sz="1550" dirty="0"/>
          </a:p>
        </p:txBody>
      </p:sp>
      <p:sp>
        <p:nvSpPr>
          <p:cNvPr id="8" name="Text 6"/>
          <p:cNvSpPr/>
          <p:nvPr/>
        </p:nvSpPr>
        <p:spPr>
          <a:xfrm>
            <a:off x="999768" y="5383530"/>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F1-Score: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Rata-rata harmonik dari presisi dan recall</a:t>
            </a:r>
            <a:endParaRPr lang="en-US" sz="1550" dirty="0"/>
          </a:p>
        </p:txBody>
      </p:sp>
      <p:sp>
        <p:nvSpPr>
          <p:cNvPr id="9" name="Text 7"/>
          <p:cNvSpPr/>
          <p:nvPr/>
        </p:nvSpPr>
        <p:spPr>
          <a:xfrm>
            <a:off x="999768" y="6088023"/>
            <a:ext cx="3803333"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ROC-AUC:</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Area di bawah kurva ROC</a:t>
            </a:r>
            <a:endParaRPr lang="en-US" sz="1550" dirty="0"/>
          </a:p>
        </p:txBody>
      </p:sp>
      <p:sp>
        <p:nvSpPr>
          <p:cNvPr id="10" name="Shape 8"/>
          <p:cNvSpPr/>
          <p:nvPr/>
        </p:nvSpPr>
        <p:spPr>
          <a:xfrm>
            <a:off x="5207437" y="2634853"/>
            <a:ext cx="4215408" cy="3976688"/>
          </a:xfrm>
          <a:prstGeom prst="roundRect">
            <a:avLst>
              <a:gd name="adj" fmla="val 2096"/>
            </a:avLst>
          </a:prstGeom>
          <a:solidFill>
            <a:srgbClr val="DFECE9"/>
          </a:solidFill>
          <a:ln w="7620">
            <a:solidFill>
              <a:srgbClr val="C5D2CF"/>
            </a:solidFill>
            <a:prstDash val="solid"/>
          </a:ln>
        </p:spPr>
      </p:sp>
      <p:sp>
        <p:nvSpPr>
          <p:cNvPr id="11" name="Text 9"/>
          <p:cNvSpPr/>
          <p:nvPr/>
        </p:nvSpPr>
        <p:spPr>
          <a:xfrm>
            <a:off x="5413415" y="284083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Metrik Regresi</a:t>
            </a:r>
            <a:endParaRPr lang="en-US" sz="1950" dirty="0"/>
          </a:p>
        </p:txBody>
      </p:sp>
      <p:sp>
        <p:nvSpPr>
          <p:cNvPr id="12" name="Text 10"/>
          <p:cNvSpPr/>
          <p:nvPr/>
        </p:nvSpPr>
        <p:spPr>
          <a:xfrm>
            <a:off x="5413415" y="3270052"/>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MSE: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Mean Squared Error</a:t>
            </a:r>
            <a:endParaRPr lang="en-US" sz="1550" dirty="0"/>
          </a:p>
        </p:txBody>
      </p:sp>
      <p:sp>
        <p:nvSpPr>
          <p:cNvPr id="13" name="Text 11"/>
          <p:cNvSpPr/>
          <p:nvPr/>
        </p:nvSpPr>
        <p:spPr>
          <a:xfrm>
            <a:off x="5413415" y="3657005"/>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RMSE: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Root Mean Squared Error</a:t>
            </a:r>
            <a:endParaRPr lang="en-US" sz="1550" dirty="0"/>
          </a:p>
        </p:txBody>
      </p:sp>
      <p:sp>
        <p:nvSpPr>
          <p:cNvPr id="14" name="Text 12"/>
          <p:cNvSpPr/>
          <p:nvPr/>
        </p:nvSpPr>
        <p:spPr>
          <a:xfrm>
            <a:off x="5413415" y="4043958"/>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MAE: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Mean Absolute Error</a:t>
            </a:r>
            <a:endParaRPr lang="en-US" sz="1550" dirty="0"/>
          </a:p>
        </p:txBody>
      </p:sp>
      <p:sp>
        <p:nvSpPr>
          <p:cNvPr id="15" name="Text 13"/>
          <p:cNvSpPr/>
          <p:nvPr/>
        </p:nvSpPr>
        <p:spPr>
          <a:xfrm>
            <a:off x="5413415" y="4430911"/>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R²:</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Koefisien determinasi</a:t>
            </a:r>
            <a:endParaRPr lang="en-US" sz="1550" dirty="0"/>
          </a:p>
        </p:txBody>
      </p:sp>
      <p:sp>
        <p:nvSpPr>
          <p:cNvPr id="16" name="Shape 14"/>
          <p:cNvSpPr/>
          <p:nvPr/>
        </p:nvSpPr>
        <p:spPr>
          <a:xfrm>
            <a:off x="9621203" y="2634853"/>
            <a:ext cx="4215289" cy="3976688"/>
          </a:xfrm>
          <a:prstGeom prst="roundRect">
            <a:avLst>
              <a:gd name="adj" fmla="val 2096"/>
            </a:avLst>
          </a:prstGeom>
          <a:solidFill>
            <a:srgbClr val="DFECE9"/>
          </a:solidFill>
          <a:ln w="7620">
            <a:solidFill>
              <a:srgbClr val="C5D2CF"/>
            </a:solidFill>
            <a:prstDash val="solid"/>
          </a:ln>
        </p:spPr>
      </p:sp>
      <p:sp>
        <p:nvSpPr>
          <p:cNvPr id="17" name="Text 15"/>
          <p:cNvSpPr/>
          <p:nvPr/>
        </p:nvSpPr>
        <p:spPr>
          <a:xfrm>
            <a:off x="9827181" y="284083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Metrik Clustering</a:t>
            </a:r>
            <a:endParaRPr lang="en-US" sz="1950" dirty="0"/>
          </a:p>
        </p:txBody>
      </p:sp>
      <p:sp>
        <p:nvSpPr>
          <p:cNvPr id="18" name="Text 16"/>
          <p:cNvSpPr/>
          <p:nvPr/>
        </p:nvSpPr>
        <p:spPr>
          <a:xfrm>
            <a:off x="9827181" y="3270052"/>
            <a:ext cx="3803333"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Silhouette Score: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Mengukur seberapa baik objek cocok dengan clusternya</a:t>
            </a:r>
            <a:endParaRPr lang="en-US" sz="1550" dirty="0"/>
          </a:p>
        </p:txBody>
      </p:sp>
      <p:sp>
        <p:nvSpPr>
          <p:cNvPr id="19" name="Text 17"/>
          <p:cNvSpPr/>
          <p:nvPr/>
        </p:nvSpPr>
        <p:spPr>
          <a:xfrm>
            <a:off x="9827181" y="4292084"/>
            <a:ext cx="3803333"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Davies-Bouldin Index:</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Rasio jarak intra-cluster dengan jarak inter-cluster</a:t>
            </a:r>
            <a:endParaRPr lang="en-US" sz="1550" dirty="0"/>
          </a:p>
        </p:txBody>
      </p:sp>
      <p:sp>
        <p:nvSpPr>
          <p:cNvPr id="20" name="Text 18"/>
          <p:cNvSpPr/>
          <p:nvPr/>
        </p:nvSpPr>
        <p:spPr>
          <a:xfrm>
            <a:off x="9827181" y="5314117"/>
            <a:ext cx="3803333"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Calinski-Harabasz Index:</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Rasio dispersi antar-cluster dengan dispersi dalam-cluster</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1520" y="504944"/>
            <a:ext cx="6745010" cy="457200"/>
          </a:xfrm>
          <a:prstGeom prst="rect">
            <a:avLst/>
          </a:prstGeom>
          <a:noFill/>
          <a:ln/>
        </p:spPr>
        <p:txBody>
          <a:bodyPr wrap="none" lIns="0" tIns="0" rIns="0" bIns="0" rtlCol="0" anchor="t"/>
          <a:lstStyle/>
          <a:p>
            <a:pPr algn="l" indent="0" marL="0">
              <a:lnSpc>
                <a:spcPts val="3600"/>
              </a:lnSpc>
              <a:buNone/>
            </a:pPr>
            <a:r>
              <a:rPr lang="en-US" sz="2850" dirty="0">
                <a:solidFill>
                  <a:srgbClr val="272D45"/>
                </a:solidFill>
                <a:latin typeface="Kanit Light" pitchFamily="34" charset="0"/>
                <a:ea typeface="Kanit Light" pitchFamily="34" charset="-122"/>
                <a:cs typeface="Kanit Light" pitchFamily="34" charset="-120"/>
              </a:rPr>
              <a:t>Implementasi dengan Python: Scikit-learn</a:t>
            </a:r>
            <a:endParaRPr lang="en-US" sz="2850" dirty="0"/>
          </a:p>
        </p:txBody>
      </p:sp>
      <p:sp>
        <p:nvSpPr>
          <p:cNvPr id="3" name="Text 1"/>
          <p:cNvSpPr/>
          <p:nvPr/>
        </p:nvSpPr>
        <p:spPr>
          <a:xfrm>
            <a:off x="731520" y="1254681"/>
            <a:ext cx="13167360" cy="468154"/>
          </a:xfrm>
          <a:prstGeom prst="rect">
            <a:avLst/>
          </a:prstGeom>
          <a:noFill/>
          <a:ln/>
        </p:spPr>
        <p:txBody>
          <a:bodyPr wrap="square" lIns="0" tIns="0" rIns="0" bIns="0" rtlCol="0" anchor="t"/>
          <a:lstStyle/>
          <a:p>
            <a:pPr algn="l" indent="0" marL="0">
              <a:lnSpc>
                <a:spcPts val="1800"/>
              </a:lnSpc>
              <a:buNone/>
            </a:pPr>
            <a:r>
              <a:rPr lang="en-US" sz="1150" dirty="0">
                <a:solidFill>
                  <a:srgbClr val="2C3249"/>
                </a:solidFill>
                <a:latin typeface="Martel Sans" pitchFamily="34" charset="0"/>
                <a:ea typeface="Martel Sans" pitchFamily="34" charset="-122"/>
                <a:cs typeface="Martel Sans" pitchFamily="34" charset="-120"/>
              </a:rPr>
              <a:t>Scikit-learn adalah pustaka pembelajaran mesin paling populer untuk Python. Menyediakan implementasi efisien untuk berbagai algoritma serta alat untuk preprocessing data, evaluasi model, dan banyak lagi.</a:t>
            </a:r>
            <a:endParaRPr lang="en-US" sz="1150" dirty="0"/>
          </a:p>
        </p:txBody>
      </p:sp>
      <p:sp>
        <p:nvSpPr>
          <p:cNvPr id="4" name="Shape 2"/>
          <p:cNvSpPr/>
          <p:nvPr/>
        </p:nvSpPr>
        <p:spPr>
          <a:xfrm>
            <a:off x="731520" y="1887379"/>
            <a:ext cx="13167360" cy="5837158"/>
          </a:xfrm>
          <a:prstGeom prst="roundRect">
            <a:avLst>
              <a:gd name="adj" fmla="val 1053"/>
            </a:avLst>
          </a:prstGeom>
          <a:solidFill>
            <a:srgbClr val="F2F2F2"/>
          </a:solidFill>
          <a:ln/>
        </p:spPr>
      </p:sp>
      <p:sp>
        <p:nvSpPr>
          <p:cNvPr id="5" name="Shape 3"/>
          <p:cNvSpPr/>
          <p:nvPr/>
        </p:nvSpPr>
        <p:spPr>
          <a:xfrm>
            <a:off x="724257" y="1887379"/>
            <a:ext cx="13181886" cy="5837158"/>
          </a:xfrm>
          <a:prstGeom prst="roundRect">
            <a:avLst>
              <a:gd name="adj" fmla="val 376"/>
            </a:avLst>
          </a:prstGeom>
          <a:solidFill>
            <a:srgbClr val="F2F2F2"/>
          </a:solidFill>
          <a:ln/>
        </p:spPr>
      </p:sp>
      <p:sp>
        <p:nvSpPr>
          <p:cNvPr id="6" name="Text 4"/>
          <p:cNvSpPr/>
          <p:nvPr/>
        </p:nvSpPr>
        <p:spPr>
          <a:xfrm>
            <a:off x="870466" y="1997035"/>
            <a:ext cx="12889468" cy="5617845"/>
          </a:xfrm>
          <a:prstGeom prst="rect">
            <a:avLst/>
          </a:prstGeom>
          <a:noFill/>
          <a:ln/>
        </p:spPr>
        <p:txBody>
          <a:bodyPr wrap="square" lIns="0" tIns="0" rIns="0" bIns="0" rtlCol="0" anchor="t"/>
          <a:lstStyle/>
          <a:p>
            <a:pPr algn="l" indent="0" marL="0">
              <a:lnSpc>
                <a:spcPts val="1800"/>
              </a:lnSpc>
              <a:buNone/>
            </a:pPr>
            <a:r>
              <a:rPr lang="en-US" sz="1150" dirty="0">
                <a:solidFill>
                  <a:srgbClr val="2C3249"/>
                </a:solidFill>
                <a:highlight>
                  <a:srgbClr val="F2F2F2"/>
                </a:highlight>
                <a:latin typeface="Consolas" pitchFamily="34" charset="0"/>
                <a:ea typeface="Consolas" pitchFamily="34" charset="-122"/>
                <a:cs typeface="Consolas" pitchFamily="34" charset="-120"/>
              </a:rPr>
              <a:t># Instalasipip install scikit-learn# Import modul yang dibutuhkanfrom sklearn.model_selection import train_test_splitfrom sklearn.preprocessing import StandardScalerfrom sklearn.neighbors import KNeighborsClassifierfrom sklearn.metrics import classification_report, confusion_matrix# Dataset dan preprocessingX_train, X_test, y_train, y_test = train_test_split(X, y, test_size=0.2)scaler = StandardScaler()X_train = scaler.fit_transform(X_train)X_test = scaler.transform(X_test)# Training modelmodel = KNeighborsClassifier(n_neighbors=5)model.fit(X_train, y_train)# Evaluasi modely_pred = model.predict(X_test)print(confusion_matrix(y_test, y_pred))print(classification_report(y_test, y_pred))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82955" y="538282"/>
            <a:ext cx="4468535" cy="397669"/>
          </a:xfrm>
          <a:prstGeom prst="rect">
            <a:avLst/>
          </a:prstGeom>
          <a:noFill/>
          <a:ln/>
        </p:spPr>
        <p:txBody>
          <a:bodyPr wrap="none" lIns="0" tIns="0" rIns="0" bIns="0" rtlCol="0" anchor="t"/>
          <a:lstStyle/>
          <a:p>
            <a:pPr algn="l" indent="0" marL="0">
              <a:lnSpc>
                <a:spcPts val="3100"/>
              </a:lnSpc>
              <a:buNone/>
            </a:pPr>
            <a:r>
              <a:rPr lang="en-US" sz="2500" dirty="0">
                <a:solidFill>
                  <a:srgbClr val="272D45"/>
                </a:solidFill>
                <a:latin typeface="Kanit Light" pitchFamily="34" charset="0"/>
                <a:ea typeface="Kanit Light" pitchFamily="34" charset="-122"/>
                <a:cs typeface="Kanit Light" pitchFamily="34" charset="-120"/>
              </a:rPr>
              <a:t>Contoh Implementasi Klasifikasi</a:t>
            </a:r>
            <a:endParaRPr lang="en-US" sz="2500" dirty="0"/>
          </a:p>
        </p:txBody>
      </p:sp>
      <p:sp>
        <p:nvSpPr>
          <p:cNvPr id="3" name="Shape 1"/>
          <p:cNvSpPr/>
          <p:nvPr/>
        </p:nvSpPr>
        <p:spPr>
          <a:xfrm>
            <a:off x="782955" y="1190387"/>
            <a:ext cx="13064490" cy="6502241"/>
          </a:xfrm>
          <a:prstGeom prst="roundRect">
            <a:avLst>
              <a:gd name="adj" fmla="val 822"/>
            </a:avLst>
          </a:prstGeom>
          <a:solidFill>
            <a:srgbClr val="F2F2F2"/>
          </a:solidFill>
          <a:ln/>
        </p:spPr>
      </p:sp>
      <p:sp>
        <p:nvSpPr>
          <p:cNvPr id="4" name="Shape 2"/>
          <p:cNvSpPr/>
          <p:nvPr/>
        </p:nvSpPr>
        <p:spPr>
          <a:xfrm>
            <a:off x="776645" y="1190387"/>
            <a:ext cx="13077111" cy="6502241"/>
          </a:xfrm>
          <a:prstGeom prst="roundRect">
            <a:avLst>
              <a:gd name="adj" fmla="val 294"/>
            </a:avLst>
          </a:prstGeom>
          <a:solidFill>
            <a:srgbClr val="F2F2F2"/>
          </a:solidFill>
          <a:ln/>
        </p:spPr>
      </p:sp>
      <p:sp>
        <p:nvSpPr>
          <p:cNvPr id="5" name="Text 3"/>
          <p:cNvSpPr/>
          <p:nvPr/>
        </p:nvSpPr>
        <p:spPr>
          <a:xfrm>
            <a:off x="903803" y="1285756"/>
            <a:ext cx="12822793" cy="6311503"/>
          </a:xfrm>
          <a:prstGeom prst="rect">
            <a:avLst/>
          </a:prstGeom>
          <a:noFill/>
          <a:ln/>
        </p:spPr>
        <p:txBody>
          <a:bodyPr wrap="square" lIns="0" tIns="0" rIns="0" bIns="0" rtlCol="0" anchor="t"/>
          <a:lstStyle/>
          <a:p>
            <a:pPr algn="l" indent="0" marL="0">
              <a:lnSpc>
                <a:spcPts val="1600"/>
              </a:lnSpc>
              <a:buNone/>
            </a:pPr>
            <a:r>
              <a:rPr lang="en-US" sz="1000" dirty="0">
                <a:solidFill>
                  <a:srgbClr val="2C3249"/>
                </a:solidFill>
                <a:highlight>
                  <a:srgbClr val="F2F2F2"/>
                </a:highlight>
                <a:latin typeface="Consolas" pitchFamily="34" charset="0"/>
                <a:ea typeface="Consolas" pitchFamily="34" charset="-122"/>
                <a:cs typeface="Consolas" pitchFamily="34" charset="-120"/>
              </a:rPr>
              <a:t>import numpy as npfrom sklearn import datasetsfrom sklearn.model_selection import train_test_splitfrom sklearn.preprocessing import StandardScalerfrom sklearn.svm import SVCfrom sklearn.metrics import accuracy_score, classification_report# Load dataset iris (klasik dalam computer vision)iris = datasets.load_iris()X = iris.datay = iris.target# Bagi data menjadi training dan testingX_train, X_test, y_train, y_test = train_test_split(X, y, test_size=0.3, random_state=42)# Standardisasi fiturscaler = StandardScaler()X_train = scaler.fit_transform(X_train)X_test = scaler.transform(X_test)# Buat model SVMmodel = SVC(kernel='rbf', C=1.0, gamma='scale')model.fit(X_train, y_train)# Prediksi dan evaluasiy_pred = model.predict(X_test)accuracy = accuracy_score(y_test, y_pred)print(f"Akurasi: {accuracy:.4f}")print("\nLaporan Klasifikasi:")print(classification_report(y_test, y_pred, target_names=iris.target_names))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075" y="546378"/>
            <a:ext cx="4905256" cy="433745"/>
          </a:xfrm>
          <a:prstGeom prst="rect">
            <a:avLst/>
          </a:prstGeom>
          <a:noFill/>
          <a:ln/>
        </p:spPr>
        <p:txBody>
          <a:bodyPr wrap="none" lIns="0" tIns="0" rIns="0" bIns="0" rtlCol="0" anchor="t"/>
          <a:lstStyle/>
          <a:p>
            <a:pPr algn="l" indent="0" marL="0">
              <a:lnSpc>
                <a:spcPts val="3400"/>
              </a:lnSpc>
              <a:buNone/>
            </a:pPr>
            <a:r>
              <a:rPr lang="en-US" sz="2700" dirty="0">
                <a:solidFill>
                  <a:srgbClr val="272D45"/>
                </a:solidFill>
                <a:latin typeface="Kanit Light" pitchFamily="34" charset="0"/>
                <a:ea typeface="Kanit Light" pitchFamily="34" charset="-122"/>
                <a:cs typeface="Kanit Light" pitchFamily="34" charset="-120"/>
              </a:rPr>
              <a:t>Contoh Implementasi Clustering</a:t>
            </a:r>
            <a:endParaRPr lang="en-US" sz="2700" dirty="0"/>
          </a:p>
        </p:txBody>
      </p:sp>
      <p:sp>
        <p:nvSpPr>
          <p:cNvPr id="3" name="Shape 1"/>
          <p:cNvSpPr/>
          <p:nvPr/>
        </p:nvSpPr>
        <p:spPr>
          <a:xfrm>
            <a:off x="793075" y="1257657"/>
            <a:ext cx="13044249" cy="6425565"/>
          </a:xfrm>
          <a:prstGeom prst="roundRect">
            <a:avLst>
              <a:gd name="adj" fmla="val 907"/>
            </a:avLst>
          </a:prstGeom>
          <a:solidFill>
            <a:srgbClr val="F2F2F2"/>
          </a:solidFill>
          <a:ln/>
        </p:spPr>
      </p:sp>
      <p:sp>
        <p:nvSpPr>
          <p:cNvPr id="4" name="Shape 2"/>
          <p:cNvSpPr/>
          <p:nvPr/>
        </p:nvSpPr>
        <p:spPr>
          <a:xfrm>
            <a:off x="786170" y="1257657"/>
            <a:ext cx="13058061" cy="6425565"/>
          </a:xfrm>
          <a:prstGeom prst="roundRect">
            <a:avLst>
              <a:gd name="adj" fmla="val 324"/>
            </a:avLst>
          </a:prstGeom>
          <a:solidFill>
            <a:srgbClr val="F2F2F2"/>
          </a:solidFill>
          <a:ln/>
        </p:spPr>
      </p:sp>
      <p:sp>
        <p:nvSpPr>
          <p:cNvPr id="5" name="Text 3"/>
          <p:cNvSpPr/>
          <p:nvPr/>
        </p:nvSpPr>
        <p:spPr>
          <a:xfrm>
            <a:off x="924878" y="1361718"/>
            <a:ext cx="12780645" cy="6217444"/>
          </a:xfrm>
          <a:prstGeom prst="rect">
            <a:avLst/>
          </a:prstGeom>
          <a:noFill/>
          <a:ln/>
        </p:spPr>
        <p:txBody>
          <a:bodyPr wrap="square" lIns="0" tIns="0" rIns="0" bIns="0" rtlCol="0" anchor="t"/>
          <a:lstStyle/>
          <a:p>
            <a:pPr algn="l" indent="0" marL="0">
              <a:lnSpc>
                <a:spcPts val="1700"/>
              </a:lnSpc>
              <a:buNone/>
            </a:pPr>
            <a:r>
              <a:rPr lang="en-US" sz="1050" dirty="0">
                <a:solidFill>
                  <a:srgbClr val="2C3249"/>
                </a:solidFill>
                <a:highlight>
                  <a:srgbClr val="F2F2F2"/>
                </a:highlight>
                <a:latin typeface="Consolas" pitchFamily="34" charset="0"/>
                <a:ea typeface="Consolas" pitchFamily="34" charset="-122"/>
                <a:cs typeface="Consolas" pitchFamily="34" charset="-120"/>
              </a:rPr>
              <a:t>import numpy as npimport matplotlib.pyplot as pltfrom sklearn import datasetsfrom sklearn.cluster import KMeansfrom sklearn.preprocessing import StandardScalerfrom sklearn.metrics import silhouette_score# Load dataset (untuk contoh, kita gunakan dataset buatan)X, _ = datasets.make_blobs(n_samples=300, centers=4, cluster_std=0.60, random_state=0)# Standardisasi fiturscaler = StandardScaler()X = scaler.fit_transform(X)# Implementasi K-Means clusteringkmeans = KMeans(n_clusters=4, init='k-means++', max_iter=300, n_init=10, random_state=0)y_kmeans = kmeans.fit_predict(X)# Evaluasi clusteringsilhouette_avg = silhouette_score(X, y_kmeans)print(f"Silhouette Score: {silhouette_avg:.4f}")# Pusat clustercenters = kmeans.cluster_centers_print("\nPusat Cluster:")for i, center in enumerate(centers): print(f"Cluster {i+1}: {center}")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162764"/>
            <a:ext cx="11210687"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Analisis Perbandingan: Supervised vs Unsupervised</a:t>
            </a:r>
            <a:endParaRPr lang="en-US" sz="3900" dirty="0"/>
          </a:p>
        </p:txBody>
      </p:sp>
      <p:sp>
        <p:nvSpPr>
          <p:cNvPr id="3" name="Text 1"/>
          <p:cNvSpPr/>
          <p:nvPr/>
        </p:nvSpPr>
        <p:spPr>
          <a:xfrm>
            <a:off x="2254091" y="2179677"/>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Persiapan Data</a:t>
            </a:r>
            <a:endParaRPr lang="en-US" sz="1950" dirty="0"/>
          </a:p>
        </p:txBody>
      </p:sp>
      <p:sp>
        <p:nvSpPr>
          <p:cNvPr id="4" name="Text 2"/>
          <p:cNvSpPr/>
          <p:nvPr/>
        </p:nvSpPr>
        <p:spPr>
          <a:xfrm>
            <a:off x="793790" y="2608898"/>
            <a:ext cx="3941207" cy="952619"/>
          </a:xfrm>
          <a:prstGeom prst="rect">
            <a:avLst/>
          </a:prstGeom>
          <a:noFill/>
          <a:ln/>
        </p:spPr>
        <p:txBody>
          <a:bodyPr wrap="square" lIns="0" tIns="0" rIns="0" bIns="0" rtlCol="0" anchor="t"/>
          <a:lstStyle/>
          <a:p>
            <a:pPr algn="r"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Supervised:</a:t>
            </a:r>
            <a:pPr algn="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Membutuhkan label yang akurat, pembagian data training-validation-testing</a:t>
            </a:r>
            <a:endParaRPr lang="en-US" sz="1550" dirty="0"/>
          </a:p>
        </p:txBody>
      </p:sp>
      <p:sp>
        <p:nvSpPr>
          <p:cNvPr id="5" name="Text 3"/>
          <p:cNvSpPr/>
          <p:nvPr/>
        </p:nvSpPr>
        <p:spPr>
          <a:xfrm>
            <a:off x="793790" y="3680579"/>
            <a:ext cx="3941207" cy="952619"/>
          </a:xfrm>
          <a:prstGeom prst="rect">
            <a:avLst/>
          </a:prstGeom>
          <a:noFill/>
          <a:ln/>
        </p:spPr>
        <p:txBody>
          <a:bodyPr wrap="square" lIns="0" tIns="0" rIns="0" bIns="0" rtlCol="0" anchor="t"/>
          <a:lstStyle/>
          <a:p>
            <a:pPr algn="r"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Unsupervised:</a:t>
            </a:r>
            <a:pPr algn="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Tidak membutuhkan label, fokus pada kualitas dan representasi fitur</a:t>
            </a:r>
            <a:endParaRPr lang="en-US" sz="1550" dirty="0"/>
          </a:p>
        </p:txBody>
      </p:sp>
      <p:pic>
        <p:nvPicPr>
          <p:cNvPr id="6" name="Image 0" descr="preencoded.png">    </p:cNvPr>
          <p:cNvPicPr>
            <a:picLocks noChangeAspect="1"/>
          </p:cNvPicPr>
          <p:nvPr/>
        </p:nvPicPr>
        <p:blipFill>
          <a:blip r:embed="rId1"/>
          <a:stretch>
            <a:fillRect/>
          </a:stretch>
        </p:blipFill>
        <p:spPr>
          <a:xfrm>
            <a:off x="5032653" y="2340769"/>
            <a:ext cx="4564975" cy="4564975"/>
          </a:xfrm>
          <a:prstGeom prst="rect">
            <a:avLst/>
          </a:prstGeom>
        </p:spPr>
      </p:pic>
      <p:pic>
        <p:nvPicPr>
          <p:cNvPr id="7" name="Image 1" descr="preencoded.png">    </p:cNvPr>
          <p:cNvPicPr>
            <a:picLocks noChangeAspect="1"/>
          </p:cNvPicPr>
          <p:nvPr/>
        </p:nvPicPr>
        <p:blipFill>
          <a:blip r:embed="rId2"/>
          <a:stretch>
            <a:fillRect/>
          </a:stretch>
        </p:blipFill>
        <p:spPr>
          <a:xfrm>
            <a:off x="6247864" y="3130451"/>
            <a:ext cx="296942" cy="371118"/>
          </a:xfrm>
          <a:prstGeom prst="rect">
            <a:avLst/>
          </a:prstGeom>
        </p:spPr>
      </p:pic>
      <p:sp>
        <p:nvSpPr>
          <p:cNvPr id="8" name="Text 4"/>
          <p:cNvSpPr/>
          <p:nvPr/>
        </p:nvSpPr>
        <p:spPr>
          <a:xfrm>
            <a:off x="9895284" y="249721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Pemilihan Algoritma</a:t>
            </a:r>
            <a:endParaRPr lang="en-US" sz="1950" dirty="0"/>
          </a:p>
        </p:txBody>
      </p:sp>
      <p:sp>
        <p:nvSpPr>
          <p:cNvPr id="9" name="Text 5"/>
          <p:cNvSpPr/>
          <p:nvPr/>
        </p:nvSpPr>
        <p:spPr>
          <a:xfrm>
            <a:off x="9895284" y="2926437"/>
            <a:ext cx="3941326"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Supervised:</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Berdasarkan jenis tugas (klasifikasi/regresi) dan karakteristik data</a:t>
            </a:r>
            <a:endParaRPr lang="en-US" sz="1550" dirty="0"/>
          </a:p>
        </p:txBody>
      </p:sp>
      <p:sp>
        <p:nvSpPr>
          <p:cNvPr id="10" name="Text 6"/>
          <p:cNvSpPr/>
          <p:nvPr/>
        </p:nvSpPr>
        <p:spPr>
          <a:xfrm>
            <a:off x="9895284" y="3680579"/>
            <a:ext cx="3941326"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Unsupervised:</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Berdasarkan tujuan analisis (clustering, reduksi dimensi, dll)</a:t>
            </a:r>
            <a:endParaRPr lang="en-US" sz="1550" dirty="0"/>
          </a:p>
        </p:txBody>
      </p:sp>
      <p:pic>
        <p:nvPicPr>
          <p:cNvPr id="11" name="Image 2" descr="preencoded.png">    </p:cNvPr>
          <p:cNvPicPr>
            <a:picLocks noChangeAspect="1"/>
          </p:cNvPicPr>
          <p:nvPr/>
        </p:nvPicPr>
        <p:blipFill>
          <a:blip r:embed="rId3"/>
          <a:stretch>
            <a:fillRect/>
          </a:stretch>
        </p:blipFill>
        <p:spPr>
          <a:xfrm>
            <a:off x="5032653" y="2340769"/>
            <a:ext cx="4564975" cy="4564975"/>
          </a:xfrm>
          <a:prstGeom prst="rect">
            <a:avLst/>
          </a:prstGeom>
        </p:spPr>
      </p:pic>
      <p:pic>
        <p:nvPicPr>
          <p:cNvPr id="12" name="Image 3" descr="preencoded.png">    </p:cNvPr>
          <p:cNvPicPr>
            <a:picLocks noChangeAspect="1"/>
          </p:cNvPicPr>
          <p:nvPr/>
        </p:nvPicPr>
        <p:blipFill>
          <a:blip r:embed="rId4"/>
          <a:stretch>
            <a:fillRect/>
          </a:stretch>
        </p:blipFill>
        <p:spPr>
          <a:xfrm>
            <a:off x="8473738" y="3518952"/>
            <a:ext cx="296942" cy="371118"/>
          </a:xfrm>
          <a:prstGeom prst="rect">
            <a:avLst/>
          </a:prstGeom>
        </p:spPr>
      </p:pic>
      <p:sp>
        <p:nvSpPr>
          <p:cNvPr id="13" name="Text 7"/>
          <p:cNvSpPr/>
          <p:nvPr/>
        </p:nvSpPr>
        <p:spPr>
          <a:xfrm>
            <a:off x="9895284" y="508956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Proses Pelatihan</a:t>
            </a:r>
            <a:endParaRPr lang="en-US" sz="1950" dirty="0"/>
          </a:p>
        </p:txBody>
      </p:sp>
      <p:sp>
        <p:nvSpPr>
          <p:cNvPr id="14" name="Text 8"/>
          <p:cNvSpPr/>
          <p:nvPr/>
        </p:nvSpPr>
        <p:spPr>
          <a:xfrm>
            <a:off x="9895284" y="5518785"/>
            <a:ext cx="3941326"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Supervised:</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Meminimalkan error prediksi terhadap label yang diketahui</a:t>
            </a:r>
            <a:endParaRPr lang="en-US" sz="1550" dirty="0"/>
          </a:p>
        </p:txBody>
      </p:sp>
      <p:sp>
        <p:nvSpPr>
          <p:cNvPr id="15" name="Text 9"/>
          <p:cNvSpPr/>
          <p:nvPr/>
        </p:nvSpPr>
        <p:spPr>
          <a:xfrm>
            <a:off x="9895284" y="6272927"/>
            <a:ext cx="3941326"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Unsupervised:</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Menemukan struktur atau representasi optimal dari data</a:t>
            </a:r>
            <a:endParaRPr lang="en-US" sz="1550" dirty="0"/>
          </a:p>
        </p:txBody>
      </p:sp>
      <p:pic>
        <p:nvPicPr>
          <p:cNvPr id="16" name="Image 4" descr="preencoded.png">    </p:cNvPr>
          <p:cNvPicPr>
            <a:picLocks noChangeAspect="1"/>
          </p:cNvPicPr>
          <p:nvPr/>
        </p:nvPicPr>
        <p:blipFill>
          <a:blip r:embed="rId5"/>
          <a:stretch>
            <a:fillRect/>
          </a:stretch>
        </p:blipFill>
        <p:spPr>
          <a:xfrm>
            <a:off x="5032653" y="2340769"/>
            <a:ext cx="4564975" cy="4564975"/>
          </a:xfrm>
          <a:prstGeom prst="rect">
            <a:avLst/>
          </a:prstGeom>
        </p:spPr>
      </p:pic>
      <p:pic>
        <p:nvPicPr>
          <p:cNvPr id="17" name="Image 5" descr="preencoded.png">    </p:cNvPr>
          <p:cNvPicPr>
            <a:picLocks noChangeAspect="1"/>
          </p:cNvPicPr>
          <p:nvPr/>
        </p:nvPicPr>
        <p:blipFill>
          <a:blip r:embed="rId6"/>
          <a:stretch>
            <a:fillRect/>
          </a:stretch>
        </p:blipFill>
        <p:spPr>
          <a:xfrm>
            <a:off x="8085237" y="5744825"/>
            <a:ext cx="296942" cy="371118"/>
          </a:xfrm>
          <a:prstGeom prst="rect">
            <a:avLst/>
          </a:prstGeom>
        </p:spPr>
      </p:pic>
      <p:sp>
        <p:nvSpPr>
          <p:cNvPr id="18" name="Text 10"/>
          <p:cNvSpPr/>
          <p:nvPr/>
        </p:nvSpPr>
        <p:spPr>
          <a:xfrm>
            <a:off x="2254091" y="4930854"/>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Evaluasi</a:t>
            </a:r>
            <a:endParaRPr lang="en-US" sz="1950" dirty="0"/>
          </a:p>
        </p:txBody>
      </p:sp>
      <p:sp>
        <p:nvSpPr>
          <p:cNvPr id="19" name="Text 11"/>
          <p:cNvSpPr/>
          <p:nvPr/>
        </p:nvSpPr>
        <p:spPr>
          <a:xfrm>
            <a:off x="793790" y="5360075"/>
            <a:ext cx="3941207" cy="635079"/>
          </a:xfrm>
          <a:prstGeom prst="rect">
            <a:avLst/>
          </a:prstGeom>
          <a:noFill/>
          <a:ln/>
        </p:spPr>
        <p:txBody>
          <a:bodyPr wrap="square" lIns="0" tIns="0" rIns="0" bIns="0" rtlCol="0" anchor="t"/>
          <a:lstStyle/>
          <a:p>
            <a:pPr algn="r"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Supervised:</a:t>
            </a:r>
            <a:pPr algn="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Metrik objektif (akurasi, F1-score, dll)</a:t>
            </a:r>
            <a:endParaRPr lang="en-US" sz="1550" dirty="0"/>
          </a:p>
        </p:txBody>
      </p:sp>
      <p:sp>
        <p:nvSpPr>
          <p:cNvPr id="20" name="Text 12"/>
          <p:cNvSpPr/>
          <p:nvPr/>
        </p:nvSpPr>
        <p:spPr>
          <a:xfrm>
            <a:off x="793790" y="6114217"/>
            <a:ext cx="3941207" cy="952619"/>
          </a:xfrm>
          <a:prstGeom prst="rect">
            <a:avLst/>
          </a:prstGeom>
          <a:noFill/>
          <a:ln/>
        </p:spPr>
        <p:txBody>
          <a:bodyPr wrap="square" lIns="0" tIns="0" rIns="0" bIns="0" rtlCol="0" anchor="t"/>
          <a:lstStyle/>
          <a:p>
            <a:pPr algn="r"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Unsupervised:</a:t>
            </a:r>
            <a:pPr algn="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Sering subjektif, bergantung pada interpretasi dan validasi domain</a:t>
            </a:r>
            <a:endParaRPr lang="en-US" sz="1550" dirty="0"/>
          </a:p>
        </p:txBody>
      </p:sp>
      <p:pic>
        <p:nvPicPr>
          <p:cNvPr id="21" name="Image 6" descr="preencoded.png">    </p:cNvPr>
          <p:cNvPicPr>
            <a:picLocks noChangeAspect="1"/>
          </p:cNvPicPr>
          <p:nvPr/>
        </p:nvPicPr>
        <p:blipFill>
          <a:blip r:embed="rId7"/>
          <a:stretch>
            <a:fillRect/>
          </a:stretch>
        </p:blipFill>
        <p:spPr>
          <a:xfrm>
            <a:off x="5032653" y="2340769"/>
            <a:ext cx="4564975" cy="4564975"/>
          </a:xfrm>
          <a:prstGeom prst="rect">
            <a:avLst/>
          </a:prstGeom>
        </p:spPr>
      </p:pic>
      <p:pic>
        <p:nvPicPr>
          <p:cNvPr id="22" name="Image 7" descr="preencoded.png">    </p:cNvPr>
          <p:cNvPicPr>
            <a:picLocks noChangeAspect="1"/>
          </p:cNvPicPr>
          <p:nvPr/>
        </p:nvPicPr>
        <p:blipFill>
          <a:blip r:embed="rId8"/>
          <a:stretch>
            <a:fillRect/>
          </a:stretch>
        </p:blipFill>
        <p:spPr>
          <a:xfrm>
            <a:off x="5859363" y="5356324"/>
            <a:ext cx="296942" cy="3711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749623"/>
            <a:ext cx="8634770"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Studi Kasus: Pengenalan Gambar Wajah</a:t>
            </a:r>
            <a:endParaRPr lang="en-US" sz="3900" dirty="0"/>
          </a:p>
        </p:txBody>
      </p:sp>
      <p:sp>
        <p:nvSpPr>
          <p:cNvPr id="3" name="Text 1"/>
          <p:cNvSpPr/>
          <p:nvPr/>
        </p:nvSpPr>
        <p:spPr>
          <a:xfrm>
            <a:off x="793790" y="2865715"/>
            <a:ext cx="3577590"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Pendekatan Supervised Learning</a:t>
            </a:r>
            <a:endParaRPr lang="en-US" sz="1950" dirty="0"/>
          </a:p>
        </p:txBody>
      </p:sp>
      <p:sp>
        <p:nvSpPr>
          <p:cNvPr id="4" name="Text 2"/>
          <p:cNvSpPr/>
          <p:nvPr/>
        </p:nvSpPr>
        <p:spPr>
          <a:xfrm>
            <a:off x="793790" y="337423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Data:</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Dataset wajah berlabel dengan identitas</a:t>
            </a:r>
            <a:endParaRPr lang="en-US" sz="1550" dirty="0"/>
          </a:p>
        </p:txBody>
      </p:sp>
      <p:sp>
        <p:nvSpPr>
          <p:cNvPr id="5" name="Text 3"/>
          <p:cNvSpPr/>
          <p:nvPr/>
        </p:nvSpPr>
        <p:spPr>
          <a:xfrm>
            <a:off x="793790" y="376118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Tujuan: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Memprediksi identitas dari gambar wajah baru</a:t>
            </a:r>
            <a:endParaRPr lang="en-US" sz="1550" dirty="0"/>
          </a:p>
        </p:txBody>
      </p:sp>
      <p:sp>
        <p:nvSpPr>
          <p:cNvPr id="6" name="Text 4"/>
          <p:cNvSpPr/>
          <p:nvPr/>
        </p:nvSpPr>
        <p:spPr>
          <a:xfrm>
            <a:off x="793790" y="414813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Algoritma:</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Convolutional Neural Networks (CNN) atau SVM dengan fitur ekstraksi</a:t>
            </a:r>
            <a:endParaRPr lang="en-US" sz="1550" dirty="0"/>
          </a:p>
        </p:txBody>
      </p:sp>
      <p:sp>
        <p:nvSpPr>
          <p:cNvPr id="7" name="Text 5"/>
          <p:cNvSpPr/>
          <p:nvPr/>
        </p:nvSpPr>
        <p:spPr>
          <a:xfrm>
            <a:off x="793790" y="485263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Evaluasi: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Akurasi pengenalan, confusion matrix</a:t>
            </a:r>
            <a:endParaRPr lang="en-US" sz="1550" dirty="0"/>
          </a:p>
        </p:txBody>
      </p:sp>
      <p:sp>
        <p:nvSpPr>
          <p:cNvPr id="8" name="Text 6"/>
          <p:cNvSpPr/>
          <p:nvPr/>
        </p:nvSpPr>
        <p:spPr>
          <a:xfrm>
            <a:off x="793790" y="5348764"/>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Pendekatan ini optimal untuk sistem keamanan dan autentikasi yang memerlukan pengenalan identitas spesifik.</a:t>
            </a:r>
            <a:endParaRPr lang="en-US" sz="1550" dirty="0"/>
          </a:p>
        </p:txBody>
      </p:sp>
      <p:sp>
        <p:nvSpPr>
          <p:cNvPr id="9" name="Text 7"/>
          <p:cNvSpPr/>
          <p:nvPr/>
        </p:nvSpPr>
        <p:spPr>
          <a:xfrm>
            <a:off x="7564874" y="2865715"/>
            <a:ext cx="3862030"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Pendekatan Unsupervised Learning</a:t>
            </a:r>
            <a:endParaRPr lang="en-US" sz="1950" dirty="0"/>
          </a:p>
        </p:txBody>
      </p:sp>
      <p:sp>
        <p:nvSpPr>
          <p:cNvPr id="10" name="Text 8"/>
          <p:cNvSpPr/>
          <p:nvPr/>
        </p:nvSpPr>
        <p:spPr>
          <a:xfrm>
            <a:off x="7564874" y="337423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Data:</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Dataset wajah tanpa label identitas</a:t>
            </a:r>
            <a:endParaRPr lang="en-US" sz="1550" dirty="0"/>
          </a:p>
        </p:txBody>
      </p:sp>
      <p:sp>
        <p:nvSpPr>
          <p:cNvPr id="11" name="Text 9"/>
          <p:cNvSpPr/>
          <p:nvPr/>
        </p:nvSpPr>
        <p:spPr>
          <a:xfrm>
            <a:off x="7564874" y="376118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Tujuan: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Mengelompokkan wajah berdasarkan kesamaan fitur</a:t>
            </a:r>
            <a:endParaRPr lang="en-US" sz="1550" dirty="0"/>
          </a:p>
        </p:txBody>
      </p:sp>
      <p:sp>
        <p:nvSpPr>
          <p:cNvPr id="12" name="Text 10"/>
          <p:cNvSpPr/>
          <p:nvPr/>
        </p:nvSpPr>
        <p:spPr>
          <a:xfrm>
            <a:off x="7564874" y="414813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Algoritma:</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K-Means, Hierarchical Clustering, atau autoencoders</a:t>
            </a:r>
            <a:endParaRPr lang="en-US" sz="1550" dirty="0"/>
          </a:p>
        </p:txBody>
      </p:sp>
      <p:sp>
        <p:nvSpPr>
          <p:cNvPr id="13" name="Text 11"/>
          <p:cNvSpPr/>
          <p:nvPr/>
        </p:nvSpPr>
        <p:spPr>
          <a:xfrm>
            <a:off x="7564874" y="485263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Evaluasi: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Koherensi cluster, silhouette score</a:t>
            </a:r>
            <a:endParaRPr lang="en-US" sz="1550" dirty="0"/>
          </a:p>
        </p:txBody>
      </p:sp>
      <p:sp>
        <p:nvSpPr>
          <p:cNvPr id="14" name="Text 12"/>
          <p:cNvSpPr/>
          <p:nvPr/>
        </p:nvSpPr>
        <p:spPr>
          <a:xfrm>
            <a:off x="7564874" y="5348764"/>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Pendekatan ini berguna untuk menemukan pola dalam dataset wajah besar, seperti mengelompokkan berdasarkan fitur demografis tanpa label yang ditentukan sebelumnya.</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342192"/>
            <a:ext cx="9996130"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Pembelajaran Mesin dalam Pengenalan Objek</a:t>
            </a:r>
            <a:endParaRPr lang="en-US" sz="3900" dirty="0"/>
          </a:p>
        </p:txBody>
      </p:sp>
      <p:sp>
        <p:nvSpPr>
          <p:cNvPr id="3" name="Text 1"/>
          <p:cNvSpPr/>
          <p:nvPr/>
        </p:nvSpPr>
        <p:spPr>
          <a:xfrm>
            <a:off x="793790" y="235910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Pengenalan objek adalah salah satu aplikasi paling penting dari computer vision yang menggunakan pembelajaran mesin untuk mengidentifikasi objek dalam gambar atau video.</a:t>
            </a:r>
            <a:endParaRPr lang="en-US" sz="1550" dirty="0"/>
          </a:p>
        </p:txBody>
      </p:sp>
      <p:sp>
        <p:nvSpPr>
          <p:cNvPr id="4" name="Shape 2"/>
          <p:cNvSpPr/>
          <p:nvPr/>
        </p:nvSpPr>
        <p:spPr>
          <a:xfrm>
            <a:off x="793790" y="3217426"/>
            <a:ext cx="4215289" cy="3669863"/>
          </a:xfrm>
          <a:prstGeom prst="roundRect">
            <a:avLst>
              <a:gd name="adj" fmla="val 2990"/>
            </a:avLst>
          </a:prstGeom>
          <a:solidFill>
            <a:srgbClr val="FFFFFF"/>
          </a:solidFill>
          <a:ln w="22860">
            <a:solidFill>
              <a:srgbClr val="C5D2CF"/>
            </a:solidFill>
            <a:prstDash val="solid"/>
          </a:ln>
        </p:spPr>
      </p:sp>
      <p:sp>
        <p:nvSpPr>
          <p:cNvPr id="5" name="Shape 3"/>
          <p:cNvSpPr/>
          <p:nvPr/>
        </p:nvSpPr>
        <p:spPr>
          <a:xfrm>
            <a:off x="770930" y="3217426"/>
            <a:ext cx="91440" cy="3669863"/>
          </a:xfrm>
          <a:prstGeom prst="roundRect">
            <a:avLst>
              <a:gd name="adj" fmla="val 91163"/>
            </a:avLst>
          </a:prstGeom>
          <a:solidFill>
            <a:srgbClr val="437066"/>
          </a:solidFill>
          <a:ln/>
        </p:spPr>
      </p:sp>
      <p:sp>
        <p:nvSpPr>
          <p:cNvPr id="6" name="Text 4"/>
          <p:cNvSpPr/>
          <p:nvPr/>
        </p:nvSpPr>
        <p:spPr>
          <a:xfrm>
            <a:off x="1083588" y="343864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Ekstraksi Fitur</a:t>
            </a:r>
            <a:endParaRPr lang="en-US" sz="1950" dirty="0"/>
          </a:p>
        </p:txBody>
      </p:sp>
      <p:sp>
        <p:nvSpPr>
          <p:cNvPr id="7" name="Text 5"/>
          <p:cNvSpPr/>
          <p:nvPr/>
        </p:nvSpPr>
        <p:spPr>
          <a:xfrm>
            <a:off x="1083588" y="3867864"/>
            <a:ext cx="370427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Proses mengidentifikasi karakteristik diskriminatif dari gambar yang dapat digunakan untuk klasifikasi.</a:t>
            </a:r>
            <a:endParaRPr lang="en-US" sz="1550" dirty="0"/>
          </a:p>
        </p:txBody>
      </p:sp>
      <p:sp>
        <p:nvSpPr>
          <p:cNvPr id="8" name="Text 6"/>
          <p:cNvSpPr/>
          <p:nvPr/>
        </p:nvSpPr>
        <p:spPr>
          <a:xfrm>
            <a:off x="1083588" y="4939546"/>
            <a:ext cx="370427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Metode tradisional: SIFT, HOG, SURF</a:t>
            </a:r>
            <a:endParaRPr lang="en-US" sz="1550" dirty="0"/>
          </a:p>
        </p:txBody>
      </p:sp>
      <p:sp>
        <p:nvSpPr>
          <p:cNvPr id="9" name="Text 7"/>
          <p:cNvSpPr/>
          <p:nvPr/>
        </p:nvSpPr>
        <p:spPr>
          <a:xfrm>
            <a:off x="1083588" y="5644039"/>
            <a:ext cx="370427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Deep learning: Pembelajaran otomatis fitur melalui CNN</a:t>
            </a:r>
            <a:endParaRPr lang="en-US" sz="1550" dirty="0"/>
          </a:p>
        </p:txBody>
      </p:sp>
      <p:sp>
        <p:nvSpPr>
          <p:cNvPr id="10" name="Shape 8"/>
          <p:cNvSpPr/>
          <p:nvPr/>
        </p:nvSpPr>
        <p:spPr>
          <a:xfrm>
            <a:off x="5207437" y="3217426"/>
            <a:ext cx="4215408" cy="3669863"/>
          </a:xfrm>
          <a:prstGeom prst="roundRect">
            <a:avLst>
              <a:gd name="adj" fmla="val 2990"/>
            </a:avLst>
          </a:prstGeom>
          <a:solidFill>
            <a:srgbClr val="FFFFFF"/>
          </a:solidFill>
          <a:ln w="22860">
            <a:solidFill>
              <a:srgbClr val="C5D2CF"/>
            </a:solidFill>
            <a:prstDash val="solid"/>
          </a:ln>
        </p:spPr>
      </p:sp>
      <p:sp>
        <p:nvSpPr>
          <p:cNvPr id="11" name="Shape 9"/>
          <p:cNvSpPr/>
          <p:nvPr/>
        </p:nvSpPr>
        <p:spPr>
          <a:xfrm>
            <a:off x="5184577" y="3217426"/>
            <a:ext cx="91440" cy="3669863"/>
          </a:xfrm>
          <a:prstGeom prst="roundRect">
            <a:avLst>
              <a:gd name="adj" fmla="val 91163"/>
            </a:avLst>
          </a:prstGeom>
          <a:solidFill>
            <a:srgbClr val="437066"/>
          </a:solidFill>
          <a:ln/>
        </p:spPr>
      </p:sp>
      <p:sp>
        <p:nvSpPr>
          <p:cNvPr id="12" name="Text 10"/>
          <p:cNvSpPr/>
          <p:nvPr/>
        </p:nvSpPr>
        <p:spPr>
          <a:xfrm>
            <a:off x="5497235" y="343864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Arsitektur Model</a:t>
            </a:r>
            <a:endParaRPr lang="en-US" sz="1950" dirty="0"/>
          </a:p>
        </p:txBody>
      </p:sp>
      <p:sp>
        <p:nvSpPr>
          <p:cNvPr id="13" name="Text 11"/>
          <p:cNvSpPr/>
          <p:nvPr/>
        </p:nvSpPr>
        <p:spPr>
          <a:xfrm>
            <a:off x="5497235" y="3867864"/>
            <a:ext cx="3704392"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Struktur algoritma yang memetakan input gambar ke label objek.</a:t>
            </a:r>
            <a:endParaRPr lang="en-US" sz="1550" dirty="0"/>
          </a:p>
        </p:txBody>
      </p:sp>
      <p:sp>
        <p:nvSpPr>
          <p:cNvPr id="14" name="Text 12"/>
          <p:cNvSpPr/>
          <p:nvPr/>
        </p:nvSpPr>
        <p:spPr>
          <a:xfrm>
            <a:off x="5497235" y="4622006"/>
            <a:ext cx="3704392"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R-CNN, Fast R-CNN, Faster R-CNN untuk deteksi objek</a:t>
            </a:r>
            <a:endParaRPr lang="en-US" sz="1550" dirty="0"/>
          </a:p>
        </p:txBody>
      </p:sp>
      <p:sp>
        <p:nvSpPr>
          <p:cNvPr id="15" name="Text 13"/>
          <p:cNvSpPr/>
          <p:nvPr/>
        </p:nvSpPr>
        <p:spPr>
          <a:xfrm>
            <a:off x="5497235" y="5326499"/>
            <a:ext cx="3704392"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YOLO dan SSD untuk deteksi real-time</a:t>
            </a:r>
            <a:endParaRPr lang="en-US" sz="1550" dirty="0"/>
          </a:p>
        </p:txBody>
      </p:sp>
      <p:sp>
        <p:nvSpPr>
          <p:cNvPr id="16" name="Text 14"/>
          <p:cNvSpPr/>
          <p:nvPr/>
        </p:nvSpPr>
        <p:spPr>
          <a:xfrm>
            <a:off x="5497235" y="6030992"/>
            <a:ext cx="3704392"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Mask R-CNN untuk segmentasi instans</a:t>
            </a:r>
            <a:endParaRPr lang="en-US" sz="1550" dirty="0"/>
          </a:p>
        </p:txBody>
      </p:sp>
      <p:sp>
        <p:nvSpPr>
          <p:cNvPr id="17" name="Shape 15"/>
          <p:cNvSpPr/>
          <p:nvPr/>
        </p:nvSpPr>
        <p:spPr>
          <a:xfrm>
            <a:off x="9621203" y="3217426"/>
            <a:ext cx="4215289" cy="3669863"/>
          </a:xfrm>
          <a:prstGeom prst="roundRect">
            <a:avLst>
              <a:gd name="adj" fmla="val 2990"/>
            </a:avLst>
          </a:prstGeom>
          <a:solidFill>
            <a:srgbClr val="FFFFFF"/>
          </a:solidFill>
          <a:ln w="22860">
            <a:solidFill>
              <a:srgbClr val="C5D2CF"/>
            </a:solidFill>
            <a:prstDash val="solid"/>
          </a:ln>
        </p:spPr>
      </p:sp>
      <p:sp>
        <p:nvSpPr>
          <p:cNvPr id="18" name="Shape 16"/>
          <p:cNvSpPr/>
          <p:nvPr/>
        </p:nvSpPr>
        <p:spPr>
          <a:xfrm>
            <a:off x="9598343" y="3217426"/>
            <a:ext cx="91440" cy="3669863"/>
          </a:xfrm>
          <a:prstGeom prst="roundRect">
            <a:avLst>
              <a:gd name="adj" fmla="val 91163"/>
            </a:avLst>
          </a:prstGeom>
          <a:solidFill>
            <a:srgbClr val="437066"/>
          </a:solidFill>
          <a:ln/>
        </p:spPr>
      </p:sp>
      <p:sp>
        <p:nvSpPr>
          <p:cNvPr id="19" name="Text 17"/>
          <p:cNvSpPr/>
          <p:nvPr/>
        </p:nvSpPr>
        <p:spPr>
          <a:xfrm>
            <a:off x="9911001" y="343864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Transfer Learning</a:t>
            </a:r>
            <a:endParaRPr lang="en-US" sz="1950" dirty="0"/>
          </a:p>
        </p:txBody>
      </p:sp>
      <p:sp>
        <p:nvSpPr>
          <p:cNvPr id="20" name="Text 18"/>
          <p:cNvSpPr/>
          <p:nvPr/>
        </p:nvSpPr>
        <p:spPr>
          <a:xfrm>
            <a:off x="9911001" y="3867864"/>
            <a:ext cx="370427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Memanfaatkan model yang telah dilatih sebelumnya untuk mengurangi kebutuhan data dan waktu pelatihan.</a:t>
            </a:r>
            <a:endParaRPr lang="en-US" sz="1550" dirty="0"/>
          </a:p>
        </p:txBody>
      </p:sp>
      <p:sp>
        <p:nvSpPr>
          <p:cNvPr id="21" name="Text 19"/>
          <p:cNvSpPr/>
          <p:nvPr/>
        </p:nvSpPr>
        <p:spPr>
          <a:xfrm>
            <a:off x="9911001" y="4939546"/>
            <a:ext cx="3704273" cy="95261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Menggunakan pre-trained networks seperti VGG, ResNet, atau Inception</a:t>
            </a:r>
            <a:endParaRPr lang="en-US" sz="1550" dirty="0"/>
          </a:p>
        </p:txBody>
      </p:sp>
      <p:sp>
        <p:nvSpPr>
          <p:cNvPr id="22" name="Text 20"/>
          <p:cNvSpPr/>
          <p:nvPr/>
        </p:nvSpPr>
        <p:spPr>
          <a:xfrm>
            <a:off x="9911001" y="5961578"/>
            <a:ext cx="370427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Fine-tuning lapisan tertentu untuk tugas spesifik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774621"/>
            <a:ext cx="8679894"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Dataset Populer untuk Computer Vision</a:t>
            </a:r>
            <a:endParaRPr lang="en-US" sz="3900" dirty="0"/>
          </a:p>
        </p:txBody>
      </p:sp>
      <p:sp>
        <p:nvSpPr>
          <p:cNvPr id="3" name="Shape 1"/>
          <p:cNvSpPr/>
          <p:nvPr/>
        </p:nvSpPr>
        <p:spPr>
          <a:xfrm>
            <a:off x="793790" y="1791533"/>
            <a:ext cx="13042821" cy="5663446"/>
          </a:xfrm>
          <a:prstGeom prst="roundRect">
            <a:avLst>
              <a:gd name="adj" fmla="val 1472"/>
            </a:avLst>
          </a:prstGeom>
          <a:noFill/>
          <a:ln w="7620">
            <a:solidFill>
              <a:srgbClr val="000000">
                <a:alpha val="8000"/>
              </a:srgbClr>
            </a:solidFill>
            <a:prstDash val="solid"/>
          </a:ln>
        </p:spPr>
      </p:sp>
      <p:sp>
        <p:nvSpPr>
          <p:cNvPr id="4" name="Shape 2"/>
          <p:cNvSpPr/>
          <p:nvPr/>
        </p:nvSpPr>
        <p:spPr>
          <a:xfrm>
            <a:off x="801410" y="1799153"/>
            <a:ext cx="13027581" cy="570905"/>
          </a:xfrm>
          <a:prstGeom prst="rect">
            <a:avLst/>
          </a:prstGeom>
          <a:solidFill>
            <a:srgbClr val="FFFFFF">
              <a:alpha val="4000"/>
            </a:srgbClr>
          </a:solidFill>
          <a:ln/>
        </p:spPr>
      </p:sp>
      <p:sp>
        <p:nvSpPr>
          <p:cNvPr id="5" name="Text 3"/>
          <p:cNvSpPr/>
          <p:nvPr/>
        </p:nvSpPr>
        <p:spPr>
          <a:xfrm>
            <a:off x="1000006" y="1925836"/>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Nama Dataset</a:t>
            </a:r>
            <a:endParaRPr lang="en-US" sz="1550" dirty="0"/>
          </a:p>
        </p:txBody>
      </p:sp>
      <p:sp>
        <p:nvSpPr>
          <p:cNvPr id="6" name="Text 4"/>
          <p:cNvSpPr/>
          <p:nvPr/>
        </p:nvSpPr>
        <p:spPr>
          <a:xfrm>
            <a:off x="4260652" y="1925836"/>
            <a:ext cx="285249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Deskripsi</a:t>
            </a:r>
            <a:endParaRPr lang="en-US" sz="1550" dirty="0"/>
          </a:p>
        </p:txBody>
      </p:sp>
      <p:sp>
        <p:nvSpPr>
          <p:cNvPr id="7" name="Text 5"/>
          <p:cNvSpPr/>
          <p:nvPr/>
        </p:nvSpPr>
        <p:spPr>
          <a:xfrm>
            <a:off x="7517487" y="1925836"/>
            <a:ext cx="285249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Ukuran</a:t>
            </a:r>
            <a:endParaRPr lang="en-US" sz="1550" dirty="0"/>
          </a:p>
        </p:txBody>
      </p:sp>
      <p:sp>
        <p:nvSpPr>
          <p:cNvPr id="8" name="Text 6"/>
          <p:cNvSpPr/>
          <p:nvPr/>
        </p:nvSpPr>
        <p:spPr>
          <a:xfrm>
            <a:off x="10774323" y="1925836"/>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Penggunaan Umum</a:t>
            </a:r>
            <a:endParaRPr lang="en-US" sz="1550" dirty="0"/>
          </a:p>
        </p:txBody>
      </p:sp>
      <p:sp>
        <p:nvSpPr>
          <p:cNvPr id="9" name="Shape 7"/>
          <p:cNvSpPr/>
          <p:nvPr/>
        </p:nvSpPr>
        <p:spPr>
          <a:xfrm>
            <a:off x="801410" y="2370058"/>
            <a:ext cx="13027581" cy="1205984"/>
          </a:xfrm>
          <a:prstGeom prst="rect">
            <a:avLst/>
          </a:prstGeom>
          <a:solidFill>
            <a:srgbClr val="000000">
              <a:alpha val="4000"/>
            </a:srgbClr>
          </a:solidFill>
          <a:ln/>
        </p:spPr>
      </p:sp>
      <p:sp>
        <p:nvSpPr>
          <p:cNvPr id="10" name="Text 8"/>
          <p:cNvSpPr/>
          <p:nvPr/>
        </p:nvSpPr>
        <p:spPr>
          <a:xfrm>
            <a:off x="1000006" y="2496741"/>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ImageNet</a:t>
            </a:r>
            <a:endParaRPr lang="en-US" sz="1550" dirty="0"/>
          </a:p>
        </p:txBody>
      </p:sp>
      <p:sp>
        <p:nvSpPr>
          <p:cNvPr id="11" name="Text 9"/>
          <p:cNvSpPr/>
          <p:nvPr/>
        </p:nvSpPr>
        <p:spPr>
          <a:xfrm>
            <a:off x="4260652" y="2496741"/>
            <a:ext cx="2852499"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gambar skala besar dengan lebih dari 20.000 kategori</a:t>
            </a:r>
            <a:endParaRPr lang="en-US" sz="1550" dirty="0"/>
          </a:p>
        </p:txBody>
      </p:sp>
      <p:sp>
        <p:nvSpPr>
          <p:cNvPr id="12" name="Text 10"/>
          <p:cNvSpPr/>
          <p:nvPr/>
        </p:nvSpPr>
        <p:spPr>
          <a:xfrm>
            <a:off x="7517487" y="2496741"/>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~14 juta gambar</a:t>
            </a:r>
            <a:endParaRPr lang="en-US" sz="1550" dirty="0"/>
          </a:p>
        </p:txBody>
      </p:sp>
      <p:sp>
        <p:nvSpPr>
          <p:cNvPr id="13" name="Text 11"/>
          <p:cNvSpPr/>
          <p:nvPr/>
        </p:nvSpPr>
        <p:spPr>
          <a:xfrm>
            <a:off x="10774323" y="2496741"/>
            <a:ext cx="285630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Klasifikasi gambar, transfer learning</a:t>
            </a:r>
            <a:endParaRPr lang="en-US" sz="1550" dirty="0"/>
          </a:p>
        </p:txBody>
      </p:sp>
      <p:sp>
        <p:nvSpPr>
          <p:cNvPr id="14" name="Shape 12"/>
          <p:cNvSpPr/>
          <p:nvPr/>
        </p:nvSpPr>
        <p:spPr>
          <a:xfrm>
            <a:off x="801410" y="3576042"/>
            <a:ext cx="13027581" cy="888444"/>
          </a:xfrm>
          <a:prstGeom prst="rect">
            <a:avLst/>
          </a:prstGeom>
          <a:solidFill>
            <a:srgbClr val="FFFFFF">
              <a:alpha val="4000"/>
            </a:srgbClr>
          </a:solidFill>
          <a:ln/>
        </p:spPr>
      </p:sp>
      <p:sp>
        <p:nvSpPr>
          <p:cNvPr id="15" name="Text 13"/>
          <p:cNvSpPr/>
          <p:nvPr/>
        </p:nvSpPr>
        <p:spPr>
          <a:xfrm>
            <a:off x="1000006" y="3702725"/>
            <a:ext cx="285630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COCO (Common Objects in Context)</a:t>
            </a:r>
            <a:endParaRPr lang="en-US" sz="1550" dirty="0"/>
          </a:p>
        </p:txBody>
      </p:sp>
      <p:sp>
        <p:nvSpPr>
          <p:cNvPr id="16" name="Text 14"/>
          <p:cNvSpPr/>
          <p:nvPr/>
        </p:nvSpPr>
        <p:spPr>
          <a:xfrm>
            <a:off x="4260652" y="3702725"/>
            <a:ext cx="285249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untuk deteksi objek, segmentasi, dan captioning</a:t>
            </a:r>
            <a:endParaRPr lang="en-US" sz="1550" dirty="0"/>
          </a:p>
        </p:txBody>
      </p:sp>
      <p:sp>
        <p:nvSpPr>
          <p:cNvPr id="17" name="Text 15"/>
          <p:cNvSpPr/>
          <p:nvPr/>
        </p:nvSpPr>
        <p:spPr>
          <a:xfrm>
            <a:off x="7517487" y="3702725"/>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330K gambar, 1.5 juta objek</a:t>
            </a:r>
            <a:endParaRPr lang="en-US" sz="1550" dirty="0"/>
          </a:p>
        </p:txBody>
      </p:sp>
      <p:sp>
        <p:nvSpPr>
          <p:cNvPr id="18" name="Text 16"/>
          <p:cNvSpPr/>
          <p:nvPr/>
        </p:nvSpPr>
        <p:spPr>
          <a:xfrm>
            <a:off x="10774323" y="3702725"/>
            <a:ext cx="285630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Deteksi objek, segmentasi semantik</a:t>
            </a:r>
            <a:endParaRPr lang="en-US" sz="1550" dirty="0"/>
          </a:p>
        </p:txBody>
      </p:sp>
      <p:sp>
        <p:nvSpPr>
          <p:cNvPr id="19" name="Shape 17"/>
          <p:cNvSpPr/>
          <p:nvPr/>
        </p:nvSpPr>
        <p:spPr>
          <a:xfrm>
            <a:off x="801410" y="4464487"/>
            <a:ext cx="13027581" cy="888444"/>
          </a:xfrm>
          <a:prstGeom prst="rect">
            <a:avLst/>
          </a:prstGeom>
          <a:solidFill>
            <a:srgbClr val="000000">
              <a:alpha val="4000"/>
            </a:srgbClr>
          </a:solidFill>
          <a:ln/>
        </p:spPr>
      </p:sp>
      <p:sp>
        <p:nvSpPr>
          <p:cNvPr id="20" name="Text 18"/>
          <p:cNvSpPr/>
          <p:nvPr/>
        </p:nvSpPr>
        <p:spPr>
          <a:xfrm>
            <a:off x="1000006" y="4591169"/>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CIFAR-10/100</a:t>
            </a:r>
            <a:endParaRPr lang="en-US" sz="1550" dirty="0"/>
          </a:p>
        </p:txBody>
      </p:sp>
      <p:sp>
        <p:nvSpPr>
          <p:cNvPr id="21" name="Text 19"/>
          <p:cNvSpPr/>
          <p:nvPr/>
        </p:nvSpPr>
        <p:spPr>
          <a:xfrm>
            <a:off x="4260652" y="4591169"/>
            <a:ext cx="285249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gambar berwarna kecil dengan 10/100 kelas</a:t>
            </a:r>
            <a:endParaRPr lang="en-US" sz="1550" dirty="0"/>
          </a:p>
        </p:txBody>
      </p:sp>
      <p:sp>
        <p:nvSpPr>
          <p:cNvPr id="22" name="Text 20"/>
          <p:cNvSpPr/>
          <p:nvPr/>
        </p:nvSpPr>
        <p:spPr>
          <a:xfrm>
            <a:off x="7517487" y="4591169"/>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60.000 gambar 32x32</a:t>
            </a:r>
            <a:endParaRPr lang="en-US" sz="1550" dirty="0"/>
          </a:p>
        </p:txBody>
      </p:sp>
      <p:sp>
        <p:nvSpPr>
          <p:cNvPr id="23" name="Text 21"/>
          <p:cNvSpPr/>
          <p:nvPr/>
        </p:nvSpPr>
        <p:spPr>
          <a:xfrm>
            <a:off x="10774323" y="4591169"/>
            <a:ext cx="285630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Benchmark algoritma klasifikasi</a:t>
            </a:r>
            <a:endParaRPr lang="en-US" sz="1550" dirty="0"/>
          </a:p>
        </p:txBody>
      </p:sp>
      <p:sp>
        <p:nvSpPr>
          <p:cNvPr id="24" name="Shape 22"/>
          <p:cNvSpPr/>
          <p:nvPr/>
        </p:nvSpPr>
        <p:spPr>
          <a:xfrm>
            <a:off x="801410" y="5352931"/>
            <a:ext cx="13027581" cy="888444"/>
          </a:xfrm>
          <a:prstGeom prst="rect">
            <a:avLst/>
          </a:prstGeom>
          <a:solidFill>
            <a:srgbClr val="FFFFFF">
              <a:alpha val="4000"/>
            </a:srgbClr>
          </a:solidFill>
          <a:ln/>
        </p:spPr>
      </p:sp>
      <p:sp>
        <p:nvSpPr>
          <p:cNvPr id="25" name="Text 23"/>
          <p:cNvSpPr/>
          <p:nvPr/>
        </p:nvSpPr>
        <p:spPr>
          <a:xfrm>
            <a:off x="1000006" y="5479613"/>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Pascal VOC</a:t>
            </a:r>
            <a:endParaRPr lang="en-US" sz="1550" dirty="0"/>
          </a:p>
        </p:txBody>
      </p:sp>
      <p:sp>
        <p:nvSpPr>
          <p:cNvPr id="26" name="Text 24"/>
          <p:cNvSpPr/>
          <p:nvPr/>
        </p:nvSpPr>
        <p:spPr>
          <a:xfrm>
            <a:off x="4260652" y="5479613"/>
            <a:ext cx="285249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visual object classes dengan anotasi yang detail</a:t>
            </a:r>
            <a:endParaRPr lang="en-US" sz="1550" dirty="0"/>
          </a:p>
        </p:txBody>
      </p:sp>
      <p:sp>
        <p:nvSpPr>
          <p:cNvPr id="27" name="Text 25"/>
          <p:cNvSpPr/>
          <p:nvPr/>
        </p:nvSpPr>
        <p:spPr>
          <a:xfrm>
            <a:off x="7517487" y="5479613"/>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~20.000 gambar</a:t>
            </a:r>
            <a:endParaRPr lang="en-US" sz="1550" dirty="0"/>
          </a:p>
        </p:txBody>
      </p:sp>
      <p:sp>
        <p:nvSpPr>
          <p:cNvPr id="28" name="Text 26"/>
          <p:cNvSpPr/>
          <p:nvPr/>
        </p:nvSpPr>
        <p:spPr>
          <a:xfrm>
            <a:off x="10774323" y="5479613"/>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Deteksi objek, segmentasi</a:t>
            </a:r>
            <a:endParaRPr lang="en-US" sz="1550" dirty="0"/>
          </a:p>
        </p:txBody>
      </p:sp>
      <p:sp>
        <p:nvSpPr>
          <p:cNvPr id="29" name="Shape 27"/>
          <p:cNvSpPr/>
          <p:nvPr/>
        </p:nvSpPr>
        <p:spPr>
          <a:xfrm>
            <a:off x="801410" y="6241375"/>
            <a:ext cx="13027581" cy="1205984"/>
          </a:xfrm>
          <a:prstGeom prst="rect">
            <a:avLst/>
          </a:prstGeom>
          <a:solidFill>
            <a:srgbClr val="000000">
              <a:alpha val="4000"/>
            </a:srgbClr>
          </a:solidFill>
          <a:ln/>
        </p:spPr>
      </p:sp>
      <p:sp>
        <p:nvSpPr>
          <p:cNvPr id="30" name="Text 28"/>
          <p:cNvSpPr/>
          <p:nvPr/>
        </p:nvSpPr>
        <p:spPr>
          <a:xfrm>
            <a:off x="1000006" y="6368058"/>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Labeled Faces in the Wild</a:t>
            </a:r>
            <a:endParaRPr lang="en-US" sz="1550" dirty="0"/>
          </a:p>
        </p:txBody>
      </p:sp>
      <p:sp>
        <p:nvSpPr>
          <p:cNvPr id="31" name="Text 29"/>
          <p:cNvSpPr/>
          <p:nvPr/>
        </p:nvSpPr>
        <p:spPr>
          <a:xfrm>
            <a:off x="4260652" y="6368058"/>
            <a:ext cx="2852499"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wajah untuk studi pengenalan wajah tanpa kendala</a:t>
            </a:r>
            <a:endParaRPr lang="en-US" sz="1550" dirty="0"/>
          </a:p>
        </p:txBody>
      </p:sp>
      <p:sp>
        <p:nvSpPr>
          <p:cNvPr id="32" name="Text 30"/>
          <p:cNvSpPr/>
          <p:nvPr/>
        </p:nvSpPr>
        <p:spPr>
          <a:xfrm>
            <a:off x="7517487" y="6368058"/>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13.000 gambar wajah</a:t>
            </a:r>
            <a:endParaRPr lang="en-US" sz="1550" dirty="0"/>
          </a:p>
        </p:txBody>
      </p:sp>
      <p:sp>
        <p:nvSpPr>
          <p:cNvPr id="33" name="Text 31"/>
          <p:cNvSpPr/>
          <p:nvPr/>
        </p:nvSpPr>
        <p:spPr>
          <a:xfrm>
            <a:off x="10774323" y="6368058"/>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Pengenalan wajah, verifikasi</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1244560"/>
            <a:ext cx="13042821" cy="1240155"/>
          </a:xfrm>
          <a:prstGeom prst="rect">
            <a:avLst/>
          </a:prstGeom>
          <a:noFill/>
          <a:ln/>
        </p:spPr>
        <p:txBody>
          <a:bodyPr wrap="squar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Tantangan dalam Pembelajaran Mesin untuk Computer Vision</a:t>
            </a:r>
            <a:endParaRPr lang="en-US" sz="3900" dirty="0"/>
          </a:p>
        </p:txBody>
      </p:sp>
      <p:sp>
        <p:nvSpPr>
          <p:cNvPr id="3" name="Shape 1"/>
          <p:cNvSpPr/>
          <p:nvPr/>
        </p:nvSpPr>
        <p:spPr>
          <a:xfrm>
            <a:off x="793790" y="2881551"/>
            <a:ext cx="6422231" cy="2111335"/>
          </a:xfrm>
          <a:prstGeom prst="roundRect">
            <a:avLst>
              <a:gd name="adj" fmla="val 3948"/>
            </a:avLst>
          </a:prstGeom>
          <a:solidFill>
            <a:srgbClr val="DFECE9"/>
          </a:solidFill>
          <a:ln w="7620">
            <a:solidFill>
              <a:srgbClr val="C5D2CF"/>
            </a:solidFill>
            <a:prstDash val="solid"/>
          </a:ln>
        </p:spPr>
      </p:sp>
      <p:sp>
        <p:nvSpPr>
          <p:cNvPr id="4" name="Text 2"/>
          <p:cNvSpPr/>
          <p:nvPr/>
        </p:nvSpPr>
        <p:spPr>
          <a:xfrm>
            <a:off x="999768" y="308752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Variasi Intra-kelas</a:t>
            </a:r>
            <a:endParaRPr lang="en-US" sz="1950" dirty="0"/>
          </a:p>
        </p:txBody>
      </p:sp>
      <p:sp>
        <p:nvSpPr>
          <p:cNvPr id="5" name="Text 3"/>
          <p:cNvSpPr/>
          <p:nvPr/>
        </p:nvSpPr>
        <p:spPr>
          <a:xfrm>
            <a:off x="999768" y="3516749"/>
            <a:ext cx="6010275"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Objek dari kelas yang sama dapat terlihat sangat berbeda karena variasi tampilan, pencahayaan, pose, dan oklusiparsial. Model harus belajar fitur yang invarian terhadap transformasi ini.</a:t>
            </a:r>
            <a:endParaRPr lang="en-US" sz="1550" dirty="0"/>
          </a:p>
        </p:txBody>
      </p:sp>
      <p:sp>
        <p:nvSpPr>
          <p:cNvPr id="6" name="Shape 4"/>
          <p:cNvSpPr/>
          <p:nvPr/>
        </p:nvSpPr>
        <p:spPr>
          <a:xfrm>
            <a:off x="7414379" y="2881551"/>
            <a:ext cx="6422231" cy="2111335"/>
          </a:xfrm>
          <a:prstGeom prst="roundRect">
            <a:avLst>
              <a:gd name="adj" fmla="val 3948"/>
            </a:avLst>
          </a:prstGeom>
          <a:solidFill>
            <a:srgbClr val="DFECE9"/>
          </a:solidFill>
          <a:ln w="7620">
            <a:solidFill>
              <a:srgbClr val="C5D2CF"/>
            </a:solidFill>
            <a:prstDash val="solid"/>
          </a:ln>
        </p:spPr>
      </p:sp>
      <p:sp>
        <p:nvSpPr>
          <p:cNvPr id="7" name="Text 5"/>
          <p:cNvSpPr/>
          <p:nvPr/>
        </p:nvSpPr>
        <p:spPr>
          <a:xfrm>
            <a:off x="7620357" y="308752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Representasi Visual</a:t>
            </a:r>
            <a:endParaRPr lang="en-US" sz="1950" dirty="0"/>
          </a:p>
        </p:txBody>
      </p:sp>
      <p:sp>
        <p:nvSpPr>
          <p:cNvPr id="8" name="Text 6"/>
          <p:cNvSpPr/>
          <p:nvPr/>
        </p:nvSpPr>
        <p:spPr>
          <a:xfrm>
            <a:off x="7620357" y="3516749"/>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Menemukan representasi yang kaya informasi namun compact dari gambar adalah tantangan. Deep learning telah membantu dengan pembelajaran representasi hierarkis.</a:t>
            </a:r>
            <a:endParaRPr lang="en-US" sz="1550" dirty="0"/>
          </a:p>
        </p:txBody>
      </p:sp>
      <p:sp>
        <p:nvSpPr>
          <p:cNvPr id="9" name="Shape 7"/>
          <p:cNvSpPr/>
          <p:nvPr/>
        </p:nvSpPr>
        <p:spPr>
          <a:xfrm>
            <a:off x="793790" y="5191244"/>
            <a:ext cx="6422231" cy="1793796"/>
          </a:xfrm>
          <a:prstGeom prst="roundRect">
            <a:avLst>
              <a:gd name="adj" fmla="val 4647"/>
            </a:avLst>
          </a:prstGeom>
          <a:solidFill>
            <a:srgbClr val="DFECE9"/>
          </a:solidFill>
          <a:ln w="7620">
            <a:solidFill>
              <a:srgbClr val="C5D2CF"/>
            </a:solidFill>
            <a:prstDash val="solid"/>
          </a:ln>
        </p:spPr>
      </p:sp>
      <p:sp>
        <p:nvSpPr>
          <p:cNvPr id="10" name="Text 8"/>
          <p:cNvSpPr/>
          <p:nvPr/>
        </p:nvSpPr>
        <p:spPr>
          <a:xfrm>
            <a:off x="999768" y="539722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Kebutuhan Data</a:t>
            </a:r>
            <a:endParaRPr lang="en-US" sz="1950" dirty="0"/>
          </a:p>
        </p:txBody>
      </p:sp>
      <p:sp>
        <p:nvSpPr>
          <p:cNvPr id="11" name="Text 9"/>
          <p:cNvSpPr/>
          <p:nvPr/>
        </p:nvSpPr>
        <p:spPr>
          <a:xfrm>
            <a:off x="999768" y="5826443"/>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Model pembelajaran mendalam membutuhkan dataset besar berlabel yang sulit dan mahal untuk dikumpulkan, terutama untuk tugas spesifik domain.</a:t>
            </a:r>
            <a:endParaRPr lang="en-US" sz="1550" dirty="0"/>
          </a:p>
        </p:txBody>
      </p:sp>
      <p:sp>
        <p:nvSpPr>
          <p:cNvPr id="12" name="Shape 10"/>
          <p:cNvSpPr/>
          <p:nvPr/>
        </p:nvSpPr>
        <p:spPr>
          <a:xfrm>
            <a:off x="7414379" y="5191244"/>
            <a:ext cx="6422231" cy="1793796"/>
          </a:xfrm>
          <a:prstGeom prst="roundRect">
            <a:avLst>
              <a:gd name="adj" fmla="val 4647"/>
            </a:avLst>
          </a:prstGeom>
          <a:solidFill>
            <a:srgbClr val="DFECE9"/>
          </a:solidFill>
          <a:ln w="7620">
            <a:solidFill>
              <a:srgbClr val="C5D2CF"/>
            </a:solidFill>
            <a:prstDash val="solid"/>
          </a:ln>
        </p:spPr>
      </p:sp>
      <p:sp>
        <p:nvSpPr>
          <p:cNvPr id="13" name="Text 11"/>
          <p:cNvSpPr/>
          <p:nvPr/>
        </p:nvSpPr>
        <p:spPr>
          <a:xfrm>
            <a:off x="7620357" y="539722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Generalisasi</a:t>
            </a:r>
            <a:endParaRPr lang="en-US" sz="1950" dirty="0"/>
          </a:p>
        </p:txBody>
      </p:sp>
      <p:sp>
        <p:nvSpPr>
          <p:cNvPr id="14" name="Text 12"/>
          <p:cNvSpPr/>
          <p:nvPr/>
        </p:nvSpPr>
        <p:spPr>
          <a:xfrm>
            <a:off x="7620357" y="5826443"/>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Memastikan model dapat bekerja dengan baik pada data unseen dan dalam lingkungan yang berbeda dari data pelatihan tetap menjadi tantangan besar.</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665327"/>
            <a:ext cx="9368076"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Preprocessing Data untuk Computer Vision</a:t>
            </a:r>
            <a:endParaRPr lang="en-US" sz="3900" dirty="0"/>
          </a:p>
        </p:txBody>
      </p:sp>
      <p:sp>
        <p:nvSpPr>
          <p:cNvPr id="3" name="Text 1"/>
          <p:cNvSpPr/>
          <p:nvPr/>
        </p:nvSpPr>
        <p:spPr>
          <a:xfrm>
            <a:off x="793790" y="2781419"/>
            <a:ext cx="2822138"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Pentingnya Preprocessing</a:t>
            </a:r>
            <a:endParaRPr lang="en-US" sz="1950" dirty="0"/>
          </a:p>
        </p:txBody>
      </p:sp>
      <p:sp>
        <p:nvSpPr>
          <p:cNvPr id="4" name="Text 2"/>
          <p:cNvSpPr/>
          <p:nvPr/>
        </p:nvSpPr>
        <p:spPr>
          <a:xfrm>
            <a:off x="793790" y="3289935"/>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Preprocessing data merupakan langkah krusial sebelum melatih model pembelajaran mesin. Preprocessing yang tepat dapat meningkatkan performa model secara signifikan.</a:t>
            </a:r>
            <a:endParaRPr lang="en-US" sz="1550" dirty="0"/>
          </a:p>
        </p:txBody>
      </p:sp>
      <p:sp>
        <p:nvSpPr>
          <p:cNvPr id="5" name="Text 3"/>
          <p:cNvSpPr/>
          <p:nvPr/>
        </p:nvSpPr>
        <p:spPr>
          <a:xfrm>
            <a:off x="793790" y="442114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Mengurangi noise dan variasi yang tidak relevan</a:t>
            </a:r>
            <a:endParaRPr lang="en-US" sz="1550" dirty="0"/>
          </a:p>
        </p:txBody>
      </p:sp>
      <p:sp>
        <p:nvSpPr>
          <p:cNvPr id="6" name="Text 4"/>
          <p:cNvSpPr/>
          <p:nvPr/>
        </p:nvSpPr>
        <p:spPr>
          <a:xfrm>
            <a:off x="793790" y="480810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Meningkatkan konsistensi dataset</a:t>
            </a:r>
            <a:endParaRPr lang="en-US" sz="1550" dirty="0"/>
          </a:p>
        </p:txBody>
      </p:sp>
      <p:sp>
        <p:nvSpPr>
          <p:cNvPr id="7" name="Text 5"/>
          <p:cNvSpPr/>
          <p:nvPr/>
        </p:nvSpPr>
        <p:spPr>
          <a:xfrm>
            <a:off x="793790" y="519505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Memfasilitasi ekstraksi fitur yang lebih baik</a:t>
            </a:r>
            <a:endParaRPr lang="en-US" sz="1550" dirty="0"/>
          </a:p>
        </p:txBody>
      </p:sp>
      <p:sp>
        <p:nvSpPr>
          <p:cNvPr id="8" name="Text 6"/>
          <p:cNvSpPr/>
          <p:nvPr/>
        </p:nvSpPr>
        <p:spPr>
          <a:xfrm>
            <a:off x="793790" y="558200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Mempercepat konvergensi pelatihan</a:t>
            </a:r>
            <a:endParaRPr lang="en-US" sz="1550" dirty="0"/>
          </a:p>
        </p:txBody>
      </p:sp>
      <p:sp>
        <p:nvSpPr>
          <p:cNvPr id="9" name="Text 7"/>
          <p:cNvSpPr/>
          <p:nvPr/>
        </p:nvSpPr>
        <p:spPr>
          <a:xfrm>
            <a:off x="7564874" y="2781419"/>
            <a:ext cx="3078599"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Teknik Preprocessing Umum</a:t>
            </a:r>
            <a:endParaRPr lang="en-US" sz="1950" dirty="0"/>
          </a:p>
        </p:txBody>
      </p:sp>
      <p:sp>
        <p:nvSpPr>
          <p:cNvPr id="10" name="Text 8"/>
          <p:cNvSpPr/>
          <p:nvPr/>
        </p:nvSpPr>
        <p:spPr>
          <a:xfrm>
            <a:off x="7564874" y="328993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Normalisasi: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Menyesuaikan nilai piksel ke rentang standar (0-1 atau -1 hingga 1)</a:t>
            </a:r>
            <a:endParaRPr lang="en-US" sz="1550" dirty="0"/>
          </a:p>
        </p:txBody>
      </p:sp>
      <p:sp>
        <p:nvSpPr>
          <p:cNvPr id="11" name="Text 9"/>
          <p:cNvSpPr/>
          <p:nvPr/>
        </p:nvSpPr>
        <p:spPr>
          <a:xfrm>
            <a:off x="7564874" y="399442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Resize: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Mengubah ukuran gambar ke dimensi standar</a:t>
            </a:r>
            <a:endParaRPr lang="en-US" sz="1550" dirty="0"/>
          </a:p>
        </p:txBody>
      </p:sp>
      <p:sp>
        <p:nvSpPr>
          <p:cNvPr id="12" name="Text 10"/>
          <p:cNvSpPr/>
          <p:nvPr/>
        </p:nvSpPr>
        <p:spPr>
          <a:xfrm>
            <a:off x="7564874" y="438138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Augmentasi: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Menciptakan variasi dari gambar yang ada (rotasi, flip, zoom)</a:t>
            </a:r>
            <a:endParaRPr lang="en-US" sz="1550" dirty="0"/>
          </a:p>
        </p:txBody>
      </p:sp>
      <p:sp>
        <p:nvSpPr>
          <p:cNvPr id="13" name="Text 11"/>
          <p:cNvSpPr/>
          <p:nvPr/>
        </p:nvSpPr>
        <p:spPr>
          <a:xfrm>
            <a:off x="7564874" y="508587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Ekualisasi histogram:</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Meningkatkan kontras gambar</a:t>
            </a:r>
            <a:endParaRPr lang="en-US" sz="1550" dirty="0"/>
          </a:p>
        </p:txBody>
      </p:sp>
      <p:sp>
        <p:nvSpPr>
          <p:cNvPr id="14" name="Text 12"/>
          <p:cNvSpPr/>
          <p:nvPr/>
        </p:nvSpPr>
        <p:spPr>
          <a:xfrm>
            <a:off x="7564874" y="547282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Filtering:</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Mengurangi noise atau meningkatkan fitur tertentu</a:t>
            </a:r>
            <a:endParaRPr lang="en-US" sz="1550" dirty="0"/>
          </a:p>
        </p:txBody>
      </p:sp>
      <p:sp>
        <p:nvSpPr>
          <p:cNvPr id="15" name="Text 13"/>
          <p:cNvSpPr/>
          <p:nvPr/>
        </p:nvSpPr>
        <p:spPr>
          <a:xfrm>
            <a:off x="7564874" y="5859780"/>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Channel normalization: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Menormalkan setiap channel warna secara terpisah</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203365"/>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Praktik dan Latihan</a:t>
            </a:r>
            <a:endParaRPr lang="en-US" sz="3900" dirty="0"/>
          </a:p>
        </p:txBody>
      </p:sp>
      <p:sp>
        <p:nvSpPr>
          <p:cNvPr id="3" name="Text 1"/>
          <p:cNvSpPr/>
          <p:nvPr/>
        </p:nvSpPr>
        <p:spPr>
          <a:xfrm>
            <a:off x="793790" y="222027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Untuk memperkuat pemahaman konsep pembelajaran mesin dalam computer vision, mahasiswa akan mengerjakan latihan berikut:</a:t>
            </a:r>
            <a:endParaRPr lang="en-US" sz="1550" dirty="0"/>
          </a:p>
        </p:txBody>
      </p:sp>
      <p:sp>
        <p:nvSpPr>
          <p:cNvPr id="4" name="Shape 2"/>
          <p:cNvSpPr/>
          <p:nvPr/>
        </p:nvSpPr>
        <p:spPr>
          <a:xfrm>
            <a:off x="793790" y="2761059"/>
            <a:ext cx="4215289" cy="4265176"/>
          </a:xfrm>
          <a:prstGeom prst="roundRect">
            <a:avLst>
              <a:gd name="adj" fmla="val 1978"/>
            </a:avLst>
          </a:prstGeom>
          <a:solidFill>
            <a:srgbClr val="FFFFFF"/>
          </a:solidFill>
          <a:ln w="22860">
            <a:solidFill>
              <a:srgbClr val="C5D2CF"/>
            </a:solidFill>
            <a:prstDash val="solid"/>
          </a:ln>
        </p:spPr>
      </p:sp>
      <p:sp>
        <p:nvSpPr>
          <p:cNvPr id="5" name="Shape 3"/>
          <p:cNvSpPr/>
          <p:nvPr/>
        </p:nvSpPr>
        <p:spPr>
          <a:xfrm>
            <a:off x="816650" y="2783919"/>
            <a:ext cx="4169569" cy="595313"/>
          </a:xfrm>
          <a:prstGeom prst="roundRect">
            <a:avLst>
              <a:gd name="adj" fmla="val 9395"/>
            </a:avLst>
          </a:prstGeom>
          <a:solidFill>
            <a:srgbClr val="DFECE9"/>
          </a:solidFill>
          <a:ln/>
        </p:spPr>
      </p:sp>
      <p:sp>
        <p:nvSpPr>
          <p:cNvPr id="6" name="Text 4"/>
          <p:cNvSpPr/>
          <p:nvPr/>
        </p:nvSpPr>
        <p:spPr>
          <a:xfrm>
            <a:off x="2752606" y="2891671"/>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1</a:t>
            </a:r>
            <a:endParaRPr lang="en-US" sz="2300" dirty="0"/>
          </a:p>
        </p:txBody>
      </p:sp>
      <p:sp>
        <p:nvSpPr>
          <p:cNvPr id="7" name="Text 5"/>
          <p:cNvSpPr/>
          <p:nvPr/>
        </p:nvSpPr>
        <p:spPr>
          <a:xfrm>
            <a:off x="1015008" y="3577590"/>
            <a:ext cx="323528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Klasifikasi Gambar Sederhana</a:t>
            </a:r>
            <a:endParaRPr lang="en-US" sz="1950" dirty="0"/>
          </a:p>
        </p:txBody>
      </p:sp>
      <p:sp>
        <p:nvSpPr>
          <p:cNvPr id="8" name="Text 6"/>
          <p:cNvSpPr/>
          <p:nvPr/>
        </p:nvSpPr>
        <p:spPr>
          <a:xfrm>
            <a:off x="1015008" y="4006810"/>
            <a:ext cx="377285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Mengimplementasikan klasifikasi gambar menggunakan dataset CIFAR-10 dengan model CNN sederhana dan membandingkan dengan pendekatan tradisional seperti SVM.</a:t>
            </a:r>
            <a:endParaRPr lang="en-US" sz="1550" dirty="0"/>
          </a:p>
        </p:txBody>
      </p:sp>
      <p:sp>
        <p:nvSpPr>
          <p:cNvPr id="9" name="Text 7"/>
          <p:cNvSpPr/>
          <p:nvPr/>
        </p:nvSpPr>
        <p:spPr>
          <a:xfrm>
            <a:off x="1015008" y="5713571"/>
            <a:ext cx="377285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Preprocessing dataset</a:t>
            </a:r>
            <a:endParaRPr lang="en-US" sz="1550" dirty="0"/>
          </a:p>
        </p:txBody>
      </p:sp>
      <p:sp>
        <p:nvSpPr>
          <p:cNvPr id="10" name="Text 8"/>
          <p:cNvSpPr/>
          <p:nvPr/>
        </p:nvSpPr>
        <p:spPr>
          <a:xfrm>
            <a:off x="1015008" y="6100524"/>
            <a:ext cx="377285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Implementasi dan pelatihan model</a:t>
            </a:r>
            <a:endParaRPr lang="en-US" sz="1550" dirty="0"/>
          </a:p>
        </p:txBody>
      </p:sp>
      <p:sp>
        <p:nvSpPr>
          <p:cNvPr id="11" name="Text 9"/>
          <p:cNvSpPr/>
          <p:nvPr/>
        </p:nvSpPr>
        <p:spPr>
          <a:xfrm>
            <a:off x="1015008" y="6487478"/>
            <a:ext cx="377285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Evaluasi dan visualisasi hasil</a:t>
            </a:r>
            <a:endParaRPr lang="en-US" sz="1550" dirty="0"/>
          </a:p>
        </p:txBody>
      </p:sp>
      <p:sp>
        <p:nvSpPr>
          <p:cNvPr id="12" name="Shape 10"/>
          <p:cNvSpPr/>
          <p:nvPr/>
        </p:nvSpPr>
        <p:spPr>
          <a:xfrm>
            <a:off x="5207437" y="2761059"/>
            <a:ext cx="4215408" cy="4265176"/>
          </a:xfrm>
          <a:prstGeom prst="roundRect">
            <a:avLst>
              <a:gd name="adj" fmla="val 1977"/>
            </a:avLst>
          </a:prstGeom>
          <a:solidFill>
            <a:srgbClr val="FFFFFF"/>
          </a:solidFill>
          <a:ln w="22860">
            <a:solidFill>
              <a:srgbClr val="C5D2CF"/>
            </a:solidFill>
            <a:prstDash val="solid"/>
          </a:ln>
        </p:spPr>
      </p:sp>
      <p:sp>
        <p:nvSpPr>
          <p:cNvPr id="13" name="Shape 11"/>
          <p:cNvSpPr/>
          <p:nvPr/>
        </p:nvSpPr>
        <p:spPr>
          <a:xfrm>
            <a:off x="5230297" y="2783919"/>
            <a:ext cx="4169688" cy="595313"/>
          </a:xfrm>
          <a:prstGeom prst="roundRect">
            <a:avLst>
              <a:gd name="adj" fmla="val 9395"/>
            </a:avLst>
          </a:prstGeom>
          <a:solidFill>
            <a:srgbClr val="DFECE9"/>
          </a:solidFill>
          <a:ln/>
        </p:spPr>
      </p:sp>
      <p:sp>
        <p:nvSpPr>
          <p:cNvPr id="14" name="Text 12"/>
          <p:cNvSpPr/>
          <p:nvPr/>
        </p:nvSpPr>
        <p:spPr>
          <a:xfrm>
            <a:off x="7166253" y="2891671"/>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2</a:t>
            </a:r>
            <a:endParaRPr lang="en-US" sz="2300" dirty="0"/>
          </a:p>
        </p:txBody>
      </p:sp>
      <p:sp>
        <p:nvSpPr>
          <p:cNvPr id="15" name="Text 13"/>
          <p:cNvSpPr/>
          <p:nvPr/>
        </p:nvSpPr>
        <p:spPr>
          <a:xfrm>
            <a:off x="5428655" y="357759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Eksperimen Clustering</a:t>
            </a:r>
            <a:endParaRPr lang="en-US" sz="1950" dirty="0"/>
          </a:p>
        </p:txBody>
      </p:sp>
      <p:sp>
        <p:nvSpPr>
          <p:cNvPr id="16" name="Text 14"/>
          <p:cNvSpPr/>
          <p:nvPr/>
        </p:nvSpPr>
        <p:spPr>
          <a:xfrm>
            <a:off x="5428655" y="4006810"/>
            <a:ext cx="3772972"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Menerapkan algoritma K-Means untuk mengelompokkan gambar berdasarkan fitur visual tanpa menggunakan label yang tersedia.</a:t>
            </a:r>
            <a:endParaRPr lang="en-US" sz="1550" dirty="0"/>
          </a:p>
        </p:txBody>
      </p:sp>
      <p:sp>
        <p:nvSpPr>
          <p:cNvPr id="17" name="Text 15"/>
          <p:cNvSpPr/>
          <p:nvPr/>
        </p:nvSpPr>
        <p:spPr>
          <a:xfrm>
            <a:off x="5428655" y="5396032"/>
            <a:ext cx="3772972"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Ekstraksi fitur dari gambar</a:t>
            </a:r>
            <a:endParaRPr lang="en-US" sz="1550" dirty="0"/>
          </a:p>
        </p:txBody>
      </p:sp>
      <p:sp>
        <p:nvSpPr>
          <p:cNvPr id="18" name="Text 16"/>
          <p:cNvSpPr/>
          <p:nvPr/>
        </p:nvSpPr>
        <p:spPr>
          <a:xfrm>
            <a:off x="5428655" y="5782985"/>
            <a:ext cx="3772972"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Implementasi algoritma clustering</a:t>
            </a:r>
            <a:endParaRPr lang="en-US" sz="1550" dirty="0"/>
          </a:p>
        </p:txBody>
      </p:sp>
      <p:sp>
        <p:nvSpPr>
          <p:cNvPr id="19" name="Text 17"/>
          <p:cNvSpPr/>
          <p:nvPr/>
        </p:nvSpPr>
        <p:spPr>
          <a:xfrm>
            <a:off x="5428655" y="6169938"/>
            <a:ext cx="3772972"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Analisis koherensi cluster yang dihasilkan</a:t>
            </a:r>
            <a:endParaRPr lang="en-US" sz="1550" dirty="0"/>
          </a:p>
        </p:txBody>
      </p:sp>
      <p:sp>
        <p:nvSpPr>
          <p:cNvPr id="20" name="Shape 18"/>
          <p:cNvSpPr/>
          <p:nvPr/>
        </p:nvSpPr>
        <p:spPr>
          <a:xfrm>
            <a:off x="9621203" y="2761059"/>
            <a:ext cx="4215289" cy="4265176"/>
          </a:xfrm>
          <a:prstGeom prst="roundRect">
            <a:avLst>
              <a:gd name="adj" fmla="val 1978"/>
            </a:avLst>
          </a:prstGeom>
          <a:solidFill>
            <a:srgbClr val="FFFFFF"/>
          </a:solidFill>
          <a:ln w="22860">
            <a:solidFill>
              <a:srgbClr val="C5D2CF"/>
            </a:solidFill>
            <a:prstDash val="solid"/>
          </a:ln>
        </p:spPr>
      </p:sp>
      <p:sp>
        <p:nvSpPr>
          <p:cNvPr id="21" name="Shape 19"/>
          <p:cNvSpPr/>
          <p:nvPr/>
        </p:nvSpPr>
        <p:spPr>
          <a:xfrm>
            <a:off x="9644063" y="2783919"/>
            <a:ext cx="4169569" cy="595313"/>
          </a:xfrm>
          <a:prstGeom prst="roundRect">
            <a:avLst>
              <a:gd name="adj" fmla="val 9395"/>
            </a:avLst>
          </a:prstGeom>
          <a:solidFill>
            <a:srgbClr val="DFECE9"/>
          </a:solidFill>
          <a:ln/>
        </p:spPr>
      </p:sp>
      <p:sp>
        <p:nvSpPr>
          <p:cNvPr id="22" name="Text 20"/>
          <p:cNvSpPr/>
          <p:nvPr/>
        </p:nvSpPr>
        <p:spPr>
          <a:xfrm>
            <a:off x="11580019" y="2891671"/>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3</a:t>
            </a:r>
            <a:endParaRPr lang="en-US" sz="2300" dirty="0"/>
          </a:p>
        </p:txBody>
      </p:sp>
      <p:sp>
        <p:nvSpPr>
          <p:cNvPr id="23" name="Text 21"/>
          <p:cNvSpPr/>
          <p:nvPr/>
        </p:nvSpPr>
        <p:spPr>
          <a:xfrm>
            <a:off x="9842421" y="357759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Analisis Perbandingan</a:t>
            </a:r>
            <a:endParaRPr lang="en-US" sz="1950" dirty="0"/>
          </a:p>
        </p:txBody>
      </p:sp>
      <p:sp>
        <p:nvSpPr>
          <p:cNvPr id="24" name="Text 22"/>
          <p:cNvSpPr/>
          <p:nvPr/>
        </p:nvSpPr>
        <p:spPr>
          <a:xfrm>
            <a:off x="9842421" y="4006810"/>
            <a:ext cx="377285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Membandingkan pendekatan supervised dan unsupervised untuk tugas segmentasi gambar dan mendokumentasikan kelebihan dan kekurangan masing-masing.</a:t>
            </a:r>
            <a:endParaRPr lang="en-US" sz="1550" dirty="0"/>
          </a:p>
        </p:txBody>
      </p:sp>
      <p:sp>
        <p:nvSpPr>
          <p:cNvPr id="25" name="Text 23"/>
          <p:cNvSpPr/>
          <p:nvPr/>
        </p:nvSpPr>
        <p:spPr>
          <a:xfrm>
            <a:off x="9842421" y="5713571"/>
            <a:ext cx="377285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Implementasi kedua pendekatan</a:t>
            </a:r>
            <a:endParaRPr lang="en-US" sz="1550" dirty="0"/>
          </a:p>
        </p:txBody>
      </p:sp>
      <p:sp>
        <p:nvSpPr>
          <p:cNvPr id="26" name="Text 24"/>
          <p:cNvSpPr/>
          <p:nvPr/>
        </p:nvSpPr>
        <p:spPr>
          <a:xfrm>
            <a:off x="9842421" y="6100524"/>
            <a:ext cx="377285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Evaluasi kuantitatif dan kualitatif</a:t>
            </a:r>
            <a:endParaRPr lang="en-US" sz="1550" dirty="0"/>
          </a:p>
        </p:txBody>
      </p:sp>
      <p:sp>
        <p:nvSpPr>
          <p:cNvPr id="27" name="Text 25"/>
          <p:cNvSpPr/>
          <p:nvPr/>
        </p:nvSpPr>
        <p:spPr>
          <a:xfrm>
            <a:off x="9842421" y="6487478"/>
            <a:ext cx="377285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Penyusunan laporan analisis</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1119545"/>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Evaluasi Pembelajaran</a:t>
            </a:r>
            <a:endParaRPr lang="en-US" sz="3900" dirty="0"/>
          </a:p>
        </p:txBody>
      </p:sp>
      <p:sp>
        <p:nvSpPr>
          <p:cNvPr id="3" name="Text 1"/>
          <p:cNvSpPr/>
          <p:nvPr/>
        </p:nvSpPr>
        <p:spPr>
          <a:xfrm>
            <a:off x="793790" y="223563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Kriteria Penilaian</a:t>
            </a:r>
            <a:endParaRPr lang="en-US" sz="1950" dirty="0"/>
          </a:p>
        </p:txBody>
      </p:sp>
      <p:sp>
        <p:nvSpPr>
          <p:cNvPr id="4" name="Text 2"/>
          <p:cNvSpPr/>
          <p:nvPr/>
        </p:nvSpPr>
        <p:spPr>
          <a:xfrm>
            <a:off x="793790" y="274415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Pemahaman Konseptual (30%)</a:t>
            </a:r>
            <a:endParaRPr lang="en-US" sz="1550" dirty="0"/>
          </a:p>
        </p:txBody>
      </p:sp>
      <p:sp>
        <p:nvSpPr>
          <p:cNvPr id="5" name="Text 3"/>
          <p:cNvSpPr/>
          <p:nvPr/>
        </p:nvSpPr>
        <p:spPr>
          <a:xfrm>
            <a:off x="793790" y="3131106"/>
            <a:ext cx="6279356" cy="635079"/>
          </a:xfrm>
          <a:prstGeom prst="rect">
            <a:avLst/>
          </a:prstGeom>
          <a:noFill/>
          <a:ln/>
        </p:spPr>
        <p:txBody>
          <a:bodyPr wrap="squar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Ketepatan dalam menjelaskan konsep dasar pembelajaran mesin</a:t>
            </a:r>
            <a:endParaRPr lang="en-US" sz="1550" dirty="0"/>
          </a:p>
        </p:txBody>
      </p:sp>
      <p:sp>
        <p:nvSpPr>
          <p:cNvPr id="6" name="Text 4"/>
          <p:cNvSpPr/>
          <p:nvPr/>
        </p:nvSpPr>
        <p:spPr>
          <a:xfrm>
            <a:off x="793790" y="3835598"/>
            <a:ext cx="6279356"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Kemampuan membedakan jenis-jenis pembelajaran mesin</a:t>
            </a:r>
            <a:endParaRPr lang="en-US" sz="1550" dirty="0"/>
          </a:p>
        </p:txBody>
      </p:sp>
      <p:sp>
        <p:nvSpPr>
          <p:cNvPr id="7" name="Text 5"/>
          <p:cNvSpPr/>
          <p:nvPr/>
        </p:nvSpPr>
        <p:spPr>
          <a:xfrm>
            <a:off x="793790" y="4222552"/>
            <a:ext cx="6279356" cy="635079"/>
          </a:xfrm>
          <a:prstGeom prst="rect">
            <a:avLst/>
          </a:prstGeom>
          <a:noFill/>
          <a:ln/>
        </p:spPr>
        <p:txBody>
          <a:bodyPr wrap="squar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Pemahaman tentang algoritma pembelajaran mesin dan aplikasinya</a:t>
            </a:r>
            <a:endParaRPr lang="en-US" sz="1550" dirty="0"/>
          </a:p>
        </p:txBody>
      </p:sp>
      <p:sp>
        <p:nvSpPr>
          <p:cNvPr id="8" name="Text 6"/>
          <p:cNvSpPr/>
          <p:nvPr/>
        </p:nvSpPr>
        <p:spPr>
          <a:xfrm>
            <a:off x="793790" y="492704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Implementasi Praktis (40%)</a:t>
            </a:r>
            <a:endParaRPr lang="en-US" sz="1550" dirty="0"/>
          </a:p>
        </p:txBody>
      </p:sp>
      <p:sp>
        <p:nvSpPr>
          <p:cNvPr id="9" name="Text 7"/>
          <p:cNvSpPr/>
          <p:nvPr/>
        </p:nvSpPr>
        <p:spPr>
          <a:xfrm>
            <a:off x="793790" y="5313998"/>
            <a:ext cx="6279356" cy="635079"/>
          </a:xfrm>
          <a:prstGeom prst="rect">
            <a:avLst/>
          </a:prstGeom>
          <a:noFill/>
          <a:ln/>
        </p:spPr>
        <p:txBody>
          <a:bodyPr wrap="squar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Kemampuan mengimplementasikan model pembelajaran mesin dengan Python</a:t>
            </a:r>
            <a:endParaRPr lang="en-US" sz="1550" dirty="0"/>
          </a:p>
        </p:txBody>
      </p:sp>
      <p:sp>
        <p:nvSpPr>
          <p:cNvPr id="10" name="Text 8"/>
          <p:cNvSpPr/>
          <p:nvPr/>
        </p:nvSpPr>
        <p:spPr>
          <a:xfrm>
            <a:off x="793790" y="6018490"/>
            <a:ext cx="6279356"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Kualitas kode dan dokumentasi</a:t>
            </a:r>
            <a:endParaRPr lang="en-US" sz="1550" dirty="0"/>
          </a:p>
        </p:txBody>
      </p:sp>
      <p:sp>
        <p:nvSpPr>
          <p:cNvPr id="11" name="Text 9"/>
          <p:cNvSpPr/>
          <p:nvPr/>
        </p:nvSpPr>
        <p:spPr>
          <a:xfrm>
            <a:off x="793790" y="6405443"/>
            <a:ext cx="6279356" cy="635079"/>
          </a:xfrm>
          <a:prstGeom prst="rect">
            <a:avLst/>
          </a:prstGeom>
          <a:noFill/>
          <a:ln/>
        </p:spPr>
        <p:txBody>
          <a:bodyPr wrap="squar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Kemampuan mengevaluasi dan menginterpretasi hasil model</a:t>
            </a:r>
            <a:endParaRPr lang="en-US" sz="1550" dirty="0"/>
          </a:p>
        </p:txBody>
      </p:sp>
      <p:sp>
        <p:nvSpPr>
          <p:cNvPr id="12" name="Text 10"/>
          <p:cNvSpPr/>
          <p:nvPr/>
        </p:nvSpPr>
        <p:spPr>
          <a:xfrm>
            <a:off x="7564874" y="221587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Analisis dan Evaluasi (20%)</a:t>
            </a:r>
            <a:endParaRPr lang="en-US" sz="1550" dirty="0"/>
          </a:p>
        </p:txBody>
      </p:sp>
      <p:sp>
        <p:nvSpPr>
          <p:cNvPr id="13" name="Text 11"/>
          <p:cNvSpPr/>
          <p:nvPr/>
        </p:nvSpPr>
        <p:spPr>
          <a:xfrm>
            <a:off x="7564874" y="2602825"/>
            <a:ext cx="6279356"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Kemampuan menganalisis performa model</a:t>
            </a:r>
            <a:endParaRPr lang="en-US" sz="1550" dirty="0"/>
          </a:p>
        </p:txBody>
      </p:sp>
      <p:sp>
        <p:nvSpPr>
          <p:cNvPr id="14" name="Text 12"/>
          <p:cNvSpPr/>
          <p:nvPr/>
        </p:nvSpPr>
        <p:spPr>
          <a:xfrm>
            <a:off x="7564874" y="2989778"/>
            <a:ext cx="6279356" cy="635079"/>
          </a:xfrm>
          <a:prstGeom prst="rect">
            <a:avLst/>
          </a:prstGeom>
          <a:noFill/>
          <a:ln/>
        </p:spPr>
        <p:txBody>
          <a:bodyPr wrap="squar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Kedalaman analisis perbandingan supervised vs unsupervised learning</a:t>
            </a:r>
            <a:endParaRPr lang="en-US" sz="1550" dirty="0"/>
          </a:p>
        </p:txBody>
      </p:sp>
      <p:sp>
        <p:nvSpPr>
          <p:cNvPr id="15" name="Text 13"/>
          <p:cNvSpPr/>
          <p:nvPr/>
        </p:nvSpPr>
        <p:spPr>
          <a:xfrm>
            <a:off x="7564874" y="3694271"/>
            <a:ext cx="6279356" cy="635079"/>
          </a:xfrm>
          <a:prstGeom prst="rect">
            <a:avLst/>
          </a:prstGeom>
          <a:noFill/>
          <a:ln/>
        </p:spPr>
        <p:txBody>
          <a:bodyPr wrap="squar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Kemampuan mengidentifikasi kelebihan dan keterbatasan model</a:t>
            </a:r>
            <a:endParaRPr lang="en-US" sz="1550" dirty="0"/>
          </a:p>
        </p:txBody>
      </p:sp>
      <p:sp>
        <p:nvSpPr>
          <p:cNvPr id="16" name="Text 14"/>
          <p:cNvSpPr/>
          <p:nvPr/>
        </p:nvSpPr>
        <p:spPr>
          <a:xfrm>
            <a:off x="7564874" y="439876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Partisipasi dan Diskusi (10%)</a:t>
            </a:r>
            <a:endParaRPr lang="en-US" sz="1550" dirty="0"/>
          </a:p>
        </p:txBody>
      </p:sp>
      <p:sp>
        <p:nvSpPr>
          <p:cNvPr id="17" name="Text 15"/>
          <p:cNvSpPr/>
          <p:nvPr/>
        </p:nvSpPr>
        <p:spPr>
          <a:xfrm>
            <a:off x="7564874" y="4785717"/>
            <a:ext cx="6279356"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Keaktifan dalam diskusi kelas</a:t>
            </a:r>
            <a:endParaRPr lang="en-US" sz="1550" dirty="0"/>
          </a:p>
        </p:txBody>
      </p:sp>
      <p:sp>
        <p:nvSpPr>
          <p:cNvPr id="18" name="Text 16"/>
          <p:cNvSpPr/>
          <p:nvPr/>
        </p:nvSpPr>
        <p:spPr>
          <a:xfrm>
            <a:off x="7564874" y="5172670"/>
            <a:ext cx="6279356"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Kualitas pertanyaan dan tanggapan</a:t>
            </a:r>
            <a:endParaRPr lang="en-US" sz="1550" dirty="0"/>
          </a:p>
        </p:txBody>
      </p:sp>
      <p:sp>
        <p:nvSpPr>
          <p:cNvPr id="19" name="Text 17"/>
          <p:cNvSpPr/>
          <p:nvPr/>
        </p:nvSpPr>
        <p:spPr>
          <a:xfrm>
            <a:off x="7564874" y="5559623"/>
            <a:ext cx="6279356"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Kontribusi dalam studi kasus kelompok</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77569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Referensi</a:t>
            </a:r>
            <a:endParaRPr lang="en-US" sz="3900" dirty="0"/>
          </a:p>
        </p:txBody>
      </p:sp>
      <p:sp>
        <p:nvSpPr>
          <p:cNvPr id="3" name="Text 1"/>
          <p:cNvSpPr/>
          <p:nvPr/>
        </p:nvSpPr>
        <p:spPr>
          <a:xfrm>
            <a:off x="793790" y="2792611"/>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Goodfellow, I., Bengio, Y., &amp; Courville, A. (2016).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Deep Learning</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MIT Press.</a:t>
            </a:r>
            <a:endParaRPr lang="en-US" sz="1550" dirty="0"/>
          </a:p>
        </p:txBody>
      </p:sp>
      <p:sp>
        <p:nvSpPr>
          <p:cNvPr id="4" name="Text 2"/>
          <p:cNvSpPr/>
          <p:nvPr/>
        </p:nvSpPr>
        <p:spPr>
          <a:xfrm>
            <a:off x="793790" y="3179564"/>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Bishop, C. M. (2006).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Pattern Recognition and Machine Learning</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Springer.</a:t>
            </a:r>
            <a:endParaRPr lang="en-US" sz="1550" dirty="0"/>
          </a:p>
        </p:txBody>
      </p:sp>
      <p:sp>
        <p:nvSpPr>
          <p:cNvPr id="5" name="Text 3"/>
          <p:cNvSpPr/>
          <p:nvPr/>
        </p:nvSpPr>
        <p:spPr>
          <a:xfrm>
            <a:off x="793790" y="3566517"/>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Szeliski, R. (2022).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Computer Vision: Algorithms and Applications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(2nd ed.). Springer.</a:t>
            </a:r>
            <a:endParaRPr lang="en-US" sz="1550" dirty="0"/>
          </a:p>
        </p:txBody>
      </p:sp>
      <p:sp>
        <p:nvSpPr>
          <p:cNvPr id="6" name="Text 4"/>
          <p:cNvSpPr/>
          <p:nvPr/>
        </p:nvSpPr>
        <p:spPr>
          <a:xfrm>
            <a:off x="793790" y="3953470"/>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Géron, A. (2019).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Hands-On Machine Learning with Scikit-Learn, Keras, and TensorFlow</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(2nd ed.). O'Reilly Media.</a:t>
            </a:r>
            <a:endParaRPr lang="en-US" sz="1550" dirty="0"/>
          </a:p>
        </p:txBody>
      </p:sp>
      <p:sp>
        <p:nvSpPr>
          <p:cNvPr id="7" name="Text 5"/>
          <p:cNvSpPr/>
          <p:nvPr/>
        </p:nvSpPr>
        <p:spPr>
          <a:xfrm>
            <a:off x="793790" y="4340423"/>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LeCun, Y., Bengio, Y., &amp; Hinton, G. (2015). Deep learning.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Nature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521(7553), 436-444.</a:t>
            </a:r>
            <a:endParaRPr lang="en-US" sz="1550" dirty="0"/>
          </a:p>
        </p:txBody>
      </p:sp>
      <p:sp>
        <p:nvSpPr>
          <p:cNvPr id="8" name="Text 6"/>
          <p:cNvSpPr/>
          <p:nvPr/>
        </p:nvSpPr>
        <p:spPr>
          <a:xfrm>
            <a:off x="793790" y="4727377"/>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Scikit-learn: Machine Learning in Python, Pedregosa et al., JMLR 12, pp. 2825-2830, 2011.</a:t>
            </a:r>
            <a:endParaRPr lang="en-US" sz="1550" dirty="0"/>
          </a:p>
        </p:txBody>
      </p:sp>
      <p:sp>
        <p:nvSpPr>
          <p:cNvPr id="9" name="Text 7"/>
          <p:cNvSpPr/>
          <p:nvPr/>
        </p:nvSpPr>
        <p:spPr>
          <a:xfrm>
            <a:off x="793790" y="5114330"/>
            <a:ext cx="13042821"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Krizhevsky, A., Sutskever, I., &amp; Hinton, G. E. (2012). ImageNet classification with deep convolutional neural networks.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Advances in neural information processing systems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25.</a:t>
            </a:r>
            <a:endParaRPr lang="en-US" sz="1550" dirty="0"/>
          </a:p>
        </p:txBody>
      </p:sp>
      <p:sp>
        <p:nvSpPr>
          <p:cNvPr id="10" name="Text 8"/>
          <p:cNvSpPr/>
          <p:nvPr/>
        </p:nvSpPr>
        <p:spPr>
          <a:xfrm>
            <a:off x="793790" y="5818823"/>
            <a:ext cx="13042821"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He, K., Zhang, X., Ren, S., &amp; Sun, J. (2016). Deep residual learning for image recognition.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Proceedings of the IEEE conference on computer vision and pattern recognition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770-778.</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2025-08-13T07:09:05Z</dcterms:created>
  <dcterms:modified xsi:type="dcterms:W3CDTF">2025-08-13T07:09:05Z</dcterms:modified>
</cp:coreProperties>
</file>