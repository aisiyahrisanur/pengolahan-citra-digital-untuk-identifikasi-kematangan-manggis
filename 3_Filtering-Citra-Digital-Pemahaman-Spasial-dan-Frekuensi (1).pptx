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4630400" cy="8229600"/>
  <p:notesSz cx="8229600" cy="14630400"/>
  <p:embeddedFontLst>
    <p:embeddedFont>
      <p:font typeface="Kanit Light"/>
      <p:regular r:id="rId32"/>
    </p:embeddedFont>
    <p:embeddedFont>
      <p:font typeface="Kanit Light"/>
      <p:regular r:id="rId33"/>
    </p:embeddedFont>
    <p:embeddedFont>
      <p:font typeface="Kanit Light"/>
      <p:regular r:id="rId34"/>
    </p:embeddedFont>
    <p:embeddedFont>
      <p:font typeface="Kanit Light"/>
      <p:regular r:id="rId35"/>
    </p:embeddedFont>
    <p:embeddedFont>
      <p:font typeface="Martel Sans"/>
      <p:regular r:id="rId36"/>
    </p:embeddedFont>
    <p:embeddedFont>
      <p:font typeface="Martel Sans"/>
      <p:regular r:id="rId3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font" Target="fonts/font1.fntdata"/><Relationship Id="rId33" Type="http://schemas.openxmlformats.org/officeDocument/2006/relationships/font" Target="fonts/font2.fntdata"/><Relationship Id="rId34" Type="http://schemas.openxmlformats.org/officeDocument/2006/relationships/font" Target="fonts/font3.fntdata"/><Relationship Id="rId35" Type="http://schemas.openxmlformats.org/officeDocument/2006/relationships/font" Target="fonts/font4.fntdata"/><Relationship Id="rId36" Type="http://schemas.openxmlformats.org/officeDocument/2006/relationships/font" Target="fonts/font5.fntdata"/><Relationship Id="rId37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5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opencv.org/" TargetMode="External"/><Relationship Id="rId2" Type="http://schemas.openxmlformats.org/officeDocument/2006/relationships/hyperlink" Target="https://docs.scipy.org/" TargetMode="External"/><Relationship Id="rId3" Type="http://schemas.openxmlformats.org/officeDocument/2006/relationships/hyperlink" Target="https://www.pyimagesearch.com/" TargetMode="External"/><Relationship Id="rId4" Type="http://schemas.openxmlformats.org/officeDocument/2006/relationships/hyperlink" Target="https://numpy.org/doc/" TargetMode="External"/><Relationship Id="rId5" Type="http://schemas.openxmlformats.org/officeDocument/2006/relationships/hyperlink" Target="https://matplotlib.org/" TargetMode="External"/><Relationship Id="rId6" Type="http://schemas.openxmlformats.org/officeDocument/2006/relationships/slideLayout" Target="../slideLayouts/slideLayout26.xml"/><Relationship Id="rId7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06792"/>
            <a:ext cx="1223867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Filtering Citra Digital: Pemahaman Spasial dan Frekuensi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92370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Pertemuan 3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446448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Program Studi Teknik Informatika S-2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500526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Matakuliah: Advanced Computer Vision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5216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Agenda Perkuliahan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1792129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204" y="1829336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438632" y="1860352"/>
            <a:ext cx="372737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Pendahuluan Filtering Citra Digital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38632" y="2289572"/>
            <a:ext cx="123979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Pengenalan konsep dasar dan pentingnya filtering dalam pemrosesan citra digital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93790" y="3003947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204" y="3041154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438632" y="307217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Filtering Spasial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38632" y="3501390"/>
            <a:ext cx="123979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Konsep, jenis, dan implementasi filtering spasial dengan Python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93790" y="4215765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204" y="4252972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438632" y="428398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Filtering Frekuensi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438632" y="4713208"/>
            <a:ext cx="123979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Transformasi Fourier dan implementasi filtering berbasis frekuensi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93790" y="5427583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204" y="5464790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438632" y="5495806"/>
            <a:ext cx="393346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Analisis Komparatif dan Studi Kasus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438632" y="5925026"/>
            <a:ext cx="123979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Perbandingan metode filtering dan penerapannya dalam kasus nyata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93790" y="6639401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204" y="6676608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5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438632" y="6707624"/>
            <a:ext cx="251876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Praktikum dan Evaluasi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438632" y="7136844"/>
            <a:ext cx="123979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Implementasi dengan Python dan diskusi hasil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0369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Capaian Pembelajaran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017282"/>
            <a:ext cx="6422231" cy="1506736"/>
          </a:xfrm>
          <a:prstGeom prst="roundRect">
            <a:avLst>
              <a:gd name="adj" fmla="val 7282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0930" y="3017282"/>
            <a:ext cx="91440" cy="1506736"/>
          </a:xfrm>
          <a:prstGeom prst="roundRect">
            <a:avLst>
              <a:gd name="adj" fmla="val 91163"/>
            </a:avLst>
          </a:prstGeom>
          <a:solidFill>
            <a:srgbClr val="437066"/>
          </a:solidFill>
          <a:ln/>
        </p:spPr>
      </p:sp>
      <p:sp>
        <p:nvSpPr>
          <p:cNvPr id="5" name="Text 3"/>
          <p:cNvSpPr/>
          <p:nvPr/>
        </p:nvSpPr>
        <p:spPr>
          <a:xfrm>
            <a:off x="1083588" y="3238500"/>
            <a:ext cx="265890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Pemahaman Konseptual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83588" y="3667720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Mahasiswa mampu memahami konsep filtering citra digital, baik secara spasial maupun frekuensi dengan komprehensif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14379" y="3017282"/>
            <a:ext cx="6422231" cy="1506736"/>
          </a:xfrm>
          <a:prstGeom prst="roundRect">
            <a:avLst>
              <a:gd name="adj" fmla="val 7282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1519" y="3017282"/>
            <a:ext cx="91440" cy="1506736"/>
          </a:xfrm>
          <a:prstGeom prst="roundRect">
            <a:avLst>
              <a:gd name="adj" fmla="val 91163"/>
            </a:avLst>
          </a:prstGeom>
          <a:solidFill>
            <a:srgbClr val="437066"/>
          </a:solidFill>
          <a:ln/>
        </p:spPr>
      </p:sp>
      <p:sp>
        <p:nvSpPr>
          <p:cNvPr id="9" name="Text 7"/>
          <p:cNvSpPr/>
          <p:nvPr/>
        </p:nvSpPr>
        <p:spPr>
          <a:xfrm>
            <a:off x="7704177" y="32385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Kemampuan Teknis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704177" y="3667720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Mahasiswa dapat membuat program Python sederhana untuk melakukan filtering berbasis spasial dan frekuensi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93790" y="4722376"/>
            <a:ext cx="6422231" cy="1506736"/>
          </a:xfrm>
          <a:prstGeom prst="roundRect">
            <a:avLst>
              <a:gd name="adj" fmla="val 7282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0930" y="4722376"/>
            <a:ext cx="91440" cy="1506736"/>
          </a:xfrm>
          <a:prstGeom prst="roundRect">
            <a:avLst>
              <a:gd name="adj" fmla="val 91163"/>
            </a:avLst>
          </a:prstGeom>
          <a:solidFill>
            <a:srgbClr val="437066"/>
          </a:solidFill>
          <a:ln/>
        </p:spPr>
      </p:sp>
      <p:sp>
        <p:nvSpPr>
          <p:cNvPr id="13" name="Text 11"/>
          <p:cNvSpPr/>
          <p:nvPr/>
        </p:nvSpPr>
        <p:spPr>
          <a:xfrm>
            <a:off x="1083588" y="494359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Analisis Komparatif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83588" y="5372814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Mahasiswa mampu membandingkan dan menganalisis hasil berbagai jenis filter untuk aplikasi tertentu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414379" y="4722376"/>
            <a:ext cx="6422231" cy="1506736"/>
          </a:xfrm>
          <a:prstGeom prst="roundRect">
            <a:avLst>
              <a:gd name="adj" fmla="val 7282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1519" y="4722376"/>
            <a:ext cx="91440" cy="1506736"/>
          </a:xfrm>
          <a:prstGeom prst="roundRect">
            <a:avLst>
              <a:gd name="adj" fmla="val 91163"/>
            </a:avLst>
          </a:prstGeom>
          <a:solidFill>
            <a:srgbClr val="437066"/>
          </a:solidFill>
          <a:ln/>
        </p:spPr>
      </p:sp>
      <p:sp>
        <p:nvSpPr>
          <p:cNvPr id="17" name="Text 15"/>
          <p:cNvSpPr/>
          <p:nvPr/>
        </p:nvSpPr>
        <p:spPr>
          <a:xfrm>
            <a:off x="7704177" y="494359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Implementasi Praktis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704177" y="5372814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Mahasiswa dapat menerapkan pengetahuan filtering untuk meningkatkan kualitas citra dalam konteks nyata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76087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Metode Pembelajaran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217063"/>
            <a:ext cx="496133" cy="4961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96120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Ceramah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793790" y="3469719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Penyampaian materi secara terstruktur dengan pendekatan teoritis dan konseptual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501634"/>
            <a:ext cx="496133" cy="4961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3790" y="524577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Tanya Jawab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793790" y="5754291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Interaksi dua arah untuk memperdalam pemahaman dan mengklarifikasi konsep yang belum jelas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4874" y="2217063"/>
            <a:ext cx="496133" cy="4961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564874" y="296120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Diskusi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7564874" y="3469719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Pertukaran ide dan pendapat untuk mengeksplorasi topik secara kolaboratif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4874" y="4501634"/>
            <a:ext cx="496133" cy="49613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64874" y="524577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Studi Kasus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7564874" y="5754291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Analisis contoh aplikasi filtering pada kasus nyata untuk memperkuat pemahaman praktis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793790" y="683585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Durasi: 3 x 50 menit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21456"/>
            <a:ext cx="754225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Pendahuluan: Filtering Citra Digital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13836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Filtering citra digital merupakan teknik pemrosesan yang bertujuan untuk memodifikasi atau meningkatkan citra dengan menekankan atau menekan informasi tertentu pada domain spasial atau frekuensi.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996690"/>
            <a:ext cx="4215289" cy="2111335"/>
          </a:xfrm>
          <a:prstGeom prst="roundRect">
            <a:avLst>
              <a:gd name="adj" fmla="val 394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9768" y="420266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Definisi Filtering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99768" y="4631888"/>
            <a:ext cx="380333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Proses manipulasi nilai piksel pada citra berdasarkan nilai piksel itu sendiri dan nilai piksel tetangganya menggunakan fungsi matematika tertentu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07437" y="3996690"/>
            <a:ext cx="4215408" cy="2111335"/>
          </a:xfrm>
          <a:prstGeom prst="roundRect">
            <a:avLst>
              <a:gd name="adj" fmla="val 394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13415" y="420266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Tujuan Filtering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413415" y="4631888"/>
            <a:ext cx="380345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Menghilangkan noise, menghaluskan citra, mendeteksi tepi, meningkatkan kontras, dan memodifikasi karakteristik citra lainnya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621203" y="3996690"/>
            <a:ext cx="4215289" cy="2111335"/>
          </a:xfrm>
          <a:prstGeom prst="roundRect">
            <a:avLst>
              <a:gd name="adj" fmla="val 394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27181" y="420266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Domain Filtering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827181" y="4631888"/>
            <a:ext cx="380333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Dapat dilakukan pada domain spasial (langsung pada piksel) atau domain frekuensi (setelah transformasi Fourier)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47505"/>
            <a:ext cx="655546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Konsep Dasar Filtering Spasial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96441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Filtering spasial melibatkan manipulasi langsung pada nilai piksel citra berdasarkan hubungan spasial dengan piksel-piksel tetangganya.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505200"/>
            <a:ext cx="4215289" cy="2776895"/>
          </a:xfrm>
          <a:prstGeom prst="roundRect">
            <a:avLst>
              <a:gd name="adj" fmla="val 3002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008" y="372641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Konvolusi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15008" y="4155638"/>
            <a:ext cx="3772853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Operasi matematika yang mengkombinasikan dua fungsi untuk menghasilkan fungsi ketiga yang merepresentasikan bagaimana bentuk satu fungsi dimodifikasi oleh fungsi lainnya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07437" y="3505200"/>
            <a:ext cx="4215408" cy="2776895"/>
          </a:xfrm>
          <a:prstGeom prst="roundRect">
            <a:avLst>
              <a:gd name="adj" fmla="val 3002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28655" y="372641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Kernel/Mask/Filter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428655" y="4155638"/>
            <a:ext cx="377297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Matriks kecil yang digunakan untuk melakukan konvolusi pada citra, dengan ukuran umum 3x3, 5x5, atau 7x7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621203" y="3505200"/>
            <a:ext cx="4215289" cy="2776895"/>
          </a:xfrm>
          <a:prstGeom prst="roundRect">
            <a:avLst>
              <a:gd name="adj" fmla="val 3002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42421" y="372641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Padding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842421" y="4155638"/>
            <a:ext cx="377285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Teknik untuk menangani piksel tepi saat melakukan konvolusi, dengan menambahkan nilai tertentu (biasanya 0) di sekitar tepi citra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85411"/>
            <a:ext cx="891611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Konsep Konvolusi dalam Filtering Spasial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481739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Konvolusi adalah operasi fundamental dalam filtering spasial yang melibatkan kernel dan citra input. Proses ini dapat direpresentasikan dengan persamaan matematika berikut: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685461"/>
            <a:ext cx="6279356" cy="86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685461"/>
            <a:ext cx="6279356" cy="863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4800124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Dimana: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3790" y="529625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g(x,y) adalah nilai piksel hasil pada koordinat (x,y)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93790" y="5683210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h(s,t) adalah nilai kernel pada posisi (s,t)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93790" y="607016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f(x-s, y-t) adalah nilai piksel input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93790" y="645711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dan b menentukan ukuran kernel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564874" y="2481739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Langkah-langkah konvolusi: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564874" y="2977872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Kernel diposisikan dengan pusat pada piksel yang sedang diproses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564874" y="3682365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2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Nilai setiap piksel yang tertutup kernel dikalikan dengan nilai kernel yang sesuai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564874" y="4386858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3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Hasil perkalian dijumlahkan untuk mendapatkan nilai piksel baru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7564874" y="5091351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4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Proses diulang untuk setiap piksel dalam citra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10734"/>
            <a:ext cx="536328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Jenis-Jenis Filter Spasial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127647"/>
            <a:ext cx="4347567" cy="7937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2148" y="3119795"/>
            <a:ext cx="3950851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Low-Pass Filter (Smoothing/Blurring)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992148" y="3859173"/>
            <a:ext cx="395085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Menekan komponen frekuensi tinggi (detail) dan meneruskan komponen frekuensi rendah. Contoh: Average Filter, Gaussian Filter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992148" y="5352574"/>
            <a:ext cx="3950851" cy="1567815"/>
          </a:xfrm>
          <a:prstGeom prst="roundRect">
            <a:avLst>
              <a:gd name="adj" fmla="val 5317"/>
            </a:avLst>
          </a:prstGeom>
          <a:solidFill>
            <a:srgbClr val="F2F2F2"/>
          </a:solidFill>
          <a:ln/>
        </p:spPr>
      </p:sp>
      <p:sp>
        <p:nvSpPr>
          <p:cNvPr id="7" name="Shape 4"/>
          <p:cNvSpPr/>
          <p:nvPr/>
        </p:nvSpPr>
        <p:spPr>
          <a:xfrm>
            <a:off x="982266" y="5352574"/>
            <a:ext cx="3970615" cy="1567815"/>
          </a:xfrm>
          <a:prstGeom prst="roundRect">
            <a:avLst>
              <a:gd name="adj" fmla="val 1899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1180624" y="5501402"/>
            <a:ext cx="3573899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Gaussian 3x3:[[1/16, 1/8, 1/16], [1/8,  1/4, 1/8], [1/16, 1/8, 1/16]]</a:t>
            </a:r>
            <a:endParaRPr lang="en-US" sz="15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57" y="2127647"/>
            <a:ext cx="4347567" cy="7937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39715" y="3119795"/>
            <a:ext cx="3950851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High-Pass Filter (Sharpening/Edge Detection)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5339715" y="3859173"/>
            <a:ext cx="395085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Menekan komponen frekuensi rendah dan meneruskan komponen frekuensi tinggi. Contoh: Sobel, Prewitt, Laplacian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5339715" y="5035034"/>
            <a:ext cx="3950851" cy="1567815"/>
          </a:xfrm>
          <a:prstGeom prst="roundRect">
            <a:avLst>
              <a:gd name="adj" fmla="val 5317"/>
            </a:avLst>
          </a:prstGeom>
          <a:solidFill>
            <a:srgbClr val="F2F2F2"/>
          </a:solidFill>
          <a:ln/>
        </p:spPr>
      </p:sp>
      <p:sp>
        <p:nvSpPr>
          <p:cNvPr id="13" name="Shape 9"/>
          <p:cNvSpPr/>
          <p:nvPr/>
        </p:nvSpPr>
        <p:spPr>
          <a:xfrm>
            <a:off x="5329833" y="5035034"/>
            <a:ext cx="3970615" cy="1567815"/>
          </a:xfrm>
          <a:prstGeom prst="roundRect">
            <a:avLst>
              <a:gd name="adj" fmla="val 1899"/>
            </a:avLst>
          </a:prstGeom>
          <a:solidFill>
            <a:srgbClr val="F2F2F2"/>
          </a:solidFill>
          <a:ln/>
        </p:spPr>
      </p:sp>
      <p:sp>
        <p:nvSpPr>
          <p:cNvPr id="14" name="Text 10"/>
          <p:cNvSpPr/>
          <p:nvPr/>
        </p:nvSpPr>
        <p:spPr>
          <a:xfrm>
            <a:off x="5528191" y="5183862"/>
            <a:ext cx="3573899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Sobel-x:[[-1, 0, 1], [-2, 0, 2], [-1, 0, 1]]</a:t>
            </a:r>
            <a:endParaRPr lang="en-US" sz="15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924" y="2127647"/>
            <a:ext cx="4347567" cy="79379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87282" y="311979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Band-Pass Filter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9687282" y="3549015"/>
            <a:ext cx="395085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Meneruskan rentang frekuensi tertentu dan menekan frekuensi di luar rentang tersebut. Berguna untuk isolasi fitur tertentu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2713" y="518517"/>
            <a:ext cx="8877419" cy="558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Implementasi Low-Pass Filter dengan Python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752713" y="1434703"/>
            <a:ext cx="13124974" cy="6276380"/>
          </a:xfrm>
          <a:prstGeom prst="roundRect">
            <a:avLst>
              <a:gd name="adj" fmla="val 1196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743783" y="1434703"/>
            <a:ext cx="13142833" cy="6276380"/>
          </a:xfrm>
          <a:prstGeom prst="roundRect">
            <a:avLst>
              <a:gd name="adj" fmla="val 427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22496" y="1568768"/>
            <a:ext cx="12785408" cy="6008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cv2import numpy as npimport matplotlib.pyplot as plt# Membaca citraimg = cv2.imread('gambar.jpg', 0) # Membaca sebagai grayscale# Implementasi Average Filterkernel_size = 5average_kernel = np.ones((kernel_size, kernel_size), np.float32) / (kernel_size**2)average_filtered = cv2.filter2D(img, -1, average_kernel)# Implementasi Gaussian Filtergaussian_filtered = cv2.GaussianBlur(img, (5, 5), 0)# Menampilkan hasilplt.figure(figsize=(15, 5))plt.subplot(131), plt.imshow(img, cmap='gray'), plt.title('Citra Asli')plt.subplot(132), plt.imshow(average_filtered, cmap='gray'), plt.title('Average Filter')plt.subplot(133), plt.imshow(gaussian_filtered, cmap='gray'), plt.title('Gaussian Filter')plt.show()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2713" y="518517"/>
            <a:ext cx="8992314" cy="558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Implementasi High-Pass Filter dengan Python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752713" y="1434703"/>
            <a:ext cx="13124974" cy="6276380"/>
          </a:xfrm>
          <a:prstGeom prst="roundRect">
            <a:avLst>
              <a:gd name="adj" fmla="val 1196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743783" y="1434703"/>
            <a:ext cx="13142833" cy="6276380"/>
          </a:xfrm>
          <a:prstGeom prst="roundRect">
            <a:avLst>
              <a:gd name="adj" fmla="val 427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22496" y="1568768"/>
            <a:ext cx="12785408" cy="6008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cv2import numpy as npimport matplotlib.pyplot as plt# Membaca citraimg = cv2.imread('gambar.jpg', 0) # Membaca sebagai grayscale# Implementasi Sobel Filtersobel_x = cv2.Sobel(img, cv2.CV_64F, 1, 0, ksize=3)sobel_y = cv2.Sobel(img, cv2.CV_64F, 0, 1, ksize=3)sobel_combined = cv2.magnitude(sobel_x, sobel_y)# Implementasi Laplacian Filterlaplacian = cv2.Laplacian(img, cv2.CV_64F)# Menampilkan hasilplt.figure(figsize=(15, 5))plt.subplot(131), plt.imshow(img, cmap='gray'), plt.title('Citra Asli')plt.subplot(132), plt.imshow(sobel_combined, cmap='gray'), plt.title('Sobel Filter')plt.subplot(133), plt.imshow(np.abs(laplacian), cmap='gray'), plt.title('Laplacian Filter')plt.show()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73687"/>
            <a:ext cx="568773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Analisis Efek Filter Spasial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989778"/>
            <a:ext cx="327350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Efek Low-Pass Filter (Blurring)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3498294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Mengurangi noise acak dalam citra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388524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Menghaluskan tepi dan detail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4272201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Mengurangi variasi intensitas antar piksel tetangga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4659154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Memberikan efek "kabur" pada citra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504610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Mengaburkan informasi tekstur halus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93790" y="5542240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Kasus penggunaan: Pra-pemrosesan untuk pengenalan objek, pengurangan noise, peningkatan hasil segmentasi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64874" y="2989778"/>
            <a:ext cx="412242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Efek High-Pass Filter (Edge Detection)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564874" y="3498294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Menekankan area dengan perubahan intensitas yang cepat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564874" y="388524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Mendeteksi tepi dan kontur objek dalam citra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564874" y="4272201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Meningkatkan detail dan tekstur halus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564874" y="4659154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Memperjelas batas antar objek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564874" y="504610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Meningkatkan noise dalam citra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564874" y="5542240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Kasus penggunaan: Deteksi fitur, segmentasi objek, analisis struktur, pengenalan pola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2377"/>
            <a:ext cx="581525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Filtering Domain Frekuensi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939290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Filtering pada domain frekuensi melibatkan transformasi citra dari domain spasial ke domain frekuensi, lalu menerapkan filter, dan akhirnya mentransformasi kembali ke domain spasial.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797612"/>
            <a:ext cx="6521410" cy="7937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92148" y="3789759"/>
            <a:ext cx="305002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Citra Input (Domain Spasial)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92148" y="4218980"/>
            <a:ext cx="61246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Citra asli dengan nilai piksel dalam koordinat x, y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797612"/>
            <a:ext cx="6521410" cy="7937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13558" y="378975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Transformasi Fourier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7513558" y="4218980"/>
            <a:ext cx="612469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Mengubah representasi citra dari domain spasial ke domain frekuensi menggunakan DFT/FFT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052417"/>
            <a:ext cx="6521410" cy="79379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92148" y="604456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Filtering Frekuensi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992148" y="6473785"/>
            <a:ext cx="612469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Menerapkan filter (mask) pada domain frekuensi untuk memodifikasi komponen frekuensi</a:t>
            </a:r>
            <a:endParaRPr lang="en-US" sz="15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5052417"/>
            <a:ext cx="6521410" cy="79379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13558" y="6044565"/>
            <a:ext cx="306764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Inverse Transformasi Fourier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7513558" y="6473785"/>
            <a:ext cx="612469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Mengubah kembali representasi citra dari domain frekuensi ke domain spasial menggunakan IDFT/IFFT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07319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Transformasi Fourier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424232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Transformasi Fourier mengubah representasi citra dari domain spasial ke domain frekuensi, memungkinkan analisis komponen frekuensi yang membentuk citra.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480911"/>
            <a:ext cx="35071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Discrete Fourier Transform (DFT)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4042172"/>
            <a:ext cx="6279356" cy="873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endParaRPr lang="en-US" sz="1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4042172"/>
            <a:ext cx="6279356" cy="8730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3790" y="5166360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Inverse DFT: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93790" y="5735003"/>
            <a:ext cx="6279356" cy="83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endParaRPr lang="en-US" sz="1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5735003"/>
            <a:ext cx="6279356" cy="836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64874" y="3480911"/>
            <a:ext cx="337768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Karakteristik Domain Frekuensi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7564874" y="3989427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Komponen frekuensi rendah merepresentasikan variasi intensitas yang lambat (area homogen)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7564874" y="4693920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Komponen frekuensi tinggi merepresentasikan variasi intensitas yang cepat (tepi, detail, noise)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564874" y="5398413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Komponen DC (u=0, v=0) merepresentasikan nilai rata-rata intensitas citra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7564874" y="6102906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Simetri spektrum frekuensi untuk citra real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11235"/>
            <a:ext cx="587335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Jenis-Jenis Filter Frekuensi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328148"/>
            <a:ext cx="6422231" cy="2568297"/>
          </a:xfrm>
          <a:prstGeom prst="roundRect">
            <a:avLst>
              <a:gd name="adj" fmla="val 4272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0930" y="2328148"/>
            <a:ext cx="91440" cy="2568297"/>
          </a:xfrm>
          <a:prstGeom prst="roundRect">
            <a:avLst>
              <a:gd name="adj" fmla="val 91163"/>
            </a:avLst>
          </a:prstGeom>
          <a:solidFill>
            <a:srgbClr val="437066"/>
          </a:solidFill>
          <a:ln/>
        </p:spPr>
      </p:sp>
      <p:sp>
        <p:nvSpPr>
          <p:cNvPr id="5" name="Text 3"/>
          <p:cNvSpPr/>
          <p:nvPr/>
        </p:nvSpPr>
        <p:spPr>
          <a:xfrm>
            <a:off x="1083588" y="254936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Ideal Low-Pass Filter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83588" y="2978587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Memotong semua komponen frekuensi di atas frekuensi cutoff D₀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83588" y="3864769"/>
            <a:ext cx="5911215" cy="810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endParaRPr lang="en-US" sz="17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88" y="3864769"/>
            <a:ext cx="5911215" cy="81045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14379" y="2328148"/>
            <a:ext cx="6422231" cy="2568297"/>
          </a:xfrm>
          <a:prstGeom prst="roundRect">
            <a:avLst>
              <a:gd name="adj" fmla="val 4272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91519" y="2328148"/>
            <a:ext cx="91440" cy="2568297"/>
          </a:xfrm>
          <a:prstGeom prst="roundRect">
            <a:avLst>
              <a:gd name="adj" fmla="val 91163"/>
            </a:avLst>
          </a:prstGeom>
          <a:solidFill>
            <a:srgbClr val="437066"/>
          </a:solidFill>
          <a:ln/>
        </p:spPr>
      </p:sp>
      <p:sp>
        <p:nvSpPr>
          <p:cNvPr id="11" name="Text 8"/>
          <p:cNvSpPr/>
          <p:nvPr/>
        </p:nvSpPr>
        <p:spPr>
          <a:xfrm>
            <a:off x="7704177" y="2549366"/>
            <a:ext cx="302525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Butterworth Low-Pass Filter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7704177" y="2978587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Transisi halus antara frekuensi yang dipertahankan dan ditolak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704177" y="3864769"/>
            <a:ext cx="5911215" cy="609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endParaRPr lang="en-US" sz="17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4177" y="3864769"/>
            <a:ext cx="5911215" cy="60983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93790" y="5094803"/>
            <a:ext cx="6422231" cy="1823442"/>
          </a:xfrm>
          <a:prstGeom prst="roundRect">
            <a:avLst>
              <a:gd name="adj" fmla="val 6018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0930" y="5094803"/>
            <a:ext cx="91440" cy="1823442"/>
          </a:xfrm>
          <a:prstGeom prst="roundRect">
            <a:avLst>
              <a:gd name="adj" fmla="val 91163"/>
            </a:avLst>
          </a:prstGeom>
          <a:solidFill>
            <a:srgbClr val="437066"/>
          </a:solidFill>
          <a:ln/>
        </p:spPr>
      </p:sp>
      <p:sp>
        <p:nvSpPr>
          <p:cNvPr id="17" name="Text 13"/>
          <p:cNvSpPr/>
          <p:nvPr/>
        </p:nvSpPr>
        <p:spPr>
          <a:xfrm>
            <a:off x="1083588" y="5316022"/>
            <a:ext cx="270652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Gaussian Low-Pass Filter</a:t>
            </a:r>
            <a:endParaRPr lang="en-US" sz="1950" dirty="0"/>
          </a:p>
        </p:txBody>
      </p:sp>
      <p:sp>
        <p:nvSpPr>
          <p:cNvPr id="18" name="Text 14"/>
          <p:cNvSpPr/>
          <p:nvPr/>
        </p:nvSpPr>
        <p:spPr>
          <a:xfrm>
            <a:off x="1083588" y="5745242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Transisi sangat halus dengan kurva Gaussian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1083588" y="6313884"/>
            <a:ext cx="5911215" cy="38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endParaRPr lang="en-US" sz="17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88" y="6313884"/>
            <a:ext cx="5911215" cy="383143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414379" y="5094803"/>
            <a:ext cx="6422231" cy="1823442"/>
          </a:xfrm>
          <a:prstGeom prst="roundRect">
            <a:avLst>
              <a:gd name="adj" fmla="val 6018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391519" y="5094803"/>
            <a:ext cx="91440" cy="1823442"/>
          </a:xfrm>
          <a:prstGeom prst="roundRect">
            <a:avLst>
              <a:gd name="adj" fmla="val 91163"/>
            </a:avLst>
          </a:prstGeom>
          <a:solidFill>
            <a:srgbClr val="437066"/>
          </a:solidFill>
          <a:ln/>
        </p:spPr>
      </p:sp>
      <p:sp>
        <p:nvSpPr>
          <p:cNvPr id="23" name="Text 18"/>
          <p:cNvSpPr/>
          <p:nvPr/>
        </p:nvSpPr>
        <p:spPr>
          <a:xfrm>
            <a:off x="7704177" y="531602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High-Pass Filter</a:t>
            </a:r>
            <a:endParaRPr lang="en-US" sz="1950" dirty="0"/>
          </a:p>
        </p:txBody>
      </p:sp>
      <p:sp>
        <p:nvSpPr>
          <p:cNvPr id="24" name="Text 19"/>
          <p:cNvSpPr/>
          <p:nvPr/>
        </p:nvSpPr>
        <p:spPr>
          <a:xfrm>
            <a:off x="7704177" y="5745242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Kebalikan dari low-pass filter, menekan frekuensi rendah</a:t>
            </a:r>
            <a:endParaRPr lang="en-US" sz="1550" dirty="0"/>
          </a:p>
        </p:txBody>
      </p:sp>
      <p:sp>
        <p:nvSpPr>
          <p:cNvPr id="25" name="Text 20"/>
          <p:cNvSpPr/>
          <p:nvPr/>
        </p:nvSpPr>
        <p:spPr>
          <a:xfrm>
            <a:off x="7704177" y="6313884"/>
            <a:ext cx="5911215" cy="346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endParaRPr lang="en-US" sz="17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4177" y="6313884"/>
            <a:ext cx="5911215" cy="3469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4126"/>
            <a:ext cx="10461665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Implementasi Transformasi Fourier dengan Python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793790" y="1590318"/>
            <a:ext cx="13042821" cy="6015037"/>
          </a:xfrm>
          <a:prstGeom prst="roundRect">
            <a:avLst>
              <a:gd name="adj" fmla="val 1317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784384" y="1590318"/>
            <a:ext cx="13061633" cy="6015037"/>
          </a:xfrm>
          <a:prstGeom prst="roundRect">
            <a:avLst>
              <a:gd name="adj" fmla="val 470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72860" y="1731645"/>
            <a:ext cx="12684681" cy="5732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cv2import numpy as npimport matplotlib.pyplot as plt# Membaca citraimg = cv2.imread('gambar.jpg', 0) # Membaca sebagai grayscale# Menerapkan DFTdft = cv2.dft(np.float32(img), flags=cv2.DFT_COMPLEX_OUTPUT)dft_shift = np.fft.fftshift(dft) # Menggeser komponen frekuensi rendah ke tengah# Menghitung magnituda spektrummagnitude_spectrum = 20 * np.log(cv2.magnitude(dft_shift[:,:,0], dft_shift[:,:,1]))# Menampilkan hasilplt.figure(figsize=(12, 6))plt.subplot(121), plt.imshow(img, cmap='gray'), plt.title('Citra Input')plt.subplot(122), plt.imshow(magnitude_spectrum, cmap='gray'), plt.title('Magnitude Spectrum')plt.show()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165" y="515064"/>
            <a:ext cx="7108984" cy="378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Implementasi Low-Pass Filter pada Domain Frekuensi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746165" y="1136333"/>
            <a:ext cx="13138071" cy="6578203"/>
          </a:xfrm>
          <a:prstGeom prst="roundRect">
            <a:avLst>
              <a:gd name="adj" fmla="val 774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740212" y="1136333"/>
            <a:ext cx="13149977" cy="6578203"/>
          </a:xfrm>
          <a:prstGeom prst="roundRect">
            <a:avLst>
              <a:gd name="adj" fmla="val 277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61417" y="1227177"/>
            <a:ext cx="12907566" cy="6396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cv2import numpy as npimport matplotlib.pyplot as plt# Membaca citraimg = cv2.imread('gambar.jpg', 0) # Membaca sebagai grayscalerows, cols = img.shape# DFTdft = cv2.dft(np.float32(img), flags=cv2.DFT_COMPLEX_OUTPUT)dft_shift = np.fft.fftshift(dft)# Membuat mask low-pass filter (Gaussian)crow, ccol = rows//2, cols//2mask = np.zeros((rows, cols, 2), np.float32)r = 30 # Radius cutoffcenter = [crow, ccol]x, y = np.ogrid[:rows, :cols]mask_area = (x - center[0])**2 + (y - center[1])**2 &lt;= r*rmask[:,:,0] = mask_area.astype(np.float32)mask[:,:,1] = mask_area.astype(np.float32)# Menerapkan mask dan inverse DFTfshift = dft_shift * maskf_ishift = np.fft.ifftshift(fshift)img_back = cv2.idft(f_ishift)img_back = cv2.magnitude(img_back[:,:,0], img_back[:,:,1])# Menampilkan hasilplt.subplot(131), plt.imshow(img, cmap='gray'), plt.title('Citra Input')plt.subplot(132), plt.imshow(mask[:,:,0], cmap='gray'), plt.title('Mask')plt.subplot(133), plt.imshow(img_back, cmap='gray'), plt.title('Hasil Filtering')plt.show()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165" y="515064"/>
            <a:ext cx="7186851" cy="378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Implementasi High-Pass Filter pada Domain Frekuensi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746165" y="1136333"/>
            <a:ext cx="13138071" cy="6578203"/>
          </a:xfrm>
          <a:prstGeom prst="roundRect">
            <a:avLst>
              <a:gd name="adj" fmla="val 774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740212" y="1136333"/>
            <a:ext cx="13149977" cy="6578203"/>
          </a:xfrm>
          <a:prstGeom prst="roundRect">
            <a:avLst>
              <a:gd name="adj" fmla="val 277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61417" y="1227177"/>
            <a:ext cx="12907566" cy="6396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cv2import numpy as npimport matplotlib.pyplot as plt# Membaca citraimg = cv2.imread('gambar.jpg', 0) # Membaca sebagai grayscalerows, cols = img.shape# DFTdft = cv2.dft(np.float32(img), flags=cv2.DFT_COMPLEX_OUTPUT)dft_shift = np.fft.fftshift(dft)# Membuat mask high-pass filter (Gaussian)crow, ccol = rows//2, cols//2mask = np.ones((rows, cols, 2), np.float32)r = 30 # Radius cutoffcenter = [crow, ccol]x, y = np.ogrid[:rows, :cols]mask_area = (x - center[0])**2 + (y - center[1])**2 &lt;= r*rmask[:,:,0] = 1 - mask_area.astype(np.float32) # Invert untuk high-passmask[:,:,1] = 1 - mask_area.astype(np.float32) # Invert untuk high-pass# Menerapkan mask dan inverse DFTfshift = dft_shift * maskf_ishift = np.fft.ifftshift(fshift)img_back = cv2.idft(f_ishift)img_back = cv2.magnitude(img_back[:,:,0], img_back[:,:,1])# Menampilkan hasilplt.subplot(131), plt.imshow(img, cmap='gray'), plt.title('Citra Input')plt.subplot(132), plt.imshow(mask[:,:,0], cmap='gray'), plt.title('Mask')plt.subplot(133), plt.imshow(img_back, cmap='gray'), plt.title('Hasil Filtering')plt.show()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6648"/>
            <a:ext cx="980265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Perbandingan Filtering Spasial dan Frekuensi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1823561"/>
            <a:ext cx="13042821" cy="5599271"/>
          </a:xfrm>
          <a:prstGeom prst="roundRect">
            <a:avLst>
              <a:gd name="adj" fmla="val 148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1831181"/>
            <a:ext cx="1302627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01197" y="1957864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Aspek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346621" y="1957864"/>
            <a:ext cx="3937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Filtering Spasial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688235" y="1957864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Filtering Frekuensi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01410" y="2402086"/>
            <a:ext cx="13026271" cy="8884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01197" y="2528768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Kompleksitas Komputasi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346621" y="2528768"/>
            <a:ext cx="393727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Lebih sederhana dan efisien untuk kernel kecil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688235" y="2528768"/>
            <a:ext cx="394108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Lebih kompleks, memerlukan transformasi FFT dan IFFT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01410" y="3290530"/>
            <a:ext cx="13026271" cy="8884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01197" y="3417213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Jenis Filter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346621" y="3417213"/>
            <a:ext cx="3937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Kernel konvolusi (3x3, 5x5, dst)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688235" y="3417213"/>
            <a:ext cx="394108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Fungsi transfer (ideal, Butterworth, Gaussian)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01410" y="4178975"/>
            <a:ext cx="13026271" cy="8884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01197" y="4305657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Fleksibilitas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346621" y="4305657"/>
            <a:ext cx="3937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Terbatas pada ukuran kernel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688235" y="4305657"/>
            <a:ext cx="394108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Dapat dirancang dengan fleksibilitas tinggi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01410" y="5067419"/>
            <a:ext cx="1302627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01197" y="5194102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Efisiensi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346621" y="5194102"/>
            <a:ext cx="3937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Lebih efisien untuk filter berukuran kecil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688235" y="5194102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Lebih efisien untuk filter berukuran besar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801410" y="5638324"/>
            <a:ext cx="13026271" cy="8884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01197" y="5765006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Interpretasi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5346621" y="5765006"/>
            <a:ext cx="3937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Intuitif, mudah dibayangkan efeknya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688235" y="5765006"/>
            <a:ext cx="394108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Abstrak, memerlukan pemahaman frekuensi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801410" y="6526768"/>
            <a:ext cx="13026271" cy="8884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01197" y="6653451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Penggunaan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5346621" y="6653451"/>
            <a:ext cx="393727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Aplikasi umum, mudah diimplementasikan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9688235" y="6653451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Aplikasi khusus, filtering selektif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55" y="539353"/>
            <a:ext cx="9750266" cy="611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Studi Kasus: Peningkatan Kualitas Citra Medis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782955" y="1640324"/>
            <a:ext cx="2446853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Masalah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82955" y="2141815"/>
            <a:ext cx="6293525" cy="626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Citra MRI atau CT Scan sering memiliki kontras rendah dan noise yang mengganggu interpretasi medis.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82955" y="2963823"/>
            <a:ext cx="2446853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Pendekatan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82955" y="3465314"/>
            <a:ext cx="6293525" cy="626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Gunakan Gaussian filter untuk mengurangi noise acak (filtering spasial)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2955" y="4160044"/>
            <a:ext cx="6293525" cy="626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Font typeface="+mj-lt"/>
              <a:buAutoNum type="arabicPeriod" startAt="2"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Terapkan filtering frekuensi untuk meningkatkan kontras pada struktur anatomi tertentu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2955" y="4854773"/>
            <a:ext cx="6293525" cy="626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Font typeface="+mj-lt"/>
              <a:buAutoNum type="arabicPeriod" startAt="3"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Kombinasikan hasil filtering spasial dan frekuensi untuk mendapatkan citra yang optimal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561540" y="1640324"/>
            <a:ext cx="2446853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Implementasi Python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561540" y="2166223"/>
            <a:ext cx="6293525" cy="5303758"/>
          </a:xfrm>
          <a:prstGeom prst="roundRect">
            <a:avLst>
              <a:gd name="adj" fmla="val 1550"/>
            </a:avLst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7551777" y="2166223"/>
            <a:ext cx="6313051" cy="5303758"/>
          </a:xfrm>
          <a:prstGeom prst="roundRect">
            <a:avLst>
              <a:gd name="adj" fmla="val 554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7747516" y="2313027"/>
            <a:ext cx="5921573" cy="501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cv2import numpy as np# Baca citra medisimg = cv2.imread('citra_medis.jpg', 0)# Langkah 1: Gaussian filteringimg_gauss = cv2.GaussianBlur(img, (5, 5), 0)# Langkah 2: Unsharp maskingalpha = 1.5img_sharp = cv2.addWeighted(img, 1+alpha,  img_gauss, -alpha, 0)# Hasil akhircv2.imwrite('hasil_enhanced.jpg', img_sharp)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8673"/>
            <a:ext cx="9756577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Studi Kasus: Deteksi Tepi untuk Segmentasi Objek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93790" y="1724025"/>
            <a:ext cx="1304282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Deteksi tepi adalah tahap awal yang penting dalam banyak aplikasi segmentasi objek dan pengenalan pola.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93790" y="2478524"/>
            <a:ext cx="6432113" cy="178594"/>
          </a:xfrm>
          <a:prstGeom prst="roundRect">
            <a:avLst>
              <a:gd name="adj" fmla="val 4200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2383" y="2835712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Pra-pemrosesan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972383" y="3221831"/>
            <a:ext cx="607492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Terapkan Gaussian blur untuk mengurangi noise sebelum deteksi tepi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72383" y="3708440"/>
            <a:ext cx="6074926" cy="553641"/>
          </a:xfrm>
          <a:prstGeom prst="roundRect">
            <a:avLst>
              <a:gd name="adj" fmla="val 13551"/>
            </a:avLst>
          </a:prstGeom>
          <a:solidFill>
            <a:srgbClr val="F2F2F2"/>
          </a:solidFill>
          <a:ln/>
        </p:spPr>
      </p:sp>
      <p:sp>
        <p:nvSpPr>
          <p:cNvPr id="8" name="Shape 6"/>
          <p:cNvSpPr/>
          <p:nvPr/>
        </p:nvSpPr>
        <p:spPr>
          <a:xfrm>
            <a:off x="963454" y="3708440"/>
            <a:ext cx="6092785" cy="553641"/>
          </a:xfrm>
          <a:prstGeom prst="roundRect">
            <a:avLst>
              <a:gd name="adj" fmla="val 4840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1142048" y="3842385"/>
            <a:ext cx="573559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img_blur = cv2.GaussianBlur(img, (5, 5), 0)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04497" y="2210633"/>
            <a:ext cx="6432113" cy="178594"/>
          </a:xfrm>
          <a:prstGeom prst="roundRect">
            <a:avLst>
              <a:gd name="adj" fmla="val 4200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3091" y="2567821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Deteksi Tepi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83091" y="2953941"/>
            <a:ext cx="607492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Gunakan operator Sobel atau Canny untuk deteksi tepi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583091" y="3440549"/>
            <a:ext cx="6074926" cy="553641"/>
          </a:xfrm>
          <a:prstGeom prst="roundRect">
            <a:avLst>
              <a:gd name="adj" fmla="val 13551"/>
            </a:avLst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7574161" y="3440549"/>
            <a:ext cx="6092785" cy="553641"/>
          </a:xfrm>
          <a:prstGeom prst="roundRect">
            <a:avLst>
              <a:gd name="adj" fmla="val 4840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7752755" y="3574494"/>
            <a:ext cx="573559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edges = cv2.Canny(img_blur, 100, 200)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3790" y="4887158"/>
            <a:ext cx="6432113" cy="178594"/>
          </a:xfrm>
          <a:prstGeom prst="roundRect">
            <a:avLst>
              <a:gd name="adj" fmla="val 4200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2383" y="5244346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Post-processing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972383" y="5630466"/>
            <a:ext cx="607492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Operasi morfologi untuk menghubungkan tepi yang terputus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72383" y="6117074"/>
            <a:ext cx="6074926" cy="1125141"/>
          </a:xfrm>
          <a:prstGeom prst="roundRect">
            <a:avLst>
              <a:gd name="adj" fmla="val 6668"/>
            </a:avLst>
          </a:prstGeom>
          <a:solidFill>
            <a:srgbClr val="F2F2F2"/>
          </a:solidFill>
          <a:ln/>
        </p:spPr>
      </p:sp>
      <p:sp>
        <p:nvSpPr>
          <p:cNvPr id="20" name="Shape 18"/>
          <p:cNvSpPr/>
          <p:nvPr/>
        </p:nvSpPr>
        <p:spPr>
          <a:xfrm>
            <a:off x="963454" y="6117074"/>
            <a:ext cx="6092785" cy="1125141"/>
          </a:xfrm>
          <a:prstGeom prst="roundRect">
            <a:avLst>
              <a:gd name="adj" fmla="val 2381"/>
            </a:avLst>
          </a:prstGeom>
          <a:solidFill>
            <a:srgbClr val="F2F2F2"/>
          </a:solidFill>
          <a:ln/>
        </p:spPr>
      </p:sp>
      <p:sp>
        <p:nvSpPr>
          <p:cNvPr id="21" name="Text 19"/>
          <p:cNvSpPr/>
          <p:nvPr/>
        </p:nvSpPr>
        <p:spPr>
          <a:xfrm>
            <a:off x="1142048" y="6251019"/>
            <a:ext cx="573559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kernel = np.ones((3,3), np.uint8)edges_closed = cv2.morphologyEx(edges,                 cv2.MORPH_CLOSE, kernel)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404497" y="4619268"/>
            <a:ext cx="6432113" cy="178594"/>
          </a:xfrm>
          <a:prstGeom prst="roundRect">
            <a:avLst>
              <a:gd name="adj" fmla="val 4200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3091" y="4976455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Segmentasi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583091" y="5362575"/>
            <a:ext cx="607492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Gunakan tepi yang terdeteksi untuk segmentasi objek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583091" y="5849183"/>
            <a:ext cx="6074926" cy="1125141"/>
          </a:xfrm>
          <a:prstGeom prst="roundRect">
            <a:avLst>
              <a:gd name="adj" fmla="val 6668"/>
            </a:avLst>
          </a:prstGeom>
          <a:solidFill>
            <a:srgbClr val="F2F2F2"/>
          </a:solidFill>
          <a:ln/>
        </p:spPr>
      </p:sp>
      <p:sp>
        <p:nvSpPr>
          <p:cNvPr id="26" name="Shape 24"/>
          <p:cNvSpPr/>
          <p:nvPr/>
        </p:nvSpPr>
        <p:spPr>
          <a:xfrm>
            <a:off x="7574161" y="5849183"/>
            <a:ext cx="6092785" cy="1125141"/>
          </a:xfrm>
          <a:prstGeom prst="roundRect">
            <a:avLst>
              <a:gd name="adj" fmla="val 2381"/>
            </a:avLst>
          </a:prstGeom>
          <a:solidFill>
            <a:srgbClr val="F2F2F2"/>
          </a:solidFill>
          <a:ln/>
        </p:spPr>
      </p:sp>
      <p:sp>
        <p:nvSpPr>
          <p:cNvPr id="27" name="Text 25"/>
          <p:cNvSpPr/>
          <p:nvPr/>
        </p:nvSpPr>
        <p:spPr>
          <a:xfrm>
            <a:off x="7752755" y="5983129"/>
            <a:ext cx="573559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contours, _ = cv2.findContours(edges_closed,  cv2.RETR_EXTERNAL,  cv2.CHAIN_APPROX_SIMPLE)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83343"/>
            <a:ext cx="1069871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Analisis Komparatif: Low-Pass vs High-Pass Filter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000256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204" y="3037463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438632" y="306847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Low-Pass Filter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38632" y="3497699"/>
            <a:ext cx="353734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Mengurangi noise acak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438632" y="3884652"/>
            <a:ext cx="353734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Menghaluskan citra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38632" y="4271605"/>
            <a:ext cx="353734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Menghilangkan detail halus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438632" y="4658558"/>
            <a:ext cx="353734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Berguna untuk pra-pemrosesan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438632" y="5045512"/>
            <a:ext cx="353734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Menjaga komponen frekuensi rendah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223986" y="3000256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98400" y="3037463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868829" y="306847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Karakteristik Bersama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868829" y="3497699"/>
            <a:ext cx="353746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Dapat diimplementasikan di domain spasial dan frekuensi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868829" y="4202192"/>
            <a:ext cx="353746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Memiliki parameter yang dapat disesuaikan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868829" y="4906685"/>
            <a:ext cx="353746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Digunakan dalam pipeline pemrosesan citra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868829" y="5611177"/>
            <a:ext cx="353746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Memodifikasi distribusi intensitas piksel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9654302" y="3000256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28716" y="3037463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10299144" y="306847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High-Pass Filter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299144" y="3497699"/>
            <a:ext cx="353746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Menekankan tepi dan detail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0299144" y="3884652"/>
            <a:ext cx="353746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Meningkatkan kontras lokal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299144" y="4271605"/>
            <a:ext cx="353746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Dapat meningkatkan noise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0299144" y="4658558"/>
            <a:ext cx="353746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Berguna untuk deteksi fitur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299144" y="5045512"/>
            <a:ext cx="353746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Menjaga komponen frekuensi tinggi</a:t>
            </a: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7231"/>
            <a:ext cx="7261622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Praktikum: Implementasi Filter Bilateral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571625"/>
            <a:ext cx="13042821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Filter bilateral adalah filter non-linear yang dapat mengurangi noise sambil mempertahankan tepi. Filter ini menggabungkan informasi spasial dan intensitas.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93790" y="2221111"/>
            <a:ext cx="6315670" cy="5111353"/>
          </a:xfrm>
          <a:prstGeom prst="roundRect">
            <a:avLst>
              <a:gd name="adj" fmla="val 1386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5455" y="2221111"/>
            <a:ext cx="6332339" cy="5111353"/>
          </a:xfrm>
          <a:prstGeom prst="roundRect">
            <a:avLst>
              <a:gd name="adj" fmla="val 495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54048" y="2347555"/>
            <a:ext cx="5995154" cy="4858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cv2import numpy as npimport matplotlib.pyplot as plt# Membaca citraimg = cv2.imread('gambar.jpg', 0)# Menerapkan bilateral filterbilateral = cv2.bilateralFilter(    img, d=9, sigmaColor=75, sigmaSpace=75)# Menampilkan hasilplt.figure(figsize=(12, 6))plt.subplot(121), plt.imshow(img, cmap='gray'),     plt.title('Citra Asli')plt.subplot(122), plt.imshow(bilateral, cmap='gray'),     plt.title('Bilateral Filter')plt.show()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28560" y="2199918"/>
            <a:ext cx="2308741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Parameter Filter Bilateral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528560" y="2631996"/>
            <a:ext cx="6315670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: Diameter setiap piksel tetangga yang digunakan saat filtering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28560" y="2960846"/>
            <a:ext cx="6315670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sigmaColor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: Filter sigma di domain warna. Nilai lebih besar berarti warna yang lebih jauh akan dicampur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28560" y="3559612"/>
            <a:ext cx="6315670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sigmaSpace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: Filter sigma di domain koordinat. Nilai lebih besar berarti piksel yang lebih jauh akan mempengaruhi satu sama lain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28560" y="4251246"/>
            <a:ext cx="6315670" cy="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Keunggulan filter bilateral adalah kemampuannya untuk menghaluskan area homogen sambil mempertahankan tepi yang tajam, sehingga menghasilkan citra yang terlihat natural.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1387"/>
            <a:ext cx="6907887" cy="403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Praktikum: Fourier Transform untuk Analisis Citra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93790" y="1282541"/>
            <a:ext cx="1304282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Transformasi Fourier dapat digunakan untuk menganalisis frekuensi dominan dalam citra, yang berguna untuk pemahaman karakteristik citra dan perancangan filter yang optimal.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93790" y="1634014"/>
            <a:ext cx="13042821" cy="5974080"/>
          </a:xfrm>
          <a:prstGeom prst="roundRect">
            <a:avLst>
              <a:gd name="adj" fmla="val 907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7360" y="1634014"/>
            <a:ext cx="13055679" cy="5974080"/>
          </a:xfrm>
          <a:prstGeom prst="roundRect">
            <a:avLst>
              <a:gd name="adj" fmla="val 324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16305" y="1730693"/>
            <a:ext cx="12797790" cy="5780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cv2import numpy as npimport matplotlib.pyplot as plt# Membaca citraimg = cv2.imread('gambar.jpg', 0)rows, cols = img.shape# Menerapkan 2D FFTf = np.fft.fft2(img)fshift = np.fft.fftshift(f)magnitude_spectrum = 20 * np.log(np.abs(fshift))# Membuat plot profil frekuensiplt.figure(figsize=(15, 5))plt.subplot(131), plt.imshow(img, cmap='gray'), plt.title('Citra Asli')plt.subplot(132), plt.imshow(magnitude_spectrum, cmap='gray'), plt.title('Magnitude Spectrum')# Plot profil intensitas dari pusatplt.subplot(133)center_row = magnitude_spectrum[rows//2, :]center_col = magnitude_spectrum[:, cols//2]plt.plot(center_row, label='Horizontal Profile')plt.plot(center_col, label='Vertical Profile')plt.legend()plt.title('Profil Frekuensi')plt.xlim([0, cols])plt.show()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3872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Evaluasi dan Penilaian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470785"/>
            <a:ext cx="4215289" cy="4304943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5008" y="269200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Pemahaman Konsep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15008" y="3121223"/>
            <a:ext cx="377285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Ketepatan dalam menjelaskan konsep filtering citra digital, baik spasial maupun frekuensi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15008" y="4192905"/>
            <a:ext cx="377285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Mampu menjelaskan prinsip kerja berbagai jenis filter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15008" y="4897398"/>
            <a:ext cx="377285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Memahami perbedaan dan hubungan antara domain spasial dan frekuensi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15008" y="5919430"/>
            <a:ext cx="377285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Dapat menganalisis efek filter pada citra berdasarkan teori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207437" y="2470785"/>
            <a:ext cx="4215408" cy="4304943"/>
          </a:xfrm>
          <a:prstGeom prst="roundRect">
            <a:avLst>
              <a:gd name="adj" fmla="val 1977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28655" y="269200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Implementasi Praktis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428655" y="3121223"/>
            <a:ext cx="377297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Kemampuan membuat program Python sederhana untuk melakukan filtering citra digital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428655" y="4192905"/>
            <a:ext cx="377297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Kode yang berfungsi dengan benar dan efisien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428655" y="4897398"/>
            <a:ext cx="377297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Mampu menerapkan berbagai jenis filter sesuai kebutuhan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428655" y="5601891"/>
            <a:ext cx="377297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Dapat memvisualisasikan dan menginterpretasikan hasil filtering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9621203" y="2470785"/>
            <a:ext cx="4215289" cy="4304943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42421" y="269200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Analisis Komparatif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842421" y="3121223"/>
            <a:ext cx="377285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Kemampuan membandingkan dan menganalisis hasil berbagai jenis filter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842421" y="3875365"/>
            <a:ext cx="377285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Mengidentifikasi kelebihan dan kekurangan masing-masing filter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842421" y="4579858"/>
            <a:ext cx="377285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Memilih filter yang tepat untuk aplikasi tertentu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842421" y="5284351"/>
            <a:ext cx="377285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Mengoptimalkan parameter filter untuk hasil terbaik</a:t>
            </a:r>
            <a:endParaRPr lang="en-US" sz="15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6165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Referensi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86225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Buku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2370773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Gonzalez, R. C., &amp; Woods, R. E. (2018). </a:t>
            </a:r>
            <a:pPr algn="l" indent="0" marL="0">
              <a:lnSpc>
                <a:spcPts val="2500"/>
              </a:lnSpc>
              <a:buNone/>
            </a:pPr>
            <a:r>
              <a:rPr lang="en-US" sz="1550" i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Digital Image Processing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(4th ed.). Pearson.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3075265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Solomon, C., &amp; Breckon, T. (2011). </a:t>
            </a:r>
            <a:pPr algn="l" indent="0" marL="0">
              <a:lnSpc>
                <a:spcPts val="2500"/>
              </a:lnSpc>
              <a:buNone/>
            </a:pPr>
            <a:r>
              <a:rPr lang="en-US" sz="1550" i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Fundamentals of Digital Image Processing: A Practical Approach with Examples in Matlab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. Wiley-Blackwell.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4097298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Szeliski, R. (2010). </a:t>
            </a:r>
            <a:pPr algn="l" indent="0" marL="0">
              <a:lnSpc>
                <a:spcPts val="2500"/>
              </a:lnSpc>
              <a:buNone/>
            </a:pPr>
            <a:r>
              <a:rPr lang="en-US" sz="1550" i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Computer Vision: Algorithms and Applications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. Springer.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493073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Artikel Jurnal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93790" y="5439251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Buades, A., Coll, B., &amp; Morel, J. M. (2005). A non-local algorithm for image denoising. </a:t>
            </a:r>
            <a:pPr algn="l" indent="0" marL="0">
              <a:lnSpc>
                <a:spcPts val="2500"/>
              </a:lnSpc>
              <a:buNone/>
            </a:pPr>
            <a:r>
              <a:rPr lang="en-US" sz="1550" i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IEEE Computer Society Conference on Computer Vision and Pattern Recognition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, 2, 60-65.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93790" y="6461284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Tomasi, C., &amp; Manduchi, R. (1998). Bilateral filtering for gray and color images. </a:t>
            </a:r>
            <a:pPr algn="l" indent="0" marL="0">
              <a:lnSpc>
                <a:spcPts val="2500"/>
              </a:lnSpc>
              <a:buNone/>
            </a:pPr>
            <a:r>
              <a:rPr lang="en-US" sz="1550" i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Sixth International Conference on Computer Vision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, 839-846.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64874" y="186225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Online Resources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564874" y="237077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OpenCV Documentation: </a:t>
            </a:r>
            <a:pPr algn="l" indent="0" marL="0">
              <a:lnSpc>
                <a:spcPts val="2500"/>
              </a:lnSpc>
              <a:buNone/>
            </a:pPr>
            <a:r>
              <a:rPr lang="en-US" sz="1550" u="sng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https://docs.opencv.org/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564874" y="2757726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SciPy Documentation: </a:t>
            </a:r>
            <a:pPr algn="l" indent="0" marL="0">
              <a:lnSpc>
                <a:spcPts val="2500"/>
              </a:lnSpc>
              <a:buNone/>
            </a:pPr>
            <a:r>
              <a:rPr lang="en-US" sz="1550" u="sng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https://docs.scipy.org/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564874" y="3144679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PyImageSearch Tutorials: </a:t>
            </a:r>
            <a:pPr algn="l" indent="0" marL="0">
              <a:lnSpc>
                <a:spcPts val="2500"/>
              </a:lnSpc>
              <a:buNone/>
            </a:pPr>
            <a:r>
              <a:rPr lang="en-US" sz="1550" u="sng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https://www.pyimagesearch.com/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564874" y="366057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Tutorial Python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564874" y="416909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Documentasi NumPy: </a:t>
            </a:r>
            <a:pPr algn="l" indent="0" marL="0">
              <a:lnSpc>
                <a:spcPts val="2500"/>
              </a:lnSpc>
              <a:buNone/>
            </a:pPr>
            <a:r>
              <a:rPr lang="en-US" sz="1550" u="sng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https://numpy.org/doc/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564874" y="4556046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Matplotlib Documentation: </a:t>
            </a:r>
            <a:pPr algn="l" indent="0" marL="0">
              <a:lnSpc>
                <a:spcPts val="2500"/>
              </a:lnSpc>
              <a:buNone/>
            </a:pPr>
            <a:r>
              <a:rPr lang="en-US" sz="1550" u="sng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https://matplotlib.org/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564874" y="4942999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Scikit-image Documentation: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https://scikit-image.org/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2025-08-13T07:02:36Z</dcterms:created>
  <dcterms:modified xsi:type="dcterms:W3CDTF">2025-08-13T07:02:36Z</dcterms:modified>
</cp:coreProperties>
</file>