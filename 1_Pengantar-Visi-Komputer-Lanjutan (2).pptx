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4630400" cy="8229600"/>
  <p:notesSz cx="8229600" cy="14630400"/>
  <p:embeddedFontLst>
    <p:embeddedFont>
      <p:font typeface="Kanit Light"/>
      <p:regular r:id="rId32"/>
    </p:embeddedFont>
    <p:embeddedFont>
      <p:font typeface="Kanit Light"/>
      <p:regular r:id="rId33"/>
    </p:embeddedFont>
    <p:embeddedFont>
      <p:font typeface="Kanit Light"/>
      <p:regular r:id="rId34"/>
    </p:embeddedFont>
    <p:embeddedFont>
      <p:font typeface="Kanit Light"/>
      <p:regular r:id="rId35"/>
    </p:embeddedFont>
    <p:embeddedFont>
      <p:font typeface="Martel Sans"/>
      <p:regular r:id="rId36"/>
    </p:embeddedFont>
    <p:embeddedFont>
      <p:font typeface="Martel Sans"/>
      <p:regular r:id="rId3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3706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pencv.org/" TargetMode="External"/><Relationship Id="rId2" Type="http://schemas.openxmlformats.org/officeDocument/2006/relationships/hyperlink" Target="https://pillow.readthedocs.io/" TargetMode="External"/><Relationship Id="rId3" Type="http://schemas.openxmlformats.org/officeDocument/2006/relationships/hyperlink" Target="https://numpy.org/doc/" TargetMode="External"/><Relationship Id="rId4" Type="http://schemas.openxmlformats.org/officeDocument/2006/relationships/hyperlink" Target="https://matplotlib.org/stable/contents.html" TargetMode="External"/><Relationship Id="rId5" Type="http://schemas.openxmlformats.org/officeDocument/2006/relationships/hyperlink" Target="https://scikit-image.org/docs/stable/" TargetMode="External"/><Relationship Id="rId6" Type="http://schemas.openxmlformats.org/officeDocument/2006/relationships/hyperlink" Target="https://www.pyimagesearch.com/" TargetMode="External"/><Relationship Id="rId7" Type="http://schemas.openxmlformats.org/officeDocument/2006/relationships/hyperlink" Target="https://learnopencv.com/" TargetMode="External"/><Relationship Id="rId8" Type="http://schemas.openxmlformats.org/officeDocument/2006/relationships/hyperlink" Target="https://opencv-python-tutroals.readthedocs.io/" TargetMode="External"/><Relationship Id="rId9" Type="http://schemas.openxmlformats.org/officeDocument/2006/relationships/hyperlink" Target="https://github.com/opencv/opencv" TargetMode="External"/><Relationship Id="rId10" Type="http://schemas.openxmlformats.org/officeDocument/2006/relationships/slideLayout" Target="../slideLayouts/slideLayout24.xml"/><Relationship Id="rId11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1693"/>
            <a:ext cx="750855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Pengantar Visi Komputer Lanjutan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29426"/>
            <a:ext cx="82078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Pertemuan 1: Dasar-dasar Visi Komputer dan Penerapannya dengan Python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63724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Program Studi Teknik Informatika S-2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17802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Matakuliah: Advanced Computer Vision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71880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Disusun oleh: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25958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Tim Pengajar Advanced Computer Vision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80036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2023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571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Agenda Perkuliahan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438632" y="1962626"/>
            <a:ext cx="288738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Pengenalan Visi Komputer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438632" y="2391847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Definisi, sejarah singkat, dan aplikasi dalam dunia nyata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438632" y="31062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Dasar Citra Digital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3535442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Representasi citra, model warna, dan operasi dasar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38632" y="4249817"/>
            <a:ext cx="30882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Python untuk Visi Komputer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38632" y="4679037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Pengenalan library OpenCV dan PIL untuk manipulasi citra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38632" y="5393412"/>
            <a:ext cx="26564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Analisis Citra Sederhana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38632" y="5822633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Grayscale, histogram, dan thresholding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438632" y="65370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Praktikum dan Tugas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38632" y="6966228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Implementasi teknik dasar visi komputer dengan Python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419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Metode Pembelajaran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31106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8752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Ceramah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4304467"/>
            <a:ext cx="41821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Penyampaian materi secara terstruktur oleh dosen dengan fokus pada konsep teoritis dan penerapan praktis visi komputer.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986" y="3131106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3986" y="38752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Tanya Jawab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223986" y="4304467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Kesempatan bagi mahasiswa untuk mengajukan pertanyaan terkait materi yang belum dipahami dan mendapatkan klarifikasi langsung.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302" y="3131106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54302" y="38752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Diskusi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54302" y="4304467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Pertukaran pendapat antara mahasiswa dan dosen untuk memperdalam pemahaman dan mengeksplorasi penerapan visi komputer.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3790" y="579786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Total waktu pembelajaran: 3 x 50 menit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841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Tujuan Pembelajaran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91446" y="2858572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Setelah mengikuti perkuliahan ini, mahasiswa diharapkan dapat: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635329"/>
            <a:ext cx="22860" cy="764024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622596"/>
            <a:ext cx="4215289" cy="1395055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22860">
            <a:solidFill>
              <a:srgbClr val="4370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0930" y="3622596"/>
            <a:ext cx="91440" cy="1395055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</p:sp>
      <p:sp>
        <p:nvSpPr>
          <p:cNvPr id="7" name="Text 5"/>
          <p:cNvSpPr/>
          <p:nvPr/>
        </p:nvSpPr>
        <p:spPr>
          <a:xfrm>
            <a:off x="1083588" y="3843814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Memahami konsep fundamental visi komputer dan peranannya dalam perkembangan teknologi modern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622596"/>
            <a:ext cx="4215408" cy="1395055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22860">
            <a:solidFill>
              <a:srgbClr val="4370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4577" y="3622596"/>
            <a:ext cx="91440" cy="1395055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</p:sp>
      <p:sp>
        <p:nvSpPr>
          <p:cNvPr id="10" name="Text 8"/>
          <p:cNvSpPr/>
          <p:nvPr/>
        </p:nvSpPr>
        <p:spPr>
          <a:xfrm>
            <a:off x="5497235" y="3843814"/>
            <a:ext cx="37043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Menjelaskan representasi dasar citra digital dan model warna yang umum digunakan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21203" y="3622596"/>
            <a:ext cx="4215289" cy="1395055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22860">
            <a:solidFill>
              <a:srgbClr val="4370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8343" y="3622596"/>
            <a:ext cx="91440" cy="1395055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9911001" y="3843814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Menerapkan teknik pengolahan citra dasar menggunakan Python dengan library OpenCV atau PIL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3790" y="5216009"/>
            <a:ext cx="6422112" cy="1395055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22860">
            <a:solidFill>
              <a:srgbClr val="4370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0930" y="5216009"/>
            <a:ext cx="91440" cy="1395055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</p:sp>
      <p:sp>
        <p:nvSpPr>
          <p:cNvPr id="16" name="Text 14"/>
          <p:cNvSpPr/>
          <p:nvPr/>
        </p:nvSpPr>
        <p:spPr>
          <a:xfrm>
            <a:off x="1083588" y="5437227"/>
            <a:ext cx="591109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Mengimplementasikan analisis citra sederhana seperti grayscale, histogram, dan thresholding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414260" y="5216009"/>
            <a:ext cx="6422231" cy="1395055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22860">
            <a:solidFill>
              <a:srgbClr val="4370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1400" y="5216009"/>
            <a:ext cx="91440" cy="1395055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</p:sp>
      <p:sp>
        <p:nvSpPr>
          <p:cNvPr id="19" name="Text 17"/>
          <p:cNvSpPr/>
          <p:nvPr/>
        </p:nvSpPr>
        <p:spPr>
          <a:xfrm>
            <a:off x="7704058" y="5437227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Mengembangkan program Python sederhana untuk manipulasi dan analisis citra dengan memanfaatkan struktur data yang sesuai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669" y="535662"/>
            <a:ext cx="4690229" cy="578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Apa itu Visi Komputer?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8669" y="1557576"/>
            <a:ext cx="6310908" cy="887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Visi komputer adalah cabang ilmu komputer yang fokus pada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pengembangan teknik-teknik untuk memungkinkan komputer "melihat" dan "memahami" konten visual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seperti gambar dan video.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78669" y="2611279"/>
            <a:ext cx="6310908" cy="887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Berbeda dengan pengolahan citra yang berfokus pada transformasi gambar, visi komputer berusaha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mengekstrak informasi bermakna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dari data visual, mirip dengan cara sistem visual manusia bekerja.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548443" y="1599128"/>
            <a:ext cx="6310908" cy="1480899"/>
          </a:xfrm>
          <a:prstGeom prst="roundRect">
            <a:avLst>
              <a:gd name="adj" fmla="val 5246"/>
            </a:avLst>
          </a:prstGeom>
          <a:solidFill>
            <a:srgbClr val="F2F2F2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56208" y="1806893"/>
            <a:ext cx="2311837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Akuisisi Citra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56208" y="2280761"/>
            <a:ext cx="5895380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Proses mendapatkan citra digital dari dunia nyata melalui kamera atau sensor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548443" y="3264932"/>
            <a:ext cx="6310908" cy="1185148"/>
          </a:xfrm>
          <a:prstGeom prst="roundRect">
            <a:avLst>
              <a:gd name="adj" fmla="val 6555"/>
            </a:avLst>
          </a:prstGeom>
          <a:solidFill>
            <a:srgbClr val="F2F2F2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56208" y="3472696"/>
            <a:ext cx="2311837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Pengolahan Citra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56208" y="3946565"/>
            <a:ext cx="589538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Manipulasi dan peningkatan kualitas citra digital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548443" y="4634984"/>
            <a:ext cx="6310908" cy="1185148"/>
          </a:xfrm>
          <a:prstGeom prst="roundRect">
            <a:avLst>
              <a:gd name="adj" fmla="val 6555"/>
            </a:avLst>
          </a:prstGeom>
          <a:solidFill>
            <a:srgbClr val="F2F2F2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56208" y="4842748"/>
            <a:ext cx="2311837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Analisis Citra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56208" y="5316617"/>
            <a:ext cx="5895380" cy="29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Ekstraksi fitur dan informasi bermakna dari citra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548443" y="6005036"/>
            <a:ext cx="6310908" cy="1480899"/>
          </a:xfrm>
          <a:prstGeom prst="roundRect">
            <a:avLst>
              <a:gd name="adj" fmla="val 5246"/>
            </a:avLst>
          </a:prstGeom>
          <a:solidFill>
            <a:srgbClr val="F2F2F2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6208" y="6212800"/>
            <a:ext cx="2311837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Pemahaman Citra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56208" y="6686669"/>
            <a:ext cx="5895380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Interpretasi konten visual dan pengambilan keputusan berdasarkan informasi visual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3414"/>
            <a:ext cx="657927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Sejarah Singkat Visi Komputer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303770" y="1660327"/>
            <a:ext cx="22860" cy="5925860"/>
          </a:xfrm>
          <a:prstGeom prst="roundRect">
            <a:avLst>
              <a:gd name="adj" fmla="val 364651"/>
            </a:avLst>
          </a:prstGeom>
          <a:solidFill>
            <a:srgbClr val="C5D2CF"/>
          </a:solidFill>
          <a:ln/>
        </p:spPr>
      </p:sp>
      <p:sp>
        <p:nvSpPr>
          <p:cNvPr id="4" name="Shape 2"/>
          <p:cNvSpPr/>
          <p:nvPr/>
        </p:nvSpPr>
        <p:spPr>
          <a:xfrm>
            <a:off x="6519505" y="1872139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5D2CF"/>
          </a:solidFill>
          <a:ln/>
        </p:spPr>
      </p:sp>
      <p:sp>
        <p:nvSpPr>
          <p:cNvPr id="5" name="Shape 3"/>
          <p:cNvSpPr/>
          <p:nvPr/>
        </p:nvSpPr>
        <p:spPr>
          <a:xfrm>
            <a:off x="7091958" y="1660327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6372" y="169753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842028" y="17285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1960-an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2157770"/>
            <a:ext cx="55291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Awal mula visi komputer sebagai disiplin ilmu dengan fokus pada pengenalan pola dan pengolahan citra dasar.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15582" y="3062764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5D2CF"/>
          </a:solidFill>
          <a:ln/>
        </p:spPr>
      </p:sp>
      <p:sp>
        <p:nvSpPr>
          <p:cNvPr id="10" name="Shape 8"/>
          <p:cNvSpPr/>
          <p:nvPr/>
        </p:nvSpPr>
        <p:spPr>
          <a:xfrm>
            <a:off x="7091958" y="2850952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66372" y="2888159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307467" y="29191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1970-an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307467" y="3348395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Pengembangan algoritma dasar untuk deteksi tepi, segmentasi, dan representasi citra. Marr's Vision (1982) menjadi karya pionir dalam bidang ini.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19505" y="4089083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5D2CF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1958" y="3877270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6372" y="3914477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3842028" y="39454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1980-1990-an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4374713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Penerapan metode statistik dan geometris. Pengembangan teknik berbasis model untuk pengenalan objek dan analisis gerakan.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15582" y="5115520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5D2CF"/>
          </a:solidFill>
          <a:ln/>
        </p:spPr>
      </p:sp>
      <p:sp>
        <p:nvSpPr>
          <p:cNvPr id="20" name="Shape 18"/>
          <p:cNvSpPr/>
          <p:nvPr/>
        </p:nvSpPr>
        <p:spPr>
          <a:xfrm>
            <a:off x="7091958" y="490370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6372" y="494091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307467" y="49719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2000-an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307467" y="5401151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Kemajuan dalam pembelajaran mesin dan pengembangan library open source seperti OpenCV (2000) yang mempermudah implementasi.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519505" y="6141958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C5D2CF"/>
          </a:solidFill>
          <a:ln/>
        </p:spPr>
      </p:sp>
      <p:sp>
        <p:nvSpPr>
          <p:cNvPr id="25" name="Shape 23"/>
          <p:cNvSpPr/>
          <p:nvPr/>
        </p:nvSpPr>
        <p:spPr>
          <a:xfrm>
            <a:off x="7091958" y="593014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66372" y="596735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3842028" y="599836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2010-sekarang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93790" y="6427589"/>
            <a:ext cx="552914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Revolusi deep learning dengan CNN, R-CNN, YOLO yang meningkatkan akurasi dan kemampuan sistem visi komputer secara dramatis.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5772"/>
            <a:ext cx="822948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Aplikasi Visi Komputer di Dunia Nyata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432685"/>
            <a:ext cx="6422231" cy="2250162"/>
          </a:xfrm>
          <a:prstGeom prst="roundRect">
            <a:avLst>
              <a:gd name="adj" fmla="val 3705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26386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Kesehatan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9768" y="3067883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Diagnosis penyakit melalui analisis citra medis (X-ray, MRI, CT Scan)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99768" y="3772376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Deteksi kanker dari citra patologi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99768" y="4159329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Analisis retina untuk deteksi penyakit mata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2432685"/>
            <a:ext cx="6422231" cy="2250162"/>
          </a:xfrm>
          <a:prstGeom prst="roundRect">
            <a:avLst>
              <a:gd name="adj" fmla="val 3705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357" y="26386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Transportasi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620357" y="3067883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Kendaraan otonom (self-driving cars)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20357" y="3454837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Sistem bantuan pengemudi (ADAS)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620357" y="3841790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Pemantauan lalu lintas dan pengenalan plat nomor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4881205"/>
            <a:ext cx="6422231" cy="1932623"/>
          </a:xfrm>
          <a:prstGeom prst="roundRect">
            <a:avLst>
              <a:gd name="adj" fmla="val 4313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768" y="50871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Industri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9768" y="5516404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Inspeksi kualitas produk otomatis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99768" y="5903357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Pemantauan proses produksi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99768" y="6290310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Kontrol robot dalam perakitan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14379" y="4881205"/>
            <a:ext cx="6422231" cy="1932623"/>
          </a:xfrm>
          <a:prstGeom prst="roundRect">
            <a:avLst>
              <a:gd name="adj" fmla="val 4313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0357" y="50871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Keamanan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620357" y="5516404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Sistem pengawasan dan pengenalan wajah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620357" y="5903357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Deteksi perilaku mencurigakan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620357" y="6290310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Biometrik untuk autentikasi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472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Dasar Citra Digital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908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Definisi Citra Digital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199328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Citra digital adalah representasi diskrit dari data visual dalam bentuk matriks piksel. Setiap piksel menyimpan informasi intensitas atau warna pada lokasi spasial tertentu.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350306"/>
            <a:ext cx="269664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Karakteristik Citra Digital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485882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Resolusi: Jumlah piksel dalam citra (lebar × tinggi)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245775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Kedalaman bit: Jumlah bit yang digunakan untuk merepresentasikan setiap piksel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95026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Kanal: Komponen warna dalam citra (misalnya RGB memiliki 3 kanal)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2690813"/>
            <a:ext cx="26158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Representasi Matematis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564874" y="319932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Citra digital direpresentasikan sebagai fungsi dua dimensi f(x,y) di mana: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401300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x dan y adalah koordinat spasial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439995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 adalah intensitas atau nilai warna pada titik (x,y)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489608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Untuk citra RGB: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4874" y="539222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f(x,y) = [r(x,y), g(x,y), b(x,y)]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64874" y="5779175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r, g, b mewakili nilai intensitas untuk kanal merah, hijau, dan biru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18411"/>
            <a:ext cx="5225772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Warna dalam Citra Digital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307580" y="1381244"/>
            <a:ext cx="15240" cy="6229826"/>
          </a:xfrm>
          <a:prstGeom prst="roundRect">
            <a:avLst>
              <a:gd name="adj" fmla="val 410233"/>
            </a:avLst>
          </a:prstGeom>
          <a:solidFill>
            <a:srgbClr val="5C897F"/>
          </a:solidFill>
          <a:ln/>
        </p:spPr>
      </p:sp>
      <p:sp>
        <p:nvSpPr>
          <p:cNvPr id="4" name="Shape 2"/>
          <p:cNvSpPr/>
          <p:nvPr/>
        </p:nvSpPr>
        <p:spPr>
          <a:xfrm>
            <a:off x="778550" y="1381244"/>
            <a:ext cx="6521410" cy="1676519"/>
          </a:xfrm>
          <a:prstGeom prst="roundRect">
            <a:avLst>
              <a:gd name="adj" fmla="val 3729"/>
            </a:avLst>
          </a:prstGeom>
          <a:solidFill>
            <a:srgbClr val="DFECE9"/>
          </a:solidFill>
          <a:ln w="7620">
            <a:solidFill>
              <a:srgbClr val="4370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90542" y="1537692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RGB (Red, Green, Blue)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34998" y="1859518"/>
            <a:ext cx="621613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 warna aditif yang menggunakan kombinasi merah, hijau, dan biru untuk menghasilkan berbagai warna. Setiap piksel direpresentasikan oleh 3 nilai intensitas (R, G, B).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34998" y="2663190"/>
            <a:ext cx="62161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Contoh: RGB(255, 0, 0) merepresentasikan warna merah murni.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30440" y="3355419"/>
            <a:ext cx="6521410" cy="1438394"/>
          </a:xfrm>
          <a:prstGeom prst="rect">
            <a:avLst/>
          </a:prstGeom>
          <a:solidFill>
            <a:srgbClr val="DFECE9"/>
          </a:solidFill>
          <a:ln w="7620">
            <a:solidFill>
              <a:srgbClr val="4370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79268" y="3511868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Grayscale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79268" y="3833693"/>
            <a:ext cx="621613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Representasi citra dalam skala abu-abu di mana setiap piksel hanya memiliki satu nilai intensitas, biasanya dalam rentang 0 (hitam) hingga 255 (putih).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79268" y="4399240"/>
            <a:ext cx="621613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Konversi dari RGB: Gray = 0.299R + 0.587G + 0.114B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8550" y="5091470"/>
            <a:ext cx="6521410" cy="1110972"/>
          </a:xfrm>
          <a:prstGeom prst="roundRect">
            <a:avLst>
              <a:gd name="adj" fmla="val 5627"/>
            </a:avLst>
          </a:prstGeom>
          <a:solidFill>
            <a:srgbClr val="DFECE9"/>
          </a:solidFill>
          <a:ln w="7620">
            <a:solidFill>
              <a:srgbClr val="4370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9298" y="5247918"/>
            <a:ext cx="2291834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HSV (Hue, Saturation, Value)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4998" y="5569744"/>
            <a:ext cx="621613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 warna yang memisahkan komponen warna (hue), kejenuhan (saturation), dan kecerahan (value). Lebih intuitif untuk manipulasi warna tertentu.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30440" y="6500098"/>
            <a:ext cx="6521410" cy="1110972"/>
          </a:xfrm>
          <a:prstGeom prst="rect">
            <a:avLst/>
          </a:prstGeom>
          <a:solidFill>
            <a:srgbClr val="DFECE9"/>
          </a:solidFill>
          <a:ln w="7620">
            <a:solidFill>
              <a:srgbClr val="4370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9268" y="6656546"/>
            <a:ext cx="3326011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CMYK (Cyan, Magenta, Yellow, Key/Black)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79268" y="6978372"/>
            <a:ext cx="621613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 warna subtraktif yang umum digunakan dalam pencetakan. Berbeda dengan RGB yang berbasis cahaya, CMYK berbasis pigmen atau tinta.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9903"/>
            <a:ext cx="689633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Operasi Dasar pada Citra Digital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14681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204" y="218402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22150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Transformasi Geometri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2644259"/>
            <a:ext cx="353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Operasi yang mengubah posisi piksel tanpa mengubah nilai intensitasnya.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38632" y="3398401"/>
            <a:ext cx="35373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Translasi: Pergeseran citra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38632" y="3785354"/>
            <a:ext cx="353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Rotasi: Pemutaran citra pada sudut tertentu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38632" y="4489847"/>
            <a:ext cx="353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Penskalaan: Mengubah ukuran citra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38632" y="5194340"/>
            <a:ext cx="353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Flipping: Pencerminan citra secara horizontal atau vertikal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223986" y="214681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98400" y="218402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868829" y="2215039"/>
            <a:ext cx="252948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Transformasi Intensitas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868829" y="2644259"/>
            <a:ext cx="353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Operasi yang mengubah nilai intensitas piksel tanpa mengubah posisinya.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868829" y="3715941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Brightness adjustment: Mengatur kecerahan citra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868829" y="4420433"/>
            <a:ext cx="353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Contrast enhancement: Meningkatkan kontras antar objek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868829" y="5442466"/>
            <a:ext cx="353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Gamma correction: Mengatur nilai gamma untuk kompensasi non-linearitas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868829" y="6464498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Histogram equalization: Meratakan distribusi intensitas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654302" y="214681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28716" y="218402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0299144" y="22150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Operasi Spasial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99144" y="2644259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Operasi yang melibatkan nilai piksel dan tetangganya.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99144" y="3398401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Filtering: Operasi konvolusi untuk penghalusan atau penajaman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299144" y="4102894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Edge detection: Deteksi tepi objek dalam citra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299144" y="4807387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Morphological operations: Dilasi, erosi, opening, closing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6269"/>
            <a:ext cx="7545467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Pengenalan Python untuk Visi Komputer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574959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Mengapa Python?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2007037"/>
            <a:ext cx="631567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Sintaks yang sederhana dan mudah dipelajari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93790" y="2335887"/>
            <a:ext cx="631567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Ekosistem library yang kaya untuk visi komputer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3790" y="2664738"/>
            <a:ext cx="631567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Dukungan komunitas yang luas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3790" y="2993588"/>
            <a:ext cx="631567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Integrasi yang baik dengan berbagai teknologi lain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3790" y="3322439"/>
            <a:ext cx="631567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Cocok untuk prototyping cepat dan pengembangan aplikasi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3790" y="3760946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Struktur Data Penting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93790" y="4193024"/>
            <a:ext cx="631567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List: Untuk menyimpan kumpulan nilai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3790" y="4521875"/>
            <a:ext cx="631567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Dictionary: Untuk menyimpan pasangan kunci-nilai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3790" y="4850725"/>
            <a:ext cx="631567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Tuple: Untuk menyimpan kumpulan nilai yang tidak dapat diubah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3790" y="5179576"/>
            <a:ext cx="631567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Numpy array: Untuk manipulasi matriks efisien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28560" y="1574959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Library Utama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528560" y="2028230"/>
            <a:ext cx="6315670" cy="1354812"/>
          </a:xfrm>
          <a:prstGeom prst="roundRect">
            <a:avLst>
              <a:gd name="adj" fmla="val 5230"/>
            </a:avLst>
          </a:prstGeom>
          <a:solidFill>
            <a:srgbClr val="F2F2F2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0013" y="2219682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OpenCV (cv2)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720013" y="2651760"/>
            <a:ext cx="5932765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Library open source yang menyediakan ratusan algoritma visi komputer dan pemrosesan citra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28560" y="3551634"/>
            <a:ext cx="6315670" cy="1084898"/>
          </a:xfrm>
          <a:prstGeom prst="roundRect">
            <a:avLst>
              <a:gd name="adj" fmla="val 6531"/>
            </a:avLst>
          </a:prstGeom>
          <a:solidFill>
            <a:srgbClr val="F2F2F2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0013" y="3743087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PIL/Pillow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720013" y="4175165"/>
            <a:ext cx="593276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Python Imaging Library untuk manipulasi dan pengolahan citra dasar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28560" y="4805124"/>
            <a:ext cx="6315670" cy="1354812"/>
          </a:xfrm>
          <a:prstGeom prst="roundRect">
            <a:avLst>
              <a:gd name="adj" fmla="val 5230"/>
            </a:avLst>
          </a:prstGeom>
          <a:solidFill>
            <a:srgbClr val="F2F2F2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0013" y="4996577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NumPy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720013" y="5428655"/>
            <a:ext cx="5932765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Library untuk komputasi numerik yang efisien, mendukung operasi array multidimensi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28560" y="6328529"/>
            <a:ext cx="6315670" cy="1084898"/>
          </a:xfrm>
          <a:prstGeom prst="roundRect">
            <a:avLst>
              <a:gd name="adj" fmla="val 6531"/>
            </a:avLst>
          </a:prstGeom>
          <a:solidFill>
            <a:srgbClr val="F2F2F2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0013" y="6519982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Matplotlib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720013" y="6952059"/>
            <a:ext cx="593276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Library untuk visualisasi data dan citra secara interaktif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8777"/>
            <a:ext cx="8233410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OpenCV: Library Utama untuk Visi Komputer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553170"/>
            <a:ext cx="6521410" cy="6747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382" y="2396490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Instalasi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62382" y="2761178"/>
            <a:ext cx="618422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Mudah diinstal menggunakan pip: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62382" y="3220879"/>
            <a:ext cx="6184225" cy="522803"/>
          </a:xfrm>
          <a:prstGeom prst="roundRect">
            <a:avLst>
              <a:gd name="adj" fmla="val 13553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954048" y="3220879"/>
            <a:ext cx="6200894" cy="522803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1122640" y="3347323"/>
            <a:ext cx="5863709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opencv-python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3170"/>
            <a:ext cx="6521410" cy="6747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83792" y="2396490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Import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483792" y="2761178"/>
            <a:ext cx="618422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Mengimpor library ke dalam program Python: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83792" y="3220879"/>
            <a:ext cx="6184225" cy="792718"/>
          </a:xfrm>
          <a:prstGeom prst="roundRect">
            <a:avLst>
              <a:gd name="adj" fmla="val 8938"/>
            </a:avLst>
          </a:prstGeom>
          <a:solidFill>
            <a:srgbClr val="F2F2F2"/>
          </a:solidFill>
          <a:ln/>
        </p:spPr>
      </p:sp>
      <p:sp>
        <p:nvSpPr>
          <p:cNvPr id="13" name="Shape 9"/>
          <p:cNvSpPr/>
          <p:nvPr/>
        </p:nvSpPr>
        <p:spPr>
          <a:xfrm>
            <a:off x="7475458" y="3220879"/>
            <a:ext cx="6200894" cy="792718"/>
          </a:xfrm>
          <a:prstGeom prst="roundRect">
            <a:avLst>
              <a:gd name="adj" fmla="val 3192"/>
            </a:avLst>
          </a:prstGeom>
          <a:solidFill>
            <a:srgbClr val="F2F2F2"/>
          </a:solidFill>
          <a:ln/>
        </p:spPr>
      </p:sp>
      <p:sp>
        <p:nvSpPr>
          <p:cNvPr id="14" name="Text 10"/>
          <p:cNvSpPr/>
          <p:nvPr/>
        </p:nvSpPr>
        <p:spPr>
          <a:xfrm>
            <a:off x="7644051" y="3347323"/>
            <a:ext cx="5863709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182189"/>
            <a:ext cx="6521410" cy="6747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2382" y="5025509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Membaca Citra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962382" y="5390198"/>
            <a:ext cx="618422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Membaca citra dari file: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2382" y="5849898"/>
            <a:ext cx="6184225" cy="1062633"/>
          </a:xfrm>
          <a:prstGeom prst="roundRect">
            <a:avLst>
              <a:gd name="adj" fmla="val 6668"/>
            </a:avLst>
          </a:prstGeom>
          <a:solidFill>
            <a:srgbClr val="F2F2F2"/>
          </a:solidFill>
          <a:ln/>
        </p:spPr>
      </p:sp>
      <p:sp>
        <p:nvSpPr>
          <p:cNvPr id="19" name="Shape 14"/>
          <p:cNvSpPr/>
          <p:nvPr/>
        </p:nvSpPr>
        <p:spPr>
          <a:xfrm>
            <a:off x="954048" y="5849898"/>
            <a:ext cx="6200894" cy="1062633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20" name="Text 15"/>
          <p:cNvSpPr/>
          <p:nvPr/>
        </p:nvSpPr>
        <p:spPr>
          <a:xfrm>
            <a:off x="1122640" y="5976342"/>
            <a:ext cx="5863709" cy="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img = cv2.imread('gambar.jpg')# Membaca sebagai grayscalegray = cv2.imread('gambar.jpg', 0)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82189"/>
            <a:ext cx="6521410" cy="6747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83792" y="5025509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Menampilkan Citra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483792" y="5390198"/>
            <a:ext cx="618422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Menampilkan citra dalam jendela: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483792" y="5849898"/>
            <a:ext cx="6184225" cy="1062633"/>
          </a:xfrm>
          <a:prstGeom prst="roundRect">
            <a:avLst>
              <a:gd name="adj" fmla="val 6668"/>
            </a:avLst>
          </a:prstGeom>
          <a:solidFill>
            <a:srgbClr val="F2F2F2"/>
          </a:solidFill>
          <a:ln/>
        </p:spPr>
      </p:sp>
      <p:sp>
        <p:nvSpPr>
          <p:cNvPr id="25" name="Shape 19"/>
          <p:cNvSpPr/>
          <p:nvPr/>
        </p:nvSpPr>
        <p:spPr>
          <a:xfrm>
            <a:off x="7475458" y="5849898"/>
            <a:ext cx="6200894" cy="1062633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26" name="Text 20"/>
          <p:cNvSpPr/>
          <p:nvPr/>
        </p:nvSpPr>
        <p:spPr>
          <a:xfrm>
            <a:off x="7644051" y="5976342"/>
            <a:ext cx="5863709" cy="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cv2.imshow('Judul Jendela', img)cv2.waitKey(0)cv2.destroyAllWindows()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93790" y="7270909"/>
            <a:ext cx="1304282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OpenCV menyediakan fungsi-fungsi komprehensif untuk pengolahan citra, deteksi objek, tracking, pengenalan wajah, dan banyak algoritma visi komputer lainnya.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7705"/>
            <a:ext cx="5222200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PIL/Pillow: Python Imaging Library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93790" y="1468993"/>
            <a:ext cx="173664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Kelebihan PIL/Pillow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93790" y="1824871"/>
            <a:ext cx="6351984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API yang sederhana dan intuitif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93790" y="2095738"/>
            <a:ext cx="6351984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Mendukung berbagai format gambar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93790" y="2366605"/>
            <a:ext cx="6351984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Manipulasi citra dasar yang mudah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3790" y="2637473"/>
            <a:ext cx="6351984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Integrase baik dengan library Python lainnya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93790" y="2908340"/>
            <a:ext cx="6351984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Cocok untuk pengolahan citra sederhana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3790" y="3255645"/>
            <a:ext cx="6351984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Instalasi Pillow: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3790" y="3634145"/>
            <a:ext cx="6351984" cy="430649"/>
          </a:xfrm>
          <a:prstGeom prst="roundRect">
            <a:avLst>
              <a:gd name="adj" fmla="val 13550"/>
            </a:avLst>
          </a:prstGeom>
          <a:solidFill>
            <a:srgbClr val="E5E5E5"/>
          </a:solidFill>
          <a:ln/>
        </p:spPr>
      </p:sp>
      <p:sp>
        <p:nvSpPr>
          <p:cNvPr id="11" name="Shape 9"/>
          <p:cNvSpPr/>
          <p:nvPr/>
        </p:nvSpPr>
        <p:spPr>
          <a:xfrm>
            <a:off x="786884" y="3634145"/>
            <a:ext cx="6365796" cy="430649"/>
          </a:xfrm>
          <a:prstGeom prst="roundRect">
            <a:avLst>
              <a:gd name="adj" fmla="val 4839"/>
            </a:avLst>
          </a:prstGeom>
          <a:solidFill>
            <a:srgbClr val="E5E5E5"/>
          </a:solidFill>
          <a:ln/>
        </p:spPr>
      </p:sp>
      <p:sp>
        <p:nvSpPr>
          <p:cNvPr id="12" name="Text 10"/>
          <p:cNvSpPr/>
          <p:nvPr/>
        </p:nvSpPr>
        <p:spPr>
          <a:xfrm>
            <a:off x="925711" y="3738324"/>
            <a:ext cx="6088142" cy="22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Pillow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2246" y="1468993"/>
            <a:ext cx="1937980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Operasi Dasar dengan PIL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92246" y="1842254"/>
            <a:ext cx="6351984" cy="5543312"/>
          </a:xfrm>
          <a:prstGeom prst="roundRect">
            <a:avLst>
              <a:gd name="adj" fmla="val 1053"/>
            </a:avLst>
          </a:prstGeom>
          <a:solidFill>
            <a:srgbClr val="E5E5E5"/>
          </a:solidFill>
          <a:ln/>
        </p:spPr>
      </p:sp>
      <p:sp>
        <p:nvSpPr>
          <p:cNvPr id="15" name="Shape 13"/>
          <p:cNvSpPr/>
          <p:nvPr/>
        </p:nvSpPr>
        <p:spPr>
          <a:xfrm>
            <a:off x="7485340" y="1842254"/>
            <a:ext cx="6365796" cy="5543312"/>
          </a:xfrm>
          <a:prstGeom prst="roundRect">
            <a:avLst>
              <a:gd name="adj" fmla="val 376"/>
            </a:avLst>
          </a:prstGeom>
          <a:solidFill>
            <a:srgbClr val="E5E5E5"/>
          </a:solidFill>
          <a:ln/>
        </p:spPr>
      </p:sp>
      <p:sp>
        <p:nvSpPr>
          <p:cNvPr id="16" name="Text 14"/>
          <p:cNvSpPr/>
          <p:nvPr/>
        </p:nvSpPr>
        <p:spPr>
          <a:xfrm>
            <a:off x="7624167" y="1946434"/>
            <a:ext cx="6088142" cy="5334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2C3249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 import Image, ImageFilter# Membuka gambarimg = Image.open('gambar.jpg')# Mendapatkan informasi gambarwidth, height = img.sizeformat_img = img.formatmode = img.mode# Mengubah ukuran gambarresized = img.resize((300, 200))# Memotong gambarcropped = img.crop((100, 100, 300, 300))# Memutar gambarrotated = img.rotate(45)# Mengaplikasikan filterblurred = img.filter(ImageFilter.BLUR)# Menyimpan gambarimg.save('output.png')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9728"/>
            <a:ext cx="7909917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NumPy: Fondasi Komputasi untuk Visi Komputer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442561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NumPy adalah library fundamental untuk komputasi ilmiah di Python yang sangat penting dalam visi komputer karena efisiensinya dalam menangani operasi array multidimensi.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93790" y="1996916"/>
            <a:ext cx="2790111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Representasi Citra dengan NumPy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93790" y="2396847"/>
            <a:ext cx="6339840" cy="3794998"/>
          </a:xfrm>
          <a:prstGeom prst="roundRect">
            <a:avLst>
              <a:gd name="adj" fmla="val 1647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86408" y="2396847"/>
            <a:ext cx="6354604" cy="3794998"/>
          </a:xfrm>
          <a:prstGeom prst="roundRect">
            <a:avLst>
              <a:gd name="adj" fmla="val 588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935236" y="2508409"/>
            <a:ext cx="6056948" cy="3571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Citra grayscale (2D array)# shape: (height, width)[[  0,  25,  50, ...], [ 75, 100, 125, ...], [150, 175, 200, ...], ...]# Citra RGB (3D array)# shape: (height, width, channels)[[[255,   0,   0], [255, 255,   0], ...], [[  0, 255,   0], [  0, 255, 255], ...], [[  0,   0, 255], [255,   0, 255], ...], ...]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04390" y="1996916"/>
            <a:ext cx="2990731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Operasi NumPy untuk Visi Komputer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504390" y="2396847"/>
            <a:ext cx="6339840" cy="4985623"/>
          </a:xfrm>
          <a:prstGeom prst="roundRect">
            <a:avLst>
              <a:gd name="adj" fmla="val 1254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7497008" y="2396847"/>
            <a:ext cx="6354604" cy="4985623"/>
          </a:xfrm>
          <a:prstGeom prst="roundRect">
            <a:avLst>
              <a:gd name="adj" fmla="val 448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7645837" y="2508409"/>
            <a:ext cx="6056948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npimport cv2# Membaca citra sebagai array NumPyimg = cv2.imread('gambar.jpg')# Mengakses pikselpixel_value = img[100, 200] # BGR value at (100, 200)# Mengakses regionroi = img[50:150, 50:150] # Region of interest# Operasi aritmatika citrabrightened = img + 50 # Menambah kecerahandarkened = img - 50 # Mengurangi kecerahan# Operasi logikamask = np.zeros(img.shape[:2], dtype=np.uint8)mask[100:300, 100:300] = 255masked_img = cv2.bitwise_and(img, img, mask=mask)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539591"/>
            <a:ext cx="6387227" cy="52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Analisis Citra Sederhana: Grayscale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83669" y="1476256"/>
            <a:ext cx="2081689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Apa itu Grayscale?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3669" y="1902857"/>
            <a:ext cx="6328410" cy="106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Grayscale adalah representasi citra di mana setiap piksel hanya memiliki satu nilai intensitas, biasanya dalam rentang 0 (hitam) hingga 255 (putih). Grayscale menghilangkan informasi warna tetapi mempertahankan informasi luminance (kecerahan).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3669" y="3135154"/>
            <a:ext cx="2081689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Kegunaan Grayscale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3669" y="3561755"/>
            <a:ext cx="6328410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Mengurangi kompleksitas komputasi (1 kanal vs 3 kanal)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3669" y="3886438"/>
            <a:ext cx="6328410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Tahap preprocessing untuk banyak algoritma visi komputer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3669" y="4211122"/>
            <a:ext cx="6328410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Mempermudah analisis tekstur dan bentuk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3669" y="4535805"/>
            <a:ext cx="6328410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Deteksi tepi dan fitur lebih sederhana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25941" y="1476256"/>
            <a:ext cx="2779514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Implementasi dengan OpenCV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25941" y="1923693"/>
            <a:ext cx="6328410" cy="5579031"/>
          </a:xfrm>
          <a:prstGeom prst="roundRect">
            <a:avLst>
              <a:gd name="adj" fmla="val 1254"/>
            </a:avLst>
          </a:prstGeom>
          <a:solidFill>
            <a:srgbClr val="E5E5E5"/>
          </a:solidFill>
          <a:ln/>
        </p:spPr>
      </p:sp>
      <p:sp>
        <p:nvSpPr>
          <p:cNvPr id="12" name="Shape 10"/>
          <p:cNvSpPr/>
          <p:nvPr/>
        </p:nvSpPr>
        <p:spPr>
          <a:xfrm>
            <a:off x="7517725" y="1923693"/>
            <a:ext cx="6344841" cy="5579031"/>
          </a:xfrm>
          <a:prstGeom prst="roundRect">
            <a:avLst>
              <a:gd name="adj" fmla="val 448"/>
            </a:avLst>
          </a:prstGeom>
          <a:solidFill>
            <a:srgbClr val="E5E5E5"/>
          </a:solidFill>
          <a:ln/>
        </p:spPr>
      </p:sp>
      <p:sp>
        <p:nvSpPr>
          <p:cNvPr id="13" name="Text 11"/>
          <p:cNvSpPr/>
          <p:nvPr/>
        </p:nvSpPr>
        <p:spPr>
          <a:xfrm>
            <a:off x="7684175" y="2048589"/>
            <a:ext cx="6011942" cy="5329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2C3249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npimport matplotlib.pyplot as plt# Membaca citraimg = cv2.imread('gambar.jpg')# Konversi BGR ke RGB (OpenCV uses BGR)img_rgb = cv2.cvtColor(img, cv2.COLOR_BGR2RGB)# Konversi ke grayscalegray = cv2.cvtColor(img, cv2.COLOR_BGR2GRAY)# Menampilkan citraplt.figure(figsize=(10, 5))plt.subplot(121), plt.imshow(img_rgb)plt.title('Citra Asli'), plt.axis('off')plt.subplot(122), plt.imshow(gray, cmap='gray')plt.title('Citra Grayscale'), plt.axis('off')plt.show()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669" y="535305"/>
            <a:ext cx="5318046" cy="42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Analisis Citra Sederhana: Histogram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78669" y="1301710"/>
            <a:ext cx="1831538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Apa itu Histogram Citra?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8669" y="1650802"/>
            <a:ext cx="6370320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Histogram citra adalah grafik yang menampilkan distribusi frekuensi nilai intensitas piksel dalam sebuah citra. Histogram memberikan gambaran tentang kontras, kecerahan, dan distribusi intensitas dalam citra.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8669" y="2441377"/>
            <a:ext cx="1703427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Kegunaan Histogram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8669" y="2790468"/>
            <a:ext cx="6370320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Analisis distribusi intensitas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8669" y="3056215"/>
            <a:ext cx="6370320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Evaluasi kontras dan kecerahan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8669" y="3321963"/>
            <a:ext cx="6370320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Dasar untuk perbaikan kualitas citra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8669" y="3587710"/>
            <a:ext cx="6370320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Segmentasi berdasarkan nilai intensitas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8669" y="3853458"/>
            <a:ext cx="6370320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Perbandingan citra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89031" y="1301710"/>
            <a:ext cx="2273856" cy="212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Implementasi dengan OpenCV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89031" y="1667828"/>
            <a:ext cx="6370320" cy="5875496"/>
          </a:xfrm>
          <a:prstGeom prst="roundRect">
            <a:avLst>
              <a:gd name="adj" fmla="val 974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7482245" y="1667828"/>
            <a:ext cx="6383893" cy="5875496"/>
          </a:xfrm>
          <a:prstGeom prst="roundRect">
            <a:avLst>
              <a:gd name="adj" fmla="val 348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7618452" y="1769983"/>
            <a:ext cx="6111478" cy="5671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npimport matplotlib.pyplot as plt# Membaca citra sebagai grayscalegray = cv2.imread('gambar.jpg', 0)# Menghitung histogramhist = cv2.calcHist([gray], [0], None, [256], [0, 256])# Histogram equalizationequalized = cv2.equalizeHist(gray)hist_eq = cv2.calcHist([equalized], [0], None, [256], [0, 256])# Menampilkan hasilplt.figure(figsize=(12, 8))plt.subplot(221), plt.imshow(gray, cmap='gray')plt.title('Citra Grayscale'), plt.axis('off')plt.subplot(222), plt.plot(hist), plt.xlim([0, 256])plt.title('Histogram Citra Asli')plt.subplot(223), plt.imshow(equalized, cmap='gray')plt.title('Citra Hasil Equalization'), plt.axis('off')plt.subplot(224), plt.plot(hist_eq), plt.xlim([0, 256])plt.title('Histogram Setelah Equalization')plt.tight_layout()plt.show()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020" y="504587"/>
            <a:ext cx="5045631" cy="372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Analisis Citra Sederhana: Thresholding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34020" y="1175385"/>
            <a:ext cx="1491020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Apa itu Thresholding?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4020" y="1480899"/>
            <a:ext cx="6435685" cy="3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Thresholding adalah proses mengubah citra grayscale menjadi citra biner berdasarkan nilai ambang (threshold). Piksel dengan intensitas di atas ambang akan menjadi putih (255) dan di bawah ambang menjadi hitam (0).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4020" y="1981795"/>
            <a:ext cx="1616154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Jenis-jenis Thresholding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4020" y="2287310"/>
            <a:ext cx="6435685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Binary Threshold: Nilai tetap berdasarkan ambang tunggal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4020" y="2519839"/>
            <a:ext cx="6435685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Adaptive Threshold: Nilai ambang bervariasi untuk setiap bagian citra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4020" y="2752368"/>
            <a:ext cx="6435685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Otsu's Threshold: Penentuan nilai ambang optimal secara otomatis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4020" y="3062407"/>
            <a:ext cx="1554956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Kegunaan Thresholding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4020" y="3367921"/>
            <a:ext cx="6435685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Segmentasi objek dari latar belakang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4020" y="3600450"/>
            <a:ext cx="6435685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OCR (Optical Character Recognition)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4020" y="3832979"/>
            <a:ext cx="6435685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Deteksi bentuk dan kontur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4020" y="4065508"/>
            <a:ext cx="6435685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Preprocessing untuk analisis lanjutan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68314" y="1175385"/>
            <a:ext cx="1989296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Implementasi dengan OpenCV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68314" y="1495901"/>
            <a:ext cx="6435685" cy="6095405"/>
          </a:xfrm>
          <a:prstGeom prst="roundRect">
            <a:avLst>
              <a:gd name="adj" fmla="val 822"/>
            </a:avLst>
          </a:prstGeom>
          <a:solidFill>
            <a:srgbClr val="E5E5E5"/>
          </a:solidFill>
          <a:ln/>
        </p:spPr>
      </p:sp>
      <p:sp>
        <p:nvSpPr>
          <p:cNvPr id="16" name="Shape 14"/>
          <p:cNvSpPr/>
          <p:nvPr/>
        </p:nvSpPr>
        <p:spPr>
          <a:xfrm>
            <a:off x="7462361" y="1495901"/>
            <a:ext cx="6447592" cy="6095405"/>
          </a:xfrm>
          <a:prstGeom prst="roundRect">
            <a:avLst>
              <a:gd name="adj" fmla="val 294"/>
            </a:avLst>
          </a:prstGeom>
          <a:solidFill>
            <a:srgbClr val="E5E5E5"/>
          </a:solidFill>
          <a:ln/>
        </p:spPr>
      </p:sp>
      <p:sp>
        <p:nvSpPr>
          <p:cNvPr id="17" name="Text 15"/>
          <p:cNvSpPr/>
          <p:nvPr/>
        </p:nvSpPr>
        <p:spPr>
          <a:xfrm>
            <a:off x="7581543" y="1585317"/>
            <a:ext cx="6209228" cy="591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2C3249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npimport matplotlib.pyplot as plt# Membaca citragray = cv2.imread('gambar.jpg', 0)# Simple thresholdingret, thresh1 = cv2.threshold(gray, 127, 255, cv2.THRESH_BINARY)# Otsu's thresholdingret2, thresh2 = cv2.threshold(gray, 0, 255,  cv2.THRESH_BINARY + cv2.THRESH_OTSU)# Adaptive thresholdingthresh3 = cv2.adaptiveThreshold(gray, 255,  cv2.ADAPTIVE_THRESH_GAUSSIAN_C, cv2.THRESH_BINARY, 11, 2)# Menampilkan hasilplt.figure(figsize=(12, 8))plt.subplot(221), plt.imshow(gray, cmap='gray')plt.title('Citra Grayscale'), plt.axis('off')plt.subplot(222), plt.imshow(thresh1, cmap='gray')plt.title('Simple Thresholding'), plt.axis('off')plt.subplot(223), plt.imshow(thresh2, cmap='gray')plt.title('Otsu Thresholding'), plt.axis('off')plt.subplot(224), plt.imshow(thresh3, cmap='gray')plt.title('Adaptive Thresholding'), plt.axis('off')plt.tight_layout()plt.show()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8512" y="333137"/>
            <a:ext cx="4047768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Contoh Program Python: Manipulasi Citra Dasar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78512" y="731639"/>
            <a:ext cx="13673376" cy="6953012"/>
          </a:xfrm>
          <a:prstGeom prst="roundRect">
            <a:avLst>
              <a:gd name="adj" fmla="val 470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474702" y="731639"/>
            <a:ext cx="13680996" cy="6953012"/>
          </a:xfrm>
          <a:prstGeom prst="roundRect">
            <a:avLst>
              <a:gd name="adj" fmla="val 16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552450" y="789861"/>
            <a:ext cx="13525500" cy="68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npimport matplotlib.pyplot as pltdef load_and_display(image_path):    """Fungsi untuk memuat dan menampilkan citra"""    # Membaca citra    img = cv2.imread(image_path)        # Konversi BGR ke RGB (OpenCV uses BGR format)    img_rgb = cv2.cvtColor(img, cv2.COLOR_BGR2RGB)        # Menampilkan citra    plt.figure(figsize=(8, 6))    plt.imshow(img_rgb)    plt.title('Citra Asli')    plt.axis('off')    plt.show()        return imgdef basic_manipulations(img):    """Fungsi untuk melakukan manipulasi dasar pada citra"""    # Membuat salinan citra    img_copy = img.copy()        # Flip horizontal    img_flip_h = cv2.flip(img_copy, 1)        # Flip vertical    img_flip_v = cv2.flip(img_copy, 0)        # Rotasi 45 derajat    rows, cols = img_copy.shape[:2]    M = cv2.getRotationMatrix2D((cols/2, rows/2), 45, 1)    img_rotated = cv2.warpAffine(img_copy, M, (cols, rows))        return img_flip_h, img_flip_v, img_rotated# Memanggil fungsi dengan path gambarimg = load_and_display('gambar.jpg')# Melakukan manipulasi dasarflip_h, flip_v, rotated = basic_manipulations(img)# Menampilkan hasil manipulasiplt.figure(figsize=(15, 10))plt.subplot(131), plt.imshow(cv2.cvtColor(flip_h, cv2.COLOR_BGR2RGB))plt.title('Flip Horizontal'), plt.axis('off')plt.subplot(132), plt.imshow(cv2.cvtColor(flip_v, cv2.COLOR_BGR2RGB))plt.title('Flip Vertical'), plt.axis('off')plt.subplot(133), plt.imshow(cv2.cvtColor(rotated, cv2.COLOR_BGR2RGB))plt.title('Rotasi 45°'), plt.axis('off')plt.tight_layout()plt.show()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78512" y="7772043"/>
            <a:ext cx="13673376" cy="124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Program di atas menunjukkan penggunaan dasar OpenCV untuk memuat, menampilkan, dan memanipulasi citra dengan operasi geometri sederhana.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911" y="298133"/>
            <a:ext cx="4497943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Contoh Program Python: Analisis Grayscale dan Histogram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432911" y="658535"/>
            <a:ext cx="13764578" cy="7081361"/>
          </a:xfrm>
          <a:prstGeom prst="roundRect">
            <a:avLst>
              <a:gd name="adj" fmla="val 417"/>
            </a:avLst>
          </a:prstGeom>
          <a:solidFill>
            <a:srgbClr val="E5E5E5"/>
          </a:solidFill>
          <a:ln/>
        </p:spPr>
      </p:sp>
      <p:sp>
        <p:nvSpPr>
          <p:cNvPr id="4" name="Shape 2"/>
          <p:cNvSpPr/>
          <p:nvPr/>
        </p:nvSpPr>
        <p:spPr>
          <a:xfrm>
            <a:off x="429458" y="658535"/>
            <a:ext cx="13771483" cy="7081361"/>
          </a:xfrm>
          <a:prstGeom prst="roundRect">
            <a:avLst>
              <a:gd name="adj" fmla="val 149"/>
            </a:avLst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499705" y="711279"/>
            <a:ext cx="13630989" cy="6975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550" dirty="0">
                <a:solidFill>
                  <a:srgbClr val="2C3249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npimport matplotlib.pyplot as pltdef analyze_grayscale_histogram(image_path):    """Fungsi untuk menganalisis grayscale dan histogram citra"""    # Membaca citra    img = cv2.imread(image_path)        # Konversi ke grayscale    gray = cv2.cvtColor(img, cv2.COLOR_BGR2GRAY)        # Menghitung histogram    hist = cv2.calcHist([gray], [0], None, [256], [0, 256])        # Normalisasi histogram    hist_norm = hist.ravel() / hist.sum()        # Mendapatkan statistik dasar    min_val = np.min(gray)    max_val = np.max(gray)    mean_val = np.mean(gray)    std_val = np.std(gray)        # Visualisasi hasil    plt.figure(figsize=(12, 8))        # Menampilkan citra grayscale    plt.subplot(221)    plt.imshow(gray, cmap='gray')    plt.title('Citra Grayscale')    plt.axis('off')        # Menampilkan histogram    plt.subplot(222)    plt.plot(hist)    plt.title('Histogram Grayscale')    plt.xlim([0, 256])        # Menampilkan histogram dinormalisasi    plt.subplot(223)    plt.plot(hist_norm)    plt.title('Histogram Dinormalisasi')    plt.xlim([0, 256])        # Menampilkan statistik    plt.subplot(224)    plt.axis('off')    plt.text(0.1, 0.9, f'Min Value: {min_val}', fontsize=12)    plt.text(0.1, 0.7, f'Max Value: {max_val}', fontsize=12)    plt.text(0.1, 0.5, f'Mean Value: {mean_val:.2f}', fontsize=12)    plt.text(0.1, 0.3, f'Std Deviation: {std_val:.2f}', fontsize=12)    plt.title('Statistik Grayscale')        plt.tight_layout()    plt.show()        return gray, hist, (min_val, max_val, mean_val, std_val)# Memanggil fungsi dengan path gambargray_img, histogram, stats = analyze_grayscale_histogram('gambar.jpg')print(f"Statistik Citra: Min={stats[0]}, Max={stats[1]}, Mean={stats[2]:.2f}, Std={stats[3]:.2f}")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432911" y="7818953"/>
            <a:ext cx="1376457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Program ini menganalisis citra grayscale, menghitung histogramnya, dan menampilkan statistik dasar seperti nilai minimum, maksimum, rata-rata, dan standar deviasi.</a:t>
            </a:r>
            <a:endParaRPr lang="en-US" sz="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272891"/>
            <a:ext cx="3890605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Contoh Program Python: Thresholding dan Segmentasi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396835" y="603290"/>
            <a:ext cx="13836729" cy="8767762"/>
          </a:xfrm>
          <a:prstGeom prst="roundRect">
            <a:avLst>
              <a:gd name="adj" fmla="val 309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393621" y="603290"/>
            <a:ext cx="13843159" cy="8767762"/>
          </a:xfrm>
          <a:prstGeom prst="roundRect">
            <a:avLst>
              <a:gd name="adj" fmla="val 11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458033" y="651629"/>
            <a:ext cx="13714333" cy="8671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npimport matplotlib.pyplot as pltdef thresholding_analysis(image_path):    """Fungsi untuk melakukan analisis thresholding pada citra"""    # Membaca citra sebagai grayscale    img = cv2.imread(image_path, 0)        # Menerapkan berbagai metode thresholding        # 1. Simple binary thresholding    ret1, thresh1 = cv2.threshold(img, 127, 255, cv2.THRESH_BINARY)        # 2. Otsu's thresholding    ret2, thresh2 = cv2.threshold(img, 0, 255, cv2.THRESH_BINARY + cv2.THRESH_OTSU)        # 3. Adaptive thresholding dengan mean    thresh3 = cv2.adaptiveThreshold(img, 255, cv2.ADAPTIVE_THRESH_MEAN_C,                                   cv2.THRESH_BINARY, 11, 2)        # 4. Adaptive thresholding dengan Gaussian    thresh4 = cv2.adaptiveThreshold(img, 255, cv2.ADAPTIVE_THRESH_GAUSSIAN_C,                                   cv2.THRESH_BINARY, 11, 2)        # Visualisasi hasil    plt.figure(figsize=(12, 10))        plt.subplot(231)    plt.imshow(img, cmap='gray')    plt.title('Citra Grayscale Asli')    plt.axis('off')        plt.subplot(232)    plt.imshow(thresh1, cmap='gray')    plt.title(f'Binary Threshold (T={ret1})')    plt.axis('off')        plt.subplot(233)    plt.imshow(thresh2, cmap='gray')    plt.title(f"Otsu's Threshold (T={ret2})")    plt.axis('off')        plt.subplot(234)    plt.hist(img.ravel(), 256, [0, 256])    plt.title('Histogram Citra')    plt.axvline(x=ret1, color='r', linestyle='--')    plt.axvline(x=ret2, color='g', linestyle='--')        plt.subplot(235)    plt.imshow(thresh3, cmap='gray')    plt.title('Adaptive Mean Threshold')    plt.axis('off')        plt.subplot(236)    plt.imshow(thresh4, cmap='gray')    plt.title('Adaptive Gaussian Threshold')    plt.axis('off')        plt.tight_layout()    plt.show()        return img, (thresh1, thresh2, thresh3, thresh4), (ret1, ret2)# Memanggil fungsi dengan path gambarorig_img, thresholded_imgs, threshold_values = thresholding_analysis('gambar.jpg')# Mencari kontur pada citra hasil thresholding Otsucontours, hierarchy = cv2.findContours(thresholded_imgs[1],                                       cv2.RETR_TREE,                                       cv2.CHAIN_APPROX_SIMPLE)# Menampilkan konturimg_rgb = cv2.cvtColor(orig_img, cv2.COLOR_GRAY2RGB)img_contours = img_rgb.copy()cv2.drawContours(img_contours, contours, -1, (0, 255, 0), 2)plt.figure(figsize=(10, 5))plt.subplot(121), plt.imshow(orig_img, cmap='gray')plt.title('Citra Asli'), plt.axis('off')plt.subplot(122), plt.imshow(img_contours)plt.title(f'Kontur (Total: {len(contours)})'), plt.axis('off')plt.tight_layout()plt.show()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396835" y="9443561"/>
            <a:ext cx="13836729" cy="103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Program ini menerapkan berbagai teknik thresholding pada sebuah citra, kemudian mencari dan menampilkan kontur objek yang terdeteksi dari hasil thresholding.</a:t>
            </a:r>
            <a:endParaRPr lang="en-US" sz="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3418"/>
            <a:ext cx="7813596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Struktur Data Python untuk Visi Komputer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93790" y="1537811"/>
            <a:ext cx="4235172" cy="6018252"/>
          </a:xfrm>
          <a:prstGeom prst="roundRect">
            <a:avLst>
              <a:gd name="adj" fmla="val 1673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0002" y="1714024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List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70002" y="2078712"/>
            <a:ext cx="3882747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Struktur data dinamis yang dapat menyimpan kumpulan nilai.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70002" y="2808327"/>
            <a:ext cx="3882747" cy="3221950"/>
          </a:xfrm>
          <a:prstGeom prst="roundRect">
            <a:avLst>
              <a:gd name="adj" fmla="val 2199"/>
            </a:avLst>
          </a:prstGeom>
          <a:solidFill>
            <a:srgbClr val="E5E5E5"/>
          </a:solidFill>
          <a:ln/>
        </p:spPr>
      </p:sp>
      <p:sp>
        <p:nvSpPr>
          <p:cNvPr id="7" name="Shape 5"/>
          <p:cNvSpPr/>
          <p:nvPr/>
        </p:nvSpPr>
        <p:spPr>
          <a:xfrm>
            <a:off x="961668" y="2808327"/>
            <a:ext cx="3899416" cy="3221950"/>
          </a:xfrm>
          <a:prstGeom prst="roundRect">
            <a:avLst>
              <a:gd name="adj" fmla="val 785"/>
            </a:avLst>
          </a:prstGeom>
          <a:solidFill>
            <a:srgbClr val="E5E5E5"/>
          </a:solidFill>
          <a:ln/>
        </p:spPr>
      </p:sp>
      <p:sp>
        <p:nvSpPr>
          <p:cNvPr id="8" name="Text 6"/>
          <p:cNvSpPr/>
          <p:nvPr/>
        </p:nvSpPr>
        <p:spPr>
          <a:xfrm>
            <a:off x="1130260" y="2934772"/>
            <a:ext cx="3562231" cy="296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Contoh penggunaan listcolors = ['red', 'green', 'blue']pixels = [[10, 20, 30], [40, 50, 60], [70, 80, 90]]# Akses elemenfirst_color = colors[0]  # 'red'pixel_value = pixels[1][2]  # 60# Modifikasicolors.append('yellow')colors[0] = 'crimson'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97554" y="1537811"/>
            <a:ext cx="4235172" cy="6018252"/>
          </a:xfrm>
          <a:prstGeom prst="roundRect">
            <a:avLst>
              <a:gd name="adj" fmla="val 1673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73767" y="1714024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Dictionary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73767" y="2078712"/>
            <a:ext cx="3882747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Struktur data yang menyimpan pasangan kunci-nilai.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73767" y="2808327"/>
            <a:ext cx="3882747" cy="4301609"/>
          </a:xfrm>
          <a:prstGeom prst="roundRect">
            <a:avLst>
              <a:gd name="adj" fmla="val 1825"/>
            </a:avLst>
          </a:prstGeom>
          <a:solidFill>
            <a:srgbClr val="E5E5E5"/>
          </a:solidFill>
          <a:ln/>
        </p:spPr>
      </p:sp>
      <p:sp>
        <p:nvSpPr>
          <p:cNvPr id="13" name="Shape 11"/>
          <p:cNvSpPr/>
          <p:nvPr/>
        </p:nvSpPr>
        <p:spPr>
          <a:xfrm>
            <a:off x="5365433" y="2808327"/>
            <a:ext cx="3899416" cy="4301609"/>
          </a:xfrm>
          <a:prstGeom prst="roundRect">
            <a:avLst>
              <a:gd name="adj" fmla="val 649"/>
            </a:avLst>
          </a:prstGeom>
          <a:solidFill>
            <a:srgbClr val="E5E5E5"/>
          </a:solidFill>
          <a:ln/>
        </p:spPr>
      </p:sp>
      <p:sp>
        <p:nvSpPr>
          <p:cNvPr id="14" name="Text 12"/>
          <p:cNvSpPr/>
          <p:nvPr/>
        </p:nvSpPr>
        <p:spPr>
          <a:xfrm>
            <a:off x="5534025" y="2934772"/>
            <a:ext cx="3562231" cy="404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Contoh penggunaan dictionaryimage_info = {    'width': 640,    'height': 480,    'format': 'jpg',    'channels': 3,    'mode': 'RGB'}# Akses elemenwidth = image_info['width']  # 640# Modifikasiimage_info['bit_depth'] = 8image_info['format'] = 'png'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319" y="1537811"/>
            <a:ext cx="4235291" cy="6018252"/>
          </a:xfrm>
          <a:prstGeom prst="roundRect">
            <a:avLst>
              <a:gd name="adj" fmla="val 1673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77532" y="1714024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Tuple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777532" y="2078712"/>
            <a:ext cx="3882866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Struktur data yang menyimpan kumpulan nilai yang tidak dapat diubah (immutable).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777532" y="2808327"/>
            <a:ext cx="3882866" cy="4571524"/>
          </a:xfrm>
          <a:prstGeom prst="roundRect">
            <a:avLst>
              <a:gd name="adj" fmla="val 1825"/>
            </a:avLst>
          </a:prstGeom>
          <a:solidFill>
            <a:srgbClr val="E5E5E5"/>
          </a:solidFill>
          <a:ln/>
        </p:spPr>
      </p:sp>
      <p:sp>
        <p:nvSpPr>
          <p:cNvPr id="19" name="Shape 17"/>
          <p:cNvSpPr/>
          <p:nvPr/>
        </p:nvSpPr>
        <p:spPr>
          <a:xfrm>
            <a:off x="9769197" y="2808327"/>
            <a:ext cx="3899535" cy="4571524"/>
          </a:xfrm>
          <a:prstGeom prst="roundRect">
            <a:avLst>
              <a:gd name="adj" fmla="val 649"/>
            </a:avLst>
          </a:prstGeom>
          <a:solidFill>
            <a:srgbClr val="E5E5E5"/>
          </a:solidFill>
          <a:ln/>
        </p:spPr>
      </p:sp>
      <p:sp>
        <p:nvSpPr>
          <p:cNvPr id="20" name="Text 18"/>
          <p:cNvSpPr/>
          <p:nvPr/>
        </p:nvSpPr>
        <p:spPr>
          <a:xfrm>
            <a:off x="9937790" y="2934772"/>
            <a:ext cx="3562350" cy="431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highlight>
                  <a:srgbClr val="E5E5E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Contoh penggunaan tupleimage_size = (640, 480)color_bgr = (255, 0, 0) # Blue in BGR# Akses elemenwidth = image_size[0] # 640# Tidak bisa dimodifikasi# Ini akan error:# image_size[0] = 800# Penggunaan dalam fungsidef process_image(size, color): # size adalah tuple (width, height) # color adalah tuple (B, G, R) pass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272891"/>
            <a:ext cx="3260765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Contoh Program dengan Struktur Data Python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396835" y="603290"/>
            <a:ext cx="13836729" cy="7632263"/>
          </a:xfrm>
          <a:prstGeom prst="roundRect">
            <a:avLst>
              <a:gd name="adj" fmla="val 355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393621" y="603290"/>
            <a:ext cx="13843159" cy="7632263"/>
          </a:xfrm>
          <a:prstGeom prst="roundRect">
            <a:avLst>
              <a:gd name="adj" fmla="val 12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458033" y="651629"/>
            <a:ext cx="13714333" cy="7535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npimport matplotlib.pyplot as pltdef analyze_color_distribution(image_path):    """Fungsi untuk menganalisis distribusi warna dalam citra"""    # Membaca citra    img = cv2.imread(image_path)    img_rgb = cv2.cvtColor(img, cv2.COLOR_BGR2RGB)        # Inisialisasi dictionary untuk menyimpan informasi warna    color_info = {        'red': {'channel': img_rgb[:,:,0], 'color': 'red'},        'green': {'channel': img_rgb[:,:,1], 'color': 'green'},        'blue': {'channel': img_rgb[:,:,2], 'color': 'blue'}    }        # List untuk menyimpan hasil analisis    color_stats = []        # Menganalisis setiap kanal warna    for color_name, info in color_info.items():        channel = info['channel']        mean_val = np.mean(channel)        std_val = np.std(channel)        min_val = np.min(channel)        max_val = np.max(channel)                # Menyimpan statistik dalam bentuk tuple        stats = (color_name, mean_val, std_val, min_val, max_val)        color_stats.append(stats)        # Menampilkan citra dan histogram    plt.figure(figsize=(15, 10))        # Citra asli    plt.subplot(231)    plt.imshow(img_rgb)    plt.title('Citra RGB Asli')    plt.axis('off')        # Histogram untuk setiap kanal    for i, (name, info) in enumerate(color_info.items()):        plt.subplot(2, 3, i+4)        plt.hist(info['channel'].ravel(), 256, [0, 256], color=info['color'], alpha=0.7)        plt.title(f'Histogram {name.capitalize()}')        plt.xlim([0, 256])                # Menampilkan kanal individu        plt.subplot(2, 3, i+2)        channel_img = np.zeros_like(img_rgb)        channel_idx = ['red', 'green', 'blue'].index(name)        channel_img[:,:,channel_idx] = info['channel']        plt.imshow(channel_img)        plt.title(f'Kanal {name.capitalize()}')        plt.axis('off')        plt.tight_layout()    plt.show()        # Menampilkan statistik dalam bentuk tabel    print("\nStatistik Warna:")    print("="*50)    print(f"{'Warna':&lt;10} {'Rata-rata':&lt;12} {'Std Dev':&lt;12} {'Min':&lt;8} {'Max':&lt;8}")    print("-"*50)    for stat in color_stats:        name, mean, std, min_val, max_val = stat        print(f"{name:&lt;10} {mean:&lt;12.2f} {std:&lt;12.2f} {min_val:&lt;8} {max_val:&lt;8}")        return color_info, color_stats# Memanggil fungsi dengan path gambarcolor_info, color_stats = analyze_color_distribution('gambar.jpg')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396835" y="8308062"/>
            <a:ext cx="13836729" cy="103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Program ini menganalisis distribusi warna dalam sebuah citra, menggunakan dictionary untuk menyimpan informasi kanal warna, list untuk menyimpan hasil analisis, dan tuple untuk menyimpan statistik setiap kanal.</a:t>
            </a:r>
            <a:endParaRPr lang="en-US" sz="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95313"/>
            <a:ext cx="516290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Referensi dan Sumber Belajar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1647111"/>
            <a:ext cx="6441996" cy="2922151"/>
          </a:xfrm>
          <a:prstGeom prst="roundRect">
            <a:avLst>
              <a:gd name="adj" fmla="val 3755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1624251"/>
            <a:ext cx="6441996" cy="91440"/>
          </a:xfrm>
          <a:prstGeom prst="roundRect">
            <a:avLst>
              <a:gd name="adj" fmla="val 72930"/>
            </a:avLst>
          </a:prstGeom>
          <a:solidFill>
            <a:srgbClr val="437066"/>
          </a:solidFill>
          <a:ln/>
        </p:spPr>
      </p:sp>
      <p:sp>
        <p:nvSpPr>
          <p:cNvPr id="5" name="Shape 3"/>
          <p:cNvSpPr/>
          <p:nvPr/>
        </p:nvSpPr>
        <p:spPr>
          <a:xfrm>
            <a:off x="3776662" y="140898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437066"/>
          </a:solidFill>
          <a:ln/>
        </p:spPr>
      </p:sp>
      <p:sp>
        <p:nvSpPr>
          <p:cNvPr id="6" name="Text 4"/>
          <p:cNvSpPr/>
          <p:nvPr/>
        </p:nvSpPr>
        <p:spPr>
          <a:xfrm>
            <a:off x="3919537" y="1528048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5360" y="204394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Buku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75360" y="2387203"/>
            <a:ext cx="607885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Gonzalez, R. C., &amp; Woods, R. E. (2018). </a:t>
            </a:r>
            <a:pPr algn="l"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Digital Image Processing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Pearson.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75360" y="2696766"/>
            <a:ext cx="607885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Szeliski, R. (2022). </a:t>
            </a:r>
            <a:pPr algn="l"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Computer Vision: Algorithms and Applications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Springer.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75360" y="3006328"/>
            <a:ext cx="607885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Solem, J. E. (2012). </a:t>
            </a:r>
            <a:pPr algn="l"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Programming Computer Vision with Python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O'Reilly Media.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75360" y="3569970"/>
            <a:ext cx="607885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Bradski, G., &amp; Kaehler, A. (2008). </a:t>
            </a:r>
            <a:pPr algn="l"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Learning OpenCV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O'Reilly Media.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75360" y="3879533"/>
            <a:ext cx="607885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Dawson-Howe, K. (2014). </a:t>
            </a:r>
            <a:pPr algn="l"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Practical Introduction to Computer Vision with OpenCV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Wiley.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94496" y="1647111"/>
            <a:ext cx="6442115" cy="2922151"/>
          </a:xfrm>
          <a:prstGeom prst="roundRect">
            <a:avLst>
              <a:gd name="adj" fmla="val 3755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94496" y="1624251"/>
            <a:ext cx="6442115" cy="91440"/>
          </a:xfrm>
          <a:prstGeom prst="roundRect">
            <a:avLst>
              <a:gd name="adj" fmla="val 72930"/>
            </a:avLst>
          </a:prstGeom>
          <a:solidFill>
            <a:srgbClr val="43706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77368" y="140898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43706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20243" y="1528048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76066" y="204394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Dokumentasi Online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576066" y="2387203"/>
            <a:ext cx="607897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Dokumentasi OpenCV: </a:t>
            </a:r>
            <a:pPr algn="l" indent="0" marL="0">
              <a:lnSpc>
                <a:spcPts val="2000"/>
              </a:lnSpc>
              <a:buNone/>
            </a:pPr>
            <a:r>
              <a:rPr lang="en-US" sz="1250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https://docs.opencv.org/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76066" y="2696766"/>
            <a:ext cx="607897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Dokumentasi Pillow: </a:t>
            </a:r>
            <a:pPr algn="l" indent="0" marL="0">
              <a:lnSpc>
                <a:spcPts val="2000"/>
              </a:lnSpc>
              <a:buNone/>
            </a:pPr>
            <a:r>
              <a:rPr lang="en-US" sz="1250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https://pillow.readthedocs.io/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76066" y="3006328"/>
            <a:ext cx="607897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Dokumentasi NumPy: </a:t>
            </a:r>
            <a:pPr algn="l" indent="0" marL="0">
              <a:lnSpc>
                <a:spcPts val="2000"/>
              </a:lnSpc>
              <a:buNone/>
            </a:pPr>
            <a:r>
              <a:rPr lang="en-US" sz="1250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https://numpy.org/doc/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76066" y="3315891"/>
            <a:ext cx="607897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Dokumentasi Matplotlib: </a:t>
            </a:r>
            <a:pPr algn="l" indent="0" marL="0">
              <a:lnSpc>
                <a:spcPts val="2000"/>
              </a:lnSpc>
              <a:buNone/>
            </a:pPr>
            <a:r>
              <a:rPr lang="en-US" sz="1250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https://matplotlib.org/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76066" y="3625453"/>
            <a:ext cx="607897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Dokumentasi scikit-image: </a:t>
            </a:r>
            <a:pPr algn="l" indent="0" marL="0">
              <a:lnSpc>
                <a:spcPts val="2000"/>
              </a:lnSpc>
              <a:buNone/>
            </a:pPr>
            <a:r>
              <a:rPr lang="en-US" sz="1250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https://scikit-image.org/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93790" y="4966097"/>
            <a:ext cx="6441996" cy="2668072"/>
          </a:xfrm>
          <a:prstGeom prst="roundRect">
            <a:avLst>
              <a:gd name="adj" fmla="val 4113"/>
            </a:avLst>
          </a:prstGeom>
          <a:solidFill>
            <a:srgbClr val="F2F2F2"/>
          </a:solidFill>
          <a:ln/>
        </p:spPr>
      </p:sp>
      <p:sp>
        <p:nvSpPr>
          <p:cNvPr id="24" name="Shape 22"/>
          <p:cNvSpPr/>
          <p:nvPr/>
        </p:nvSpPr>
        <p:spPr>
          <a:xfrm>
            <a:off x="793790" y="4943237"/>
            <a:ext cx="6441996" cy="91440"/>
          </a:xfrm>
          <a:prstGeom prst="roundRect">
            <a:avLst>
              <a:gd name="adj" fmla="val 72930"/>
            </a:avLst>
          </a:prstGeom>
          <a:solidFill>
            <a:srgbClr val="437066"/>
          </a:solidFill>
          <a:ln/>
        </p:spPr>
      </p:sp>
      <p:sp>
        <p:nvSpPr>
          <p:cNvPr id="25" name="Shape 23"/>
          <p:cNvSpPr/>
          <p:nvPr/>
        </p:nvSpPr>
        <p:spPr>
          <a:xfrm>
            <a:off x="3776662" y="4727972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437066"/>
          </a:solidFill>
          <a:ln/>
        </p:spPr>
      </p:sp>
      <p:sp>
        <p:nvSpPr>
          <p:cNvPr id="26" name="Text 24"/>
          <p:cNvSpPr/>
          <p:nvPr/>
        </p:nvSpPr>
        <p:spPr>
          <a:xfrm>
            <a:off x="3919537" y="4847034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5360" y="536293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Kursus Online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75360" y="5706189"/>
            <a:ext cx="607885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Computer Vision Nanodegree (Udacity)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75360" y="6015752"/>
            <a:ext cx="607885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Computer Vision A-Z™ (Udemy)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75360" y="6325314"/>
            <a:ext cx="607885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Deep Learning for Computer Vision (Coursera)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75360" y="6634877"/>
            <a:ext cx="607885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OpenCV for Beginners (Coursera)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5360" y="6944439"/>
            <a:ext cx="607885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Introduction to Computer Vision (Georgia Tech on Udacity)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394496" y="4966097"/>
            <a:ext cx="6442115" cy="2668072"/>
          </a:xfrm>
          <a:prstGeom prst="roundRect">
            <a:avLst>
              <a:gd name="adj" fmla="val 4113"/>
            </a:avLst>
          </a:prstGeom>
          <a:solidFill>
            <a:srgbClr val="F2F2F2"/>
          </a:solidFill>
          <a:ln/>
        </p:spPr>
      </p:sp>
      <p:sp>
        <p:nvSpPr>
          <p:cNvPr id="34" name="Shape 32"/>
          <p:cNvSpPr/>
          <p:nvPr/>
        </p:nvSpPr>
        <p:spPr>
          <a:xfrm>
            <a:off x="7394496" y="4943237"/>
            <a:ext cx="6442115" cy="91440"/>
          </a:xfrm>
          <a:prstGeom prst="roundRect">
            <a:avLst>
              <a:gd name="adj" fmla="val 72930"/>
            </a:avLst>
          </a:prstGeom>
          <a:solidFill>
            <a:srgbClr val="43706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77368" y="4727972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437066"/>
          </a:solidFill>
          <a:ln/>
        </p:spPr>
      </p:sp>
      <p:sp>
        <p:nvSpPr>
          <p:cNvPr id="36" name="Text 34"/>
          <p:cNvSpPr/>
          <p:nvPr/>
        </p:nvSpPr>
        <p:spPr>
          <a:xfrm>
            <a:off x="10520243" y="4847034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576066" y="5362932"/>
            <a:ext cx="199655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Repositori dan Tutorial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7576066" y="5706189"/>
            <a:ext cx="607897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PyImageSearch: </a:t>
            </a:r>
            <a:pPr algn="l" indent="0" marL="0">
              <a:lnSpc>
                <a:spcPts val="2000"/>
              </a:lnSpc>
              <a:buNone/>
            </a:pPr>
            <a:r>
              <a:rPr lang="en-US" sz="1250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https://www.pyimagesearch.com/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576066" y="6015752"/>
            <a:ext cx="607897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LearnOpenCV: </a:t>
            </a:r>
            <a:pPr algn="l" indent="0" marL="0">
              <a:lnSpc>
                <a:spcPts val="2000"/>
              </a:lnSpc>
              <a:buNone/>
            </a:pPr>
            <a:r>
              <a:rPr lang="en-US" sz="1250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https://learnopencv.com/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576066" y="6325314"/>
            <a:ext cx="607897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OpenCV-Python Tutorials: </a:t>
            </a:r>
            <a:pPr algn="l" indent="0" marL="0">
              <a:lnSpc>
                <a:spcPts val="2000"/>
              </a:lnSpc>
              <a:buNone/>
            </a:pPr>
            <a:r>
              <a:rPr lang="en-US" sz="1250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https://opencv-python-tutroals.readthedocs.io/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576066" y="6634877"/>
            <a:ext cx="607897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GitHub - OpenCV: </a:t>
            </a:r>
            <a:pPr algn="l" indent="0" marL="0">
              <a:lnSpc>
                <a:spcPts val="2000"/>
              </a:lnSpc>
              <a:buNone/>
            </a:pPr>
            <a:r>
              <a:rPr lang="en-US" sz="1250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https://github.com/opencv/opencv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76066" y="6944439"/>
            <a:ext cx="6078974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 Python - Computer Vision: 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https://realpython.com/tutorials/computer-vision/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68404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Tugas Praktikum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793790" y="1534597"/>
            <a:ext cx="4221956" cy="5099090"/>
          </a:xfrm>
          <a:prstGeom prst="roundRect">
            <a:avLst>
              <a:gd name="adj" fmla="val 1876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9886" y="173069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Deskripsi Tugas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989886" y="2138482"/>
            <a:ext cx="3829764" cy="120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Buatlah program Python sederhana yang melakukan operasi dasar visi komputer menggunakan library OpenCV atau PIL. Program harus mencakup: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89886" y="3458408"/>
            <a:ext cx="3829764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Membaca dan menampilkan citra digital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9886" y="4127778"/>
            <a:ext cx="3829764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Mengkonversi citra ke grayscale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89886" y="4495443"/>
            <a:ext cx="3829764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Menghitung dan menampilkan histogram citra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89886" y="5164812"/>
            <a:ext cx="3829764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Menerapkan operasi thresholding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89886" y="5532477"/>
            <a:ext cx="3829764" cy="9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Mengimplementasikan minimal satu jenis manipulasi citra (rotasi, flipping, cropping, dll.)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204222" y="1534597"/>
            <a:ext cx="4221956" cy="5099090"/>
          </a:xfrm>
          <a:prstGeom prst="roundRect">
            <a:avLst>
              <a:gd name="adj" fmla="val 1876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00318" y="1730693"/>
            <a:ext cx="2536984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Ketentuan Implementasi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5400318" y="2138482"/>
            <a:ext cx="3829764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Gunakan minimal dua struktur data Python: list, dictionary, dan tuple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00318" y="2807851"/>
            <a:ext cx="3829764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Implementasikan program dalam bentuk fungsi-fungsi modular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00318" y="3477220"/>
            <a:ext cx="3829764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Berikan dokumentasi (komentar) yang jelas untuk setiap fungsi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00318" y="4146590"/>
            <a:ext cx="3829764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Tampilkan hasil setiap operasi dalam bentuk visual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00318" y="4815959"/>
            <a:ext cx="3829764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Berikan analisis singkat terhadap hasil yang diperoleh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614654" y="1534597"/>
            <a:ext cx="4221956" cy="5099090"/>
          </a:xfrm>
          <a:prstGeom prst="roundRect">
            <a:avLst>
              <a:gd name="adj" fmla="val 1876"/>
            </a:avLst>
          </a:prstGeom>
          <a:solidFill>
            <a:srgbClr val="437066"/>
          </a:solidFill>
          <a:ln w="7620">
            <a:solidFill>
              <a:srgbClr val="5C89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10750" y="173069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Kriteria Penilaian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9810750" y="2138482"/>
            <a:ext cx="3829764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Ketepatan dalam menjelaskan konsep dasar visi komputer (30%)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810750" y="2807851"/>
            <a:ext cx="3829764" cy="9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Kemampuan membuat program Python yang melibatkan struktur data list, dictionary, dan tuple (30%)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810750" y="3778925"/>
            <a:ext cx="3829764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Implementasi fungsi-fungsi visi komputer dasar (20%)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810750" y="4448294"/>
            <a:ext cx="3829764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Dokumentasi dan analisis hasil (10%)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810750" y="4815959"/>
            <a:ext cx="3829764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Kreativitas dan eksperimen tambahan (10%)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93790" y="6845737"/>
            <a:ext cx="130428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Deadline pengumpulan: Satu minggu setelah pertemuan ini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93790" y="7359491"/>
            <a:ext cx="13042821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Format pengumpulan: File Python (.py) dan laporan singkat (.pdf)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34295" y="220718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Terima Kasih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22409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Sampai jumpa di pertemuan berikutnya!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76487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Ada pertanyaan?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30565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16397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Program Studi Teknik Informatika S-2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70476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Matakuliah: Advanced Computer Vision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2025-08-13T07:02:29Z</dcterms:created>
  <dcterms:modified xsi:type="dcterms:W3CDTF">2025-08-13T07:02:29Z</dcterms:modified>
</cp:coreProperties>
</file>